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Default Extension="jpg" ContentType="image/jpg"/>
  <Override PartName="/ppt/slides/slide5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5765800" cy="3244850"/>
  <p:notesSz cx="5765800" cy="32448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333333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dirty="0" spc="-25"/>
              <a:t>#</a:t>
            </a:fld>
            <a:r>
              <a:rPr dirty="0" spc="-25"/>
              <a:t>/5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333333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dirty="0" spc="-25"/>
              <a:t>#</a:t>
            </a:fld>
            <a:r>
              <a:rPr dirty="0" spc="-25"/>
              <a:t>/5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dirty="0" spc="-25"/>
              <a:t>#</a:t>
            </a:fld>
            <a:r>
              <a:rPr dirty="0" spc="-25"/>
              <a:t>/5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dirty="0" spc="-25"/>
              <a:t>#</a:t>
            </a:fld>
            <a:r>
              <a:rPr dirty="0" spc="-25"/>
              <a:t>/5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dirty="0" spc="-25"/>
              <a:t>#</a:t>
            </a:fld>
            <a:r>
              <a:rPr dirty="0" spc="-25"/>
              <a:t>/5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649"/>
            <a:ext cx="5760085" cy="324485"/>
          </a:xfrm>
          <a:custGeom>
            <a:avLst/>
            <a:gdLst/>
            <a:ahLst/>
            <a:cxnLst/>
            <a:rect l="l" t="t" r="r" b="b"/>
            <a:pathLst>
              <a:path w="5760085" h="324485">
                <a:moveTo>
                  <a:pt x="5759996" y="0"/>
                </a:moveTo>
                <a:lnTo>
                  <a:pt x="0" y="0"/>
                </a:lnTo>
                <a:lnTo>
                  <a:pt x="0" y="324002"/>
                </a:lnTo>
                <a:lnTo>
                  <a:pt x="5759996" y="324002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7297" y="154111"/>
            <a:ext cx="3298190" cy="207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4786" y="745482"/>
            <a:ext cx="2520315" cy="18853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333333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5416575" y="3096269"/>
            <a:ext cx="212725" cy="1282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dirty="0" spc="-25"/>
              <a:t>#</a:t>
            </a:fld>
            <a:r>
              <a:rPr dirty="0" spc="-25"/>
              <a:t>/5</a:t>
            </a:r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mailto:shreeharianbazhagan@gmail.com" TargetMode="External"/><Relationship Id="rId6" Type="http://schemas.openxmlformats.org/officeDocument/2006/relationships/image" Target="../media/image4.png"/><Relationship Id="rId7" Type="http://schemas.openxmlformats.org/officeDocument/2006/relationships/hyperlink" Target="https://deltaed-frontend-93684845515.europe-west2.run.app/" TargetMode="Externa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4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image" Target="../media/image16.png"/><Relationship Id="rId15" Type="http://schemas.openxmlformats.org/officeDocument/2006/relationships/image" Target="../media/image17.pn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jpg"/><Relationship Id="rId3" Type="http://schemas.openxmlformats.org/officeDocument/2006/relationships/image" Target="../media/image22.png"/><Relationship Id="rId4" Type="http://schemas.openxmlformats.org/officeDocument/2006/relationships/hyperlink" Target="https://github.com/ShreehariA/Kahawa-Roots-Pre-Interview-Task/blob/main/kahawa-roots-architecture.png" TargetMode="External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Relationship Id="rId9" Type="http://schemas.openxmlformats.org/officeDocument/2006/relationships/image" Target="../media/image30.png"/><Relationship Id="rId10" Type="http://schemas.openxmlformats.org/officeDocument/2006/relationships/image" Target="../media/image31.png"/><Relationship Id="rId11" Type="http://schemas.openxmlformats.org/officeDocument/2006/relationships/image" Target="../media/image32.png"/><Relationship Id="rId12" Type="http://schemas.openxmlformats.org/officeDocument/2006/relationships/image" Target="../media/image33.png"/><Relationship Id="rId13" Type="http://schemas.openxmlformats.org/officeDocument/2006/relationships/image" Target="../media/image34.png"/><Relationship Id="rId14" Type="http://schemas.openxmlformats.org/officeDocument/2006/relationships/image" Target="../media/image35.png"/><Relationship Id="rId15" Type="http://schemas.openxmlformats.org/officeDocument/2006/relationships/image" Target="../media/image36.png"/><Relationship Id="rId16" Type="http://schemas.openxmlformats.org/officeDocument/2006/relationships/image" Target="../media/image37.png"/><Relationship Id="rId17" Type="http://schemas.openxmlformats.org/officeDocument/2006/relationships/image" Target="../media/image38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77698" y="373362"/>
            <a:ext cx="1470660" cy="288290"/>
          </a:xfrm>
          <a:prstGeom prst="rect"/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1700" spc="-85">
                <a:solidFill>
                  <a:srgbClr val="654320"/>
                </a:solidFill>
              </a:rPr>
              <a:t>Kahawa</a:t>
            </a:r>
            <a:r>
              <a:rPr dirty="0" sz="1700" spc="-40">
                <a:solidFill>
                  <a:srgbClr val="654320"/>
                </a:solidFill>
              </a:rPr>
              <a:t> </a:t>
            </a:r>
            <a:r>
              <a:rPr dirty="0" sz="1700" spc="-60">
                <a:solidFill>
                  <a:srgbClr val="654320"/>
                </a:solidFill>
              </a:rPr>
              <a:t>Roots</a:t>
            </a:r>
            <a:endParaRPr sz="17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7223" y="1343799"/>
            <a:ext cx="133350" cy="11747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77698" y="585707"/>
            <a:ext cx="2694940" cy="1067435"/>
          </a:xfrm>
          <a:prstGeom prst="rect">
            <a:avLst/>
          </a:prstGeom>
        </p:spPr>
        <p:txBody>
          <a:bodyPr wrap="square" lIns="0" tIns="800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0"/>
              </a:spcBef>
            </a:pPr>
            <a:r>
              <a:rPr dirty="0" sz="1200" spc="-40">
                <a:solidFill>
                  <a:srgbClr val="333333"/>
                </a:solidFill>
                <a:latin typeface="Tahoma"/>
                <a:cs typeface="Tahoma"/>
              </a:rPr>
              <a:t>Traceability</a:t>
            </a:r>
            <a:r>
              <a:rPr dirty="0" sz="120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200" spc="-10">
                <a:solidFill>
                  <a:srgbClr val="333333"/>
                </a:solidFill>
                <a:latin typeface="Tahoma"/>
                <a:cs typeface="Tahoma"/>
              </a:rPr>
              <a:t>Platform</a:t>
            </a:r>
            <a:endParaRPr sz="1200">
              <a:latin typeface="Tahoma"/>
              <a:cs typeface="Tahoma"/>
            </a:endParaRPr>
          </a:p>
          <a:p>
            <a:pPr marL="12700" marR="5080">
              <a:lnSpc>
                <a:spcPct val="122000"/>
              </a:lnSpc>
              <a:spcBef>
                <a:spcPts val="180"/>
              </a:spcBef>
            </a:pPr>
            <a:r>
              <a:rPr dirty="0" sz="1000" spc="-20" i="1">
                <a:solidFill>
                  <a:srgbClr val="333333"/>
                </a:solidFill>
                <a:latin typeface="Arial"/>
                <a:cs typeface="Arial"/>
              </a:rPr>
              <a:t>Track</a:t>
            </a:r>
            <a:r>
              <a:rPr dirty="0" sz="1000" spc="-10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spc="-40" i="1">
                <a:solidFill>
                  <a:srgbClr val="333333"/>
                </a:solidFill>
                <a:latin typeface="Arial"/>
                <a:cs typeface="Arial"/>
              </a:rPr>
              <a:t>coffee</a:t>
            </a:r>
            <a:r>
              <a:rPr dirty="0" sz="1000" spc="-10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i="1">
                <a:solidFill>
                  <a:srgbClr val="333333"/>
                </a:solidFill>
                <a:latin typeface="Arial"/>
                <a:cs typeface="Arial"/>
              </a:rPr>
              <a:t>from</a:t>
            </a:r>
            <a:r>
              <a:rPr dirty="0" sz="1000" spc="-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i="1">
                <a:solidFill>
                  <a:srgbClr val="333333"/>
                </a:solidFill>
                <a:latin typeface="Arial"/>
                <a:cs typeface="Arial"/>
              </a:rPr>
              <a:t>a</a:t>
            </a:r>
            <a:r>
              <a:rPr dirty="0" sz="1000" spc="-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spc="-40" i="1">
                <a:solidFill>
                  <a:srgbClr val="333333"/>
                </a:solidFill>
                <a:latin typeface="Arial"/>
                <a:cs typeface="Arial"/>
              </a:rPr>
              <a:t>Kenyan</a:t>
            </a:r>
            <a:r>
              <a:rPr dirty="0" sz="1000" spc="-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spc="-10" i="1">
                <a:solidFill>
                  <a:srgbClr val="333333"/>
                </a:solidFill>
                <a:latin typeface="Arial"/>
                <a:cs typeface="Arial"/>
              </a:rPr>
              <a:t>farm </a:t>
            </a:r>
            <a:r>
              <a:rPr dirty="0" sz="1000" i="1">
                <a:solidFill>
                  <a:srgbClr val="333333"/>
                </a:solidFill>
                <a:latin typeface="Arial"/>
                <a:cs typeface="Arial"/>
              </a:rPr>
              <a:t>to</a:t>
            </a:r>
            <a:r>
              <a:rPr dirty="0" sz="1000" spc="-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i="1">
                <a:solidFill>
                  <a:srgbClr val="333333"/>
                </a:solidFill>
                <a:latin typeface="Arial"/>
                <a:cs typeface="Arial"/>
              </a:rPr>
              <a:t>a</a:t>
            </a:r>
            <a:r>
              <a:rPr dirty="0" sz="1000" spc="-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i="1">
                <a:solidFill>
                  <a:srgbClr val="333333"/>
                </a:solidFill>
                <a:latin typeface="Arial"/>
                <a:cs typeface="Arial"/>
              </a:rPr>
              <a:t>UK</a:t>
            </a:r>
            <a:r>
              <a:rPr dirty="0" sz="1000" spc="-10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spc="-20" i="1">
                <a:solidFill>
                  <a:srgbClr val="333333"/>
                </a:solidFill>
                <a:latin typeface="Arial"/>
                <a:cs typeface="Arial"/>
              </a:rPr>
              <a:t>cup</a:t>
            </a:r>
            <a:r>
              <a:rPr dirty="0" sz="1000" spc="-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spc="-50" i="1">
                <a:solidFill>
                  <a:srgbClr val="333333"/>
                </a:solidFill>
                <a:latin typeface="Arial"/>
                <a:cs typeface="Arial"/>
              </a:rPr>
              <a:t>— </a:t>
            </a:r>
            <a:r>
              <a:rPr dirty="0" sz="1000" spc="-20" i="1">
                <a:solidFill>
                  <a:srgbClr val="333333"/>
                </a:solidFill>
                <a:latin typeface="Arial"/>
                <a:cs typeface="Arial"/>
              </a:rPr>
              <a:t>and</a:t>
            </a:r>
            <a:r>
              <a:rPr dirty="0" sz="1000" spc="-40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i="1">
                <a:solidFill>
                  <a:srgbClr val="333333"/>
                </a:solidFill>
                <a:latin typeface="Arial"/>
                <a:cs typeface="Arial"/>
              </a:rPr>
              <a:t>let</a:t>
            </a:r>
            <a:r>
              <a:rPr dirty="0" sz="1000" spc="10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spc="-55" i="1">
                <a:solidFill>
                  <a:srgbClr val="333333"/>
                </a:solidFill>
                <a:latin typeface="Arial"/>
                <a:cs typeface="Arial"/>
              </a:rPr>
              <a:t>anyone</a:t>
            </a:r>
            <a:r>
              <a:rPr dirty="0" sz="1000" spc="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spc="-65" i="1">
                <a:solidFill>
                  <a:srgbClr val="333333"/>
                </a:solidFill>
                <a:latin typeface="Arial"/>
                <a:cs typeface="Arial"/>
              </a:rPr>
              <a:t>scan</a:t>
            </a:r>
            <a:r>
              <a:rPr dirty="0" sz="1000" spc="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i="1">
                <a:solidFill>
                  <a:srgbClr val="333333"/>
                </a:solidFill>
                <a:latin typeface="Arial"/>
                <a:cs typeface="Arial"/>
              </a:rPr>
              <a:t>a</a:t>
            </a:r>
            <a:r>
              <a:rPr dirty="0" sz="1000" spc="10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spc="-20" i="1">
                <a:solidFill>
                  <a:srgbClr val="333333"/>
                </a:solidFill>
                <a:latin typeface="Arial"/>
                <a:cs typeface="Arial"/>
              </a:rPr>
              <a:t>QR</a:t>
            </a:r>
            <a:r>
              <a:rPr dirty="0" sz="1000" spc="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spc="-50" i="1">
                <a:solidFill>
                  <a:srgbClr val="333333"/>
                </a:solidFill>
                <a:latin typeface="Arial"/>
                <a:cs typeface="Arial"/>
              </a:rPr>
              <a:t>code</a:t>
            </a:r>
            <a:r>
              <a:rPr dirty="0" sz="1000" spc="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i="1">
                <a:solidFill>
                  <a:srgbClr val="333333"/>
                </a:solidFill>
                <a:latin typeface="Arial"/>
                <a:cs typeface="Arial"/>
              </a:rPr>
              <a:t>to</a:t>
            </a:r>
            <a:r>
              <a:rPr dirty="0" sz="1000" spc="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spc="-114" i="1">
                <a:solidFill>
                  <a:srgbClr val="333333"/>
                </a:solidFill>
                <a:latin typeface="Arial"/>
                <a:cs typeface="Arial"/>
              </a:rPr>
              <a:t>see</a:t>
            </a:r>
            <a:r>
              <a:rPr dirty="0" sz="1000" spc="4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i="1">
                <a:solidFill>
                  <a:srgbClr val="333333"/>
                </a:solidFill>
                <a:latin typeface="Arial"/>
                <a:cs typeface="Arial"/>
              </a:rPr>
              <a:t>the</a:t>
            </a:r>
            <a:r>
              <a:rPr dirty="0" sz="1000" spc="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1000" spc="-30" i="1">
                <a:solidFill>
                  <a:srgbClr val="333333"/>
                </a:solidFill>
                <a:latin typeface="Arial"/>
                <a:cs typeface="Arial"/>
              </a:rPr>
              <a:t>journey.</a:t>
            </a:r>
            <a:endParaRPr sz="1000">
              <a:latin typeface="Arial"/>
              <a:cs typeface="Arial"/>
            </a:endParaRPr>
          </a:p>
          <a:p>
            <a:pPr marL="12700" marR="243840" indent="167005">
              <a:lnSpc>
                <a:spcPct val="125499"/>
              </a:lnSpc>
              <a:spcBef>
                <a:spcPts val="415"/>
              </a:spcBef>
            </a:pPr>
            <a:r>
              <a:rPr dirty="0" sz="900" spc="-30">
                <a:solidFill>
                  <a:srgbClr val="2D5A4A"/>
                </a:solidFill>
                <a:latin typeface="Arial MT"/>
                <a:cs typeface="Arial MT"/>
              </a:rPr>
              <a:t>Transparent</a:t>
            </a:r>
            <a:r>
              <a:rPr dirty="0" sz="900" spc="10">
                <a:solidFill>
                  <a:srgbClr val="2D5A4A"/>
                </a:solidFill>
                <a:latin typeface="Arial MT"/>
                <a:cs typeface="Arial MT"/>
              </a:rPr>
              <a:t> </a:t>
            </a:r>
            <a:r>
              <a:rPr dirty="0" sz="900">
                <a:solidFill>
                  <a:srgbClr val="2D5A4A"/>
                </a:solidFill>
                <a:latin typeface="Arial MT"/>
                <a:cs typeface="Arial MT"/>
              </a:rPr>
              <a:t>traceability</a:t>
            </a:r>
            <a:r>
              <a:rPr dirty="0" sz="900" spc="15">
                <a:solidFill>
                  <a:srgbClr val="2D5A4A"/>
                </a:solidFill>
                <a:latin typeface="Arial MT"/>
                <a:cs typeface="Arial MT"/>
              </a:rPr>
              <a:t> </a:t>
            </a:r>
            <a:r>
              <a:rPr dirty="0" sz="900" spc="-10">
                <a:solidFill>
                  <a:srgbClr val="2D5A4A"/>
                </a:solidFill>
                <a:latin typeface="Arial MT"/>
                <a:cs typeface="Arial MT"/>
              </a:rPr>
              <a:t>builds</a:t>
            </a:r>
            <a:r>
              <a:rPr dirty="0" sz="900" spc="15">
                <a:solidFill>
                  <a:srgbClr val="2D5A4A"/>
                </a:solidFill>
                <a:latin typeface="Arial MT"/>
                <a:cs typeface="Arial MT"/>
              </a:rPr>
              <a:t> </a:t>
            </a:r>
            <a:r>
              <a:rPr dirty="0" sz="900" spc="-25">
                <a:solidFill>
                  <a:srgbClr val="2D5A4A"/>
                </a:solidFill>
                <a:latin typeface="Arial MT"/>
                <a:cs typeface="Arial MT"/>
              </a:rPr>
              <a:t>buyer</a:t>
            </a:r>
            <a:r>
              <a:rPr dirty="0" sz="900" spc="15">
                <a:solidFill>
                  <a:srgbClr val="2D5A4A"/>
                </a:solidFill>
                <a:latin typeface="Arial MT"/>
                <a:cs typeface="Arial MT"/>
              </a:rPr>
              <a:t> </a:t>
            </a:r>
            <a:r>
              <a:rPr dirty="0" sz="900">
                <a:solidFill>
                  <a:srgbClr val="2D5A4A"/>
                </a:solidFill>
                <a:latin typeface="Arial MT"/>
                <a:cs typeface="Arial MT"/>
              </a:rPr>
              <a:t>trust</a:t>
            </a:r>
            <a:r>
              <a:rPr dirty="0" sz="900" spc="15">
                <a:solidFill>
                  <a:srgbClr val="2D5A4A"/>
                </a:solidFill>
                <a:latin typeface="Arial MT"/>
                <a:cs typeface="Arial MT"/>
              </a:rPr>
              <a:t> </a:t>
            </a:r>
            <a:r>
              <a:rPr dirty="0" sz="900" spc="-25">
                <a:solidFill>
                  <a:srgbClr val="2D5A4A"/>
                </a:solidFill>
                <a:latin typeface="Arial MT"/>
                <a:cs typeface="Arial MT"/>
              </a:rPr>
              <a:t>and supports</a:t>
            </a:r>
            <a:r>
              <a:rPr dirty="0" sz="900" spc="-15">
                <a:solidFill>
                  <a:srgbClr val="2D5A4A"/>
                </a:solidFill>
                <a:latin typeface="Arial MT"/>
                <a:cs typeface="Arial MT"/>
              </a:rPr>
              <a:t> </a:t>
            </a:r>
            <a:r>
              <a:rPr dirty="0" sz="900" spc="-10">
                <a:solidFill>
                  <a:srgbClr val="2D5A4A"/>
                </a:solidFill>
                <a:latin typeface="Arial MT"/>
                <a:cs typeface="Arial MT"/>
              </a:rPr>
              <a:t>premium pricing.</a:t>
            </a:r>
            <a:endParaRPr sz="90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0398" y="2052637"/>
            <a:ext cx="139700" cy="10477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7223" y="2206510"/>
            <a:ext cx="142875" cy="142875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277698" y="1713799"/>
            <a:ext cx="2646680" cy="1003300"/>
          </a:xfrm>
          <a:prstGeom prst="rect">
            <a:avLst/>
          </a:prstGeom>
        </p:spPr>
        <p:txBody>
          <a:bodyPr wrap="square" lIns="0" tIns="7429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dirty="0" sz="1100" spc="-65" b="1">
                <a:solidFill>
                  <a:srgbClr val="333333"/>
                </a:solidFill>
                <a:latin typeface="Tahoma"/>
                <a:cs typeface="Tahoma"/>
              </a:rPr>
              <a:t>Shree</a:t>
            </a:r>
            <a:r>
              <a:rPr dirty="0" sz="1100" spc="-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100" spc="-35" b="1">
                <a:solidFill>
                  <a:srgbClr val="333333"/>
                </a:solidFill>
                <a:latin typeface="Tahoma"/>
                <a:cs typeface="Tahoma"/>
              </a:rPr>
              <a:t>Hari</a:t>
            </a:r>
            <a:r>
              <a:rPr dirty="0" sz="1100" spc="-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100" spc="-10" b="1">
                <a:solidFill>
                  <a:srgbClr val="333333"/>
                </a:solidFill>
                <a:latin typeface="Tahoma"/>
                <a:cs typeface="Tahoma"/>
              </a:rPr>
              <a:t>Anbazhagan</a:t>
            </a:r>
            <a:endParaRPr sz="1100">
              <a:latin typeface="Tahoma"/>
              <a:cs typeface="Tahoma"/>
            </a:endParaRPr>
          </a:p>
          <a:p>
            <a:pPr marL="302895" marR="459740">
              <a:lnSpc>
                <a:spcPct val="103200"/>
              </a:lnSpc>
              <a:spcBef>
                <a:spcPts val="445"/>
              </a:spcBef>
            </a:pPr>
            <a:r>
              <a:rPr dirty="0" sz="1100" spc="-60">
                <a:solidFill>
                  <a:srgbClr val="4185F3"/>
                </a:solidFill>
                <a:latin typeface="Tahoma"/>
                <a:cs typeface="Tahoma"/>
                <a:hlinkClick r:id="rId5"/>
              </a:rPr>
              <a:t>shreeharianbazhagan@gmail.com</a:t>
            </a:r>
            <a:r>
              <a:rPr dirty="0" sz="1100" spc="-60">
                <a:solidFill>
                  <a:srgbClr val="4185F3"/>
                </a:solidFill>
                <a:latin typeface="Tahoma"/>
                <a:cs typeface="Tahoma"/>
              </a:rPr>
              <a:t> </a:t>
            </a:r>
            <a:r>
              <a:rPr dirty="0" sz="1100" spc="-10">
                <a:solidFill>
                  <a:srgbClr val="333333"/>
                </a:solidFill>
                <a:latin typeface="Tahoma"/>
                <a:cs typeface="Tahoma"/>
              </a:rPr>
              <a:t>07721046613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15"/>
              </a:spcBef>
            </a:pP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dirty="0" sz="900" spc="-25">
                <a:solidFill>
                  <a:srgbClr val="7F7F7F"/>
                </a:solidFill>
                <a:latin typeface="Arial MT"/>
                <a:cs typeface="Arial MT"/>
              </a:rPr>
              <a:t>Pre-</a:t>
            </a:r>
            <a:r>
              <a:rPr dirty="0" sz="900" spc="-10">
                <a:solidFill>
                  <a:srgbClr val="7F7F7F"/>
                </a:solidFill>
                <a:latin typeface="Arial MT"/>
                <a:cs typeface="Arial MT"/>
              </a:rPr>
              <a:t>Interview</a:t>
            </a:r>
            <a:r>
              <a:rPr dirty="0" sz="900" spc="3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dirty="0" sz="900" spc="-25">
                <a:solidFill>
                  <a:srgbClr val="7F7F7F"/>
                </a:solidFill>
                <a:latin typeface="Arial MT"/>
                <a:cs typeface="Arial MT"/>
              </a:rPr>
              <a:t>Task</a:t>
            </a:r>
            <a:r>
              <a:rPr dirty="0" sz="900" spc="35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dirty="0" sz="900">
                <a:solidFill>
                  <a:srgbClr val="7F7F7F"/>
                </a:solidFill>
                <a:latin typeface="Arial MT"/>
                <a:cs typeface="Arial MT"/>
              </a:rPr>
              <a:t>—</a:t>
            </a:r>
            <a:r>
              <a:rPr dirty="0" sz="900" spc="35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dirty="0" sz="900" spc="-30">
                <a:solidFill>
                  <a:srgbClr val="7F7F7F"/>
                </a:solidFill>
                <a:latin typeface="Arial MT"/>
                <a:cs typeface="Arial MT"/>
              </a:rPr>
              <a:t>Developer</a:t>
            </a:r>
            <a:r>
              <a:rPr dirty="0" sz="900" spc="35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dirty="0" sz="900">
                <a:solidFill>
                  <a:srgbClr val="7F7F7F"/>
                </a:solidFill>
                <a:latin typeface="Arial MT"/>
                <a:cs typeface="Arial MT"/>
              </a:rPr>
              <a:t>Intern</a:t>
            </a:r>
            <a:r>
              <a:rPr dirty="0" sz="900" spc="35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dirty="0" sz="900">
                <a:solidFill>
                  <a:srgbClr val="7F7F7F"/>
                </a:solidFill>
                <a:latin typeface="Arial MT"/>
                <a:cs typeface="Arial MT"/>
              </a:rPr>
              <a:t>—</a:t>
            </a:r>
            <a:r>
              <a:rPr dirty="0" sz="900" spc="35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dirty="0" sz="900">
                <a:solidFill>
                  <a:srgbClr val="7F7F7F"/>
                </a:solidFill>
                <a:latin typeface="Arial MT"/>
                <a:cs typeface="Arial MT"/>
              </a:rPr>
              <a:t>April</a:t>
            </a:r>
            <a:r>
              <a:rPr dirty="0" sz="900" spc="35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dirty="0" sz="900" spc="-20">
                <a:solidFill>
                  <a:srgbClr val="7F7F7F"/>
                </a:solidFill>
                <a:latin typeface="Arial MT"/>
                <a:cs typeface="Arial MT"/>
              </a:rPr>
              <a:t>2026</a:t>
            </a:r>
            <a:endParaRPr sz="9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302012" y="541489"/>
            <a:ext cx="2218690" cy="198755"/>
          </a:xfrm>
          <a:custGeom>
            <a:avLst/>
            <a:gdLst/>
            <a:ahLst/>
            <a:cxnLst/>
            <a:rect l="l" t="t" r="r" b="b"/>
            <a:pathLst>
              <a:path w="2218690" h="198754">
                <a:moveTo>
                  <a:pt x="2167618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98367"/>
                </a:lnTo>
                <a:lnTo>
                  <a:pt x="2218419" y="198367"/>
                </a:lnTo>
                <a:lnTo>
                  <a:pt x="2218419" y="50800"/>
                </a:lnTo>
                <a:lnTo>
                  <a:pt x="2214410" y="31075"/>
                </a:lnTo>
                <a:lnTo>
                  <a:pt x="2203496" y="14922"/>
                </a:lnTo>
                <a:lnTo>
                  <a:pt x="2187343" y="4008"/>
                </a:lnTo>
                <a:lnTo>
                  <a:pt x="2167618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3340112" y="520494"/>
            <a:ext cx="1096010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>
                <a:solidFill>
                  <a:srgbClr val="FFFFFF"/>
                </a:solidFill>
                <a:latin typeface="Tahoma"/>
                <a:cs typeface="Tahoma"/>
              </a:rPr>
              <a:t>Proof</a:t>
            </a:r>
            <a:r>
              <a:rPr dirty="0" sz="1200" spc="-9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200">
                <a:solidFill>
                  <a:srgbClr val="FFFFFF"/>
                </a:solidFill>
                <a:latin typeface="Tahoma"/>
                <a:cs typeface="Tahoma"/>
              </a:rPr>
              <a:t>of</a:t>
            </a:r>
            <a:r>
              <a:rPr dirty="0" sz="1200" spc="-9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200" spc="-40">
                <a:solidFill>
                  <a:srgbClr val="FFFFFF"/>
                </a:solidFill>
                <a:latin typeface="Tahoma"/>
                <a:cs typeface="Tahoma"/>
              </a:rPr>
              <a:t>Concept</a:t>
            </a:r>
            <a:endParaRPr sz="1200">
              <a:latin typeface="Tahoma"/>
              <a:cs typeface="Tahoma"/>
            </a:endParaRPr>
          </a:p>
        </p:txBody>
      </p:sp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302012" y="727201"/>
            <a:ext cx="2218419" cy="50609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3340112" y="745431"/>
            <a:ext cx="2006600" cy="8001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dirty="0" sz="1000" spc="-25">
                <a:solidFill>
                  <a:srgbClr val="333333"/>
                </a:solidFill>
                <a:latin typeface="Tahoma"/>
                <a:cs typeface="Tahoma"/>
              </a:rPr>
              <a:t>I’ve</a:t>
            </a:r>
            <a:r>
              <a:rPr dirty="0" sz="1000" spc="-5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35">
                <a:solidFill>
                  <a:srgbClr val="333333"/>
                </a:solidFill>
                <a:latin typeface="Tahoma"/>
                <a:cs typeface="Tahoma"/>
              </a:rPr>
              <a:t>already </a:t>
            </a:r>
            <a:r>
              <a:rPr dirty="0" sz="1000">
                <a:solidFill>
                  <a:srgbClr val="333333"/>
                </a:solidFill>
                <a:latin typeface="Tahoma"/>
                <a:cs typeface="Tahoma"/>
              </a:rPr>
              <a:t>built</a:t>
            </a:r>
            <a:r>
              <a:rPr dirty="0" sz="1000" spc="-35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>
                <a:solidFill>
                  <a:srgbClr val="333333"/>
                </a:solidFill>
                <a:latin typeface="Tahoma"/>
                <a:cs typeface="Tahoma"/>
              </a:rPr>
              <a:t>a</a:t>
            </a:r>
            <a:r>
              <a:rPr dirty="0" sz="1000" spc="-4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10">
                <a:solidFill>
                  <a:srgbClr val="333333"/>
                </a:solidFill>
                <a:latin typeface="Tahoma"/>
                <a:cs typeface="Tahoma"/>
              </a:rPr>
              <a:t>live</a:t>
            </a:r>
            <a:r>
              <a:rPr dirty="0" sz="1000" spc="-35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45">
                <a:solidFill>
                  <a:srgbClr val="333333"/>
                </a:solidFill>
                <a:latin typeface="Tahoma"/>
                <a:cs typeface="Tahoma"/>
              </a:rPr>
              <a:t>system</a:t>
            </a:r>
            <a:r>
              <a:rPr dirty="0" sz="1000" spc="-35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>
                <a:solidFill>
                  <a:srgbClr val="333333"/>
                </a:solidFill>
                <a:latin typeface="Tahoma"/>
                <a:cs typeface="Tahoma"/>
              </a:rPr>
              <a:t>on</a:t>
            </a:r>
            <a:r>
              <a:rPr dirty="0" sz="1000" spc="-35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30">
                <a:solidFill>
                  <a:srgbClr val="333333"/>
                </a:solidFill>
                <a:latin typeface="Tahoma"/>
                <a:cs typeface="Tahoma"/>
              </a:rPr>
              <a:t>the </a:t>
            </a:r>
            <a:r>
              <a:rPr dirty="0" sz="1000" spc="-80" b="1">
                <a:solidFill>
                  <a:srgbClr val="333333"/>
                </a:solidFill>
                <a:latin typeface="Tahoma"/>
                <a:cs typeface="Tahoma"/>
              </a:rPr>
              <a:t>same</a:t>
            </a:r>
            <a:r>
              <a:rPr dirty="0" sz="1000" spc="1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55" b="1">
                <a:solidFill>
                  <a:srgbClr val="333333"/>
                </a:solidFill>
                <a:latin typeface="Tahoma"/>
                <a:cs typeface="Tahoma"/>
              </a:rPr>
              <a:t>stack</a:t>
            </a:r>
            <a:r>
              <a:rPr dirty="0" sz="1000" spc="-1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>
                <a:solidFill>
                  <a:srgbClr val="333333"/>
                </a:solidFill>
                <a:latin typeface="Tahoma"/>
                <a:cs typeface="Tahoma"/>
              </a:rPr>
              <a:t>I’m</a:t>
            </a:r>
            <a:r>
              <a:rPr dirty="0" sz="1000" spc="-35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10">
                <a:solidFill>
                  <a:srgbClr val="333333"/>
                </a:solidFill>
                <a:latin typeface="Tahoma"/>
                <a:cs typeface="Tahoma"/>
              </a:rPr>
              <a:t>proposing:</a:t>
            </a:r>
            <a:endParaRPr sz="1000">
              <a:latin typeface="Tahoma"/>
              <a:cs typeface="Tahoma"/>
            </a:endParaRPr>
          </a:p>
          <a:p>
            <a:pPr marL="12700" marR="361315">
              <a:lnSpc>
                <a:spcPct val="125099"/>
              </a:lnSpc>
              <a:spcBef>
                <a:spcPts val="100"/>
              </a:spcBef>
            </a:pPr>
            <a:r>
              <a:rPr dirty="0" sz="800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DeltaEd</a:t>
            </a:r>
            <a:r>
              <a:rPr dirty="0" sz="800" spc="20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 </a:t>
            </a:r>
            <a:r>
              <a:rPr dirty="0" sz="800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—</a:t>
            </a:r>
            <a:r>
              <a:rPr dirty="0" sz="800" spc="20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 </a:t>
            </a:r>
            <a:r>
              <a:rPr dirty="0" sz="800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Live</a:t>
            </a:r>
            <a:r>
              <a:rPr dirty="0" sz="800" spc="20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 </a:t>
            </a:r>
            <a:r>
              <a:rPr dirty="0" sz="800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on</a:t>
            </a:r>
            <a:r>
              <a:rPr dirty="0" sz="800" spc="25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 </a:t>
            </a:r>
            <a:r>
              <a:rPr dirty="0" sz="800" spc="-10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GCP</a:t>
            </a:r>
            <a:r>
              <a:rPr dirty="0" sz="800" spc="20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 </a:t>
            </a:r>
            <a:r>
              <a:rPr dirty="0" sz="800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Cloud</a:t>
            </a:r>
            <a:r>
              <a:rPr dirty="0" sz="800" spc="20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 </a:t>
            </a:r>
            <a:r>
              <a:rPr dirty="0" sz="800" spc="-25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Run</a:t>
            </a:r>
            <a:r>
              <a:rPr dirty="0" sz="800" spc="-10">
                <a:solidFill>
                  <a:srgbClr val="4185F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GCP</a:t>
            </a:r>
            <a:r>
              <a:rPr dirty="0" sz="800" spc="3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95">
                <a:solidFill>
                  <a:srgbClr val="333333"/>
                </a:solidFill>
                <a:latin typeface="Segoe UI"/>
                <a:cs typeface="Segoe UI"/>
              </a:rPr>
              <a:t>•</a:t>
            </a:r>
            <a:r>
              <a:rPr dirty="0" sz="800" spc="35">
                <a:solidFill>
                  <a:srgbClr val="333333"/>
                </a:solidFill>
                <a:latin typeface="Segoe UI"/>
                <a:cs typeface="Segoe UI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React</a:t>
            </a:r>
            <a:r>
              <a:rPr dirty="0" sz="800" spc="3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95">
                <a:solidFill>
                  <a:srgbClr val="333333"/>
                </a:solidFill>
                <a:latin typeface="Segoe UI"/>
                <a:cs typeface="Segoe UI"/>
              </a:rPr>
              <a:t>•</a:t>
            </a:r>
            <a:r>
              <a:rPr dirty="0" sz="800" spc="30">
                <a:solidFill>
                  <a:srgbClr val="333333"/>
                </a:solidFill>
                <a:latin typeface="Segoe UI"/>
                <a:cs typeface="Segoe UI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Python</a:t>
            </a:r>
            <a:r>
              <a:rPr dirty="0" sz="800" spc="3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95">
                <a:solidFill>
                  <a:srgbClr val="333333"/>
                </a:solidFill>
                <a:latin typeface="Segoe UI"/>
                <a:cs typeface="Segoe UI"/>
              </a:rPr>
              <a:t>•</a:t>
            </a:r>
            <a:r>
              <a:rPr dirty="0" sz="800" spc="35">
                <a:solidFill>
                  <a:srgbClr val="333333"/>
                </a:solidFill>
                <a:latin typeface="Segoe UI"/>
                <a:cs typeface="Segoe UI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BigQuery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(Built</a:t>
            </a:r>
            <a:r>
              <a:rPr dirty="0" sz="800" spc="7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on</a:t>
            </a:r>
            <a:r>
              <a:rPr dirty="0" sz="800" spc="7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a</a:t>
            </a:r>
            <a:r>
              <a:rPr dirty="0" sz="800" spc="80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similar</a:t>
            </a:r>
            <a:r>
              <a:rPr dirty="0" sz="800" spc="7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spc="-10" i="1">
                <a:solidFill>
                  <a:srgbClr val="333333"/>
                </a:solidFill>
                <a:latin typeface="Arial"/>
                <a:cs typeface="Arial"/>
              </a:rPr>
              <a:t>stack)</a:t>
            </a:r>
            <a:endParaRPr sz="800">
              <a:latin typeface="Arial"/>
              <a:cs typeface="Arial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0" y="3060001"/>
            <a:ext cx="5760085" cy="180340"/>
          </a:xfrm>
          <a:custGeom>
            <a:avLst/>
            <a:gdLst/>
            <a:ahLst/>
            <a:cxnLst/>
            <a:rect l="l" t="t" r="r" b="b"/>
            <a:pathLst>
              <a:path w="5760085" h="180339">
                <a:moveTo>
                  <a:pt x="5759996" y="0"/>
                </a:moveTo>
                <a:lnTo>
                  <a:pt x="0" y="0"/>
                </a:lnTo>
                <a:lnTo>
                  <a:pt x="0" y="179997"/>
                </a:lnTo>
                <a:lnTo>
                  <a:pt x="5759996" y="179997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5441975" y="3096269"/>
            <a:ext cx="187325" cy="128270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865"/>
              </a:lnSpc>
            </a:pPr>
            <a:r>
              <a:rPr dirty="0" sz="800" spc="-25">
                <a:solidFill>
                  <a:srgbClr val="FFFFFF"/>
                </a:solidFill>
                <a:latin typeface="Arial MT"/>
                <a:cs typeface="Arial MT"/>
              </a:rPr>
              <a:t>1/5</a:t>
            </a:r>
            <a:endParaRPr sz="800">
              <a:latin typeface="Arial MT"/>
              <a:cs typeface="Arial MT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-55"/>
              <a:t>How</a:t>
            </a:r>
            <a:r>
              <a:rPr dirty="0" spc="-35"/>
              <a:t> </a:t>
            </a:r>
            <a:r>
              <a:rPr dirty="0" spc="-85"/>
              <a:t>Kahawa</a:t>
            </a:r>
            <a:r>
              <a:rPr dirty="0"/>
              <a:t> </a:t>
            </a:r>
            <a:r>
              <a:rPr dirty="0" spc="-40"/>
              <a:t>Roots</a:t>
            </a:r>
            <a:r>
              <a:rPr dirty="0" spc="-20"/>
              <a:t> </a:t>
            </a:r>
            <a:r>
              <a:rPr dirty="0" spc="-50"/>
              <a:t>Tracks</a:t>
            </a:r>
            <a:r>
              <a:rPr dirty="0" spc="-15"/>
              <a:t> </a:t>
            </a:r>
            <a:r>
              <a:rPr dirty="0" spc="-45"/>
              <a:t>Coffee,</a:t>
            </a:r>
            <a:r>
              <a:rPr dirty="0" spc="-20"/>
              <a:t> </a:t>
            </a:r>
            <a:r>
              <a:rPr dirty="0" spc="-10"/>
              <a:t>End</a:t>
            </a:r>
            <a:r>
              <a:rPr dirty="0" spc="-15"/>
              <a:t> </a:t>
            </a:r>
            <a:r>
              <a:rPr dirty="0"/>
              <a:t>to</a:t>
            </a:r>
            <a:r>
              <a:rPr dirty="0" spc="-20"/>
              <a:t> </a:t>
            </a:r>
            <a:r>
              <a:rPr dirty="0" spc="-25"/>
              <a:t>End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398" y="520522"/>
            <a:ext cx="127000" cy="1270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50657" y="492422"/>
            <a:ext cx="1382395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b="1">
                <a:solidFill>
                  <a:srgbClr val="333333"/>
                </a:solidFill>
                <a:latin typeface="Tahoma"/>
                <a:cs typeface="Tahoma"/>
              </a:rPr>
              <a:t>The</a:t>
            </a:r>
            <a:r>
              <a:rPr dirty="0" sz="1000" spc="-1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55" b="1">
                <a:solidFill>
                  <a:srgbClr val="333333"/>
                </a:solidFill>
                <a:latin typeface="Tahoma"/>
                <a:cs typeface="Tahoma"/>
              </a:rPr>
              <a:t>Journey</a:t>
            </a:r>
            <a:r>
              <a:rPr dirty="0" sz="1000" spc="-1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10" b="1">
                <a:solidFill>
                  <a:srgbClr val="333333"/>
                </a:solidFill>
                <a:latin typeface="Tahoma"/>
                <a:cs typeface="Tahoma"/>
              </a:rPr>
              <a:t>in</a:t>
            </a:r>
            <a:r>
              <a:rPr dirty="0" sz="1000" spc="-1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b="1">
                <a:solidFill>
                  <a:srgbClr val="333333"/>
                </a:solidFill>
                <a:latin typeface="Tahoma"/>
                <a:cs typeface="Tahoma"/>
              </a:rPr>
              <a:t>4</a:t>
            </a:r>
            <a:r>
              <a:rPr dirty="0" sz="1000" spc="-1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40" b="1">
                <a:solidFill>
                  <a:srgbClr val="333333"/>
                </a:solidFill>
                <a:latin typeface="Tahoma"/>
                <a:cs typeface="Tahoma"/>
              </a:rPr>
              <a:t>Steps</a:t>
            </a:r>
            <a:endParaRPr sz="1000">
              <a:latin typeface="Tahoma"/>
              <a:cs typeface="Tahoma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4873" y="791054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09117" y="778121"/>
            <a:ext cx="66040" cy="116839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600" spc="-50">
                <a:solidFill>
                  <a:srgbClr val="FFFFFF"/>
                </a:solidFill>
                <a:latin typeface="Arial MT"/>
                <a:cs typeface="Arial MT"/>
              </a:rPr>
              <a:t>1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 marR="212725">
              <a:lnSpc>
                <a:spcPct val="100000"/>
              </a:lnSpc>
              <a:spcBef>
                <a:spcPts val="95"/>
              </a:spcBef>
            </a:pPr>
            <a:r>
              <a:rPr dirty="0" spc="-10" b="1">
                <a:latin typeface="Tahoma"/>
                <a:cs typeface="Tahoma"/>
              </a:rPr>
              <a:t>Data</a:t>
            </a:r>
            <a:r>
              <a:rPr dirty="0" spc="10" b="1">
                <a:latin typeface="Tahoma"/>
                <a:cs typeface="Tahoma"/>
              </a:rPr>
              <a:t> </a:t>
            </a:r>
            <a:r>
              <a:rPr dirty="0" spc="-70" b="1">
                <a:latin typeface="Tahoma"/>
                <a:cs typeface="Tahoma"/>
              </a:rPr>
              <a:t>comes</a:t>
            </a:r>
            <a:r>
              <a:rPr dirty="0" spc="10" b="1">
                <a:latin typeface="Tahoma"/>
                <a:cs typeface="Tahoma"/>
              </a:rPr>
              <a:t> </a:t>
            </a:r>
            <a:r>
              <a:rPr dirty="0" spc="-30" b="1">
                <a:latin typeface="Tahoma"/>
                <a:cs typeface="Tahoma"/>
              </a:rPr>
              <a:t>in</a:t>
            </a:r>
            <a:r>
              <a:rPr dirty="0" spc="-20" b="1">
                <a:latin typeface="Tahoma"/>
                <a:cs typeface="Tahoma"/>
              </a:rPr>
              <a:t> </a:t>
            </a:r>
            <a:r>
              <a:rPr dirty="0" spc="80"/>
              <a:t>—</a:t>
            </a:r>
            <a:r>
              <a:rPr dirty="0" spc="-35"/>
              <a:t> Farmer </a:t>
            </a:r>
            <a:r>
              <a:rPr dirty="0" spc="-10"/>
              <a:t>or</a:t>
            </a:r>
            <a:r>
              <a:rPr dirty="0" spc="-40"/>
              <a:t> </a:t>
            </a:r>
            <a:r>
              <a:rPr dirty="0" spc="-25"/>
              <a:t>admin</a:t>
            </a:r>
            <a:r>
              <a:rPr dirty="0" spc="-35"/>
              <a:t> </a:t>
            </a:r>
            <a:r>
              <a:rPr dirty="0" spc="-40"/>
              <a:t>enters </a:t>
            </a:r>
            <a:r>
              <a:rPr dirty="0" spc="-25"/>
              <a:t>details</a:t>
            </a:r>
            <a:r>
              <a:rPr dirty="0" spc="-55"/>
              <a:t> </a:t>
            </a:r>
            <a:r>
              <a:rPr dirty="0"/>
              <a:t>via</a:t>
            </a:r>
            <a:r>
              <a:rPr dirty="0" spc="-55"/>
              <a:t> </a:t>
            </a:r>
            <a:r>
              <a:rPr dirty="0" spc="-60"/>
              <a:t>web</a:t>
            </a:r>
            <a:r>
              <a:rPr dirty="0" spc="-15"/>
              <a:t> </a:t>
            </a:r>
            <a:r>
              <a:rPr dirty="0" spc="-20"/>
              <a:t>form</a:t>
            </a:r>
            <a:r>
              <a:rPr dirty="0" spc="-45"/>
              <a:t> </a:t>
            </a:r>
            <a:r>
              <a:rPr dirty="0" spc="-10"/>
              <a:t>or</a:t>
            </a:r>
            <a:r>
              <a:rPr dirty="0" spc="-40"/>
              <a:t> </a:t>
            </a:r>
            <a:r>
              <a:rPr dirty="0" spc="-25"/>
              <a:t>CSV</a:t>
            </a:r>
          </a:p>
          <a:p>
            <a:pPr marL="12700" marR="34925">
              <a:lnSpc>
                <a:spcPct val="100000"/>
              </a:lnSpc>
              <a:spcBef>
                <a:spcPts val="490"/>
              </a:spcBef>
            </a:pPr>
            <a:r>
              <a:rPr dirty="0" spc="-50" b="1">
                <a:latin typeface="Tahoma"/>
                <a:cs typeface="Tahoma"/>
              </a:rPr>
              <a:t>Validated</a:t>
            </a:r>
            <a:r>
              <a:rPr dirty="0" spc="50" b="1">
                <a:latin typeface="Tahoma"/>
                <a:cs typeface="Tahoma"/>
              </a:rPr>
              <a:t> </a:t>
            </a:r>
            <a:r>
              <a:rPr dirty="0" b="1">
                <a:latin typeface="Tahoma"/>
                <a:cs typeface="Tahoma"/>
              </a:rPr>
              <a:t>&amp;</a:t>
            </a:r>
            <a:r>
              <a:rPr dirty="0" spc="50" b="1">
                <a:latin typeface="Tahoma"/>
                <a:cs typeface="Tahoma"/>
              </a:rPr>
              <a:t> </a:t>
            </a:r>
            <a:r>
              <a:rPr dirty="0" spc="-75" b="1">
                <a:latin typeface="Tahoma"/>
                <a:cs typeface="Tahoma"/>
              </a:rPr>
              <a:t>cleaned</a:t>
            </a:r>
            <a:r>
              <a:rPr dirty="0" spc="20" b="1">
                <a:latin typeface="Tahoma"/>
                <a:cs typeface="Tahoma"/>
              </a:rPr>
              <a:t> </a:t>
            </a:r>
            <a:r>
              <a:rPr dirty="0" spc="80"/>
              <a:t>—</a:t>
            </a:r>
            <a:r>
              <a:rPr dirty="0"/>
              <a:t> </a:t>
            </a:r>
            <a:r>
              <a:rPr dirty="0" spc="-20"/>
              <a:t>Every</a:t>
            </a:r>
            <a:r>
              <a:rPr dirty="0" spc="5"/>
              <a:t> </a:t>
            </a:r>
            <a:r>
              <a:rPr dirty="0" spc="-10"/>
              <a:t>field</a:t>
            </a:r>
            <a:r>
              <a:rPr dirty="0"/>
              <a:t> </a:t>
            </a:r>
            <a:r>
              <a:rPr dirty="0" spc="-10"/>
              <a:t>checked </a:t>
            </a:r>
            <a:r>
              <a:rPr dirty="0" spc="-25"/>
              <a:t>automatically; </a:t>
            </a:r>
            <a:r>
              <a:rPr dirty="0" spc="-10"/>
              <a:t>invalid</a:t>
            </a:r>
            <a:r>
              <a:rPr dirty="0" spc="-20"/>
              <a:t> </a:t>
            </a:r>
            <a:r>
              <a:rPr dirty="0" spc="-50"/>
              <a:t>rows</a:t>
            </a:r>
            <a:r>
              <a:rPr dirty="0" spc="-25"/>
              <a:t> </a:t>
            </a:r>
            <a:r>
              <a:rPr dirty="0" spc="-40"/>
              <a:t>rejected,</a:t>
            </a:r>
            <a:r>
              <a:rPr dirty="0" spc="-20"/>
              <a:t> </a:t>
            </a:r>
            <a:r>
              <a:rPr dirty="0" spc="-35"/>
              <a:t>logged</a:t>
            </a:r>
            <a:r>
              <a:rPr dirty="0" spc="-20"/>
              <a:t> </a:t>
            </a:r>
            <a:r>
              <a:rPr dirty="0" spc="-25"/>
              <a:t>for </a:t>
            </a:r>
            <a:r>
              <a:rPr dirty="0" spc="-10"/>
              <a:t>review</a:t>
            </a:r>
          </a:p>
          <a:p>
            <a:pPr marL="12700" marR="5080">
              <a:lnSpc>
                <a:spcPct val="100000"/>
              </a:lnSpc>
              <a:spcBef>
                <a:spcPts val="484"/>
              </a:spcBef>
            </a:pPr>
            <a:r>
              <a:rPr dirty="0" spc="-50" b="1">
                <a:latin typeface="Tahoma"/>
                <a:cs typeface="Tahoma"/>
              </a:rPr>
              <a:t>Stored</a:t>
            </a:r>
            <a:r>
              <a:rPr dirty="0" spc="20" b="1">
                <a:latin typeface="Tahoma"/>
                <a:cs typeface="Tahoma"/>
              </a:rPr>
              <a:t> </a:t>
            </a:r>
            <a:r>
              <a:rPr dirty="0" spc="-70" b="1">
                <a:latin typeface="Tahoma"/>
                <a:cs typeface="Tahoma"/>
              </a:rPr>
              <a:t>safely</a:t>
            </a:r>
            <a:r>
              <a:rPr dirty="0" spc="5" b="1">
                <a:latin typeface="Tahoma"/>
                <a:cs typeface="Tahoma"/>
              </a:rPr>
              <a:t> </a:t>
            </a:r>
            <a:r>
              <a:rPr dirty="0" spc="80"/>
              <a:t>—</a:t>
            </a:r>
            <a:r>
              <a:rPr dirty="0" spc="-30"/>
              <a:t> </a:t>
            </a:r>
            <a:r>
              <a:rPr dirty="0" spc="-20"/>
              <a:t>Raw</a:t>
            </a:r>
            <a:r>
              <a:rPr dirty="0" spc="-25"/>
              <a:t> </a:t>
            </a:r>
            <a:r>
              <a:rPr dirty="0" spc="-30"/>
              <a:t>backup</a:t>
            </a:r>
            <a:r>
              <a:rPr dirty="0" spc="-25"/>
              <a:t> </a:t>
            </a:r>
            <a:r>
              <a:rPr dirty="0" spc="-20"/>
              <a:t>kept</a:t>
            </a:r>
            <a:r>
              <a:rPr dirty="0" spc="-30"/>
              <a:t> </a:t>
            </a:r>
            <a:r>
              <a:rPr dirty="0" spc="-40"/>
              <a:t>untouched, </a:t>
            </a:r>
            <a:r>
              <a:rPr dirty="0" spc="-30"/>
              <a:t>clean</a:t>
            </a:r>
            <a:r>
              <a:rPr dirty="0" spc="-5"/>
              <a:t> </a:t>
            </a:r>
            <a:r>
              <a:rPr dirty="0" spc="-10"/>
              <a:t>data</a:t>
            </a:r>
            <a:r>
              <a:rPr dirty="0"/>
              <a:t> in</a:t>
            </a:r>
            <a:r>
              <a:rPr dirty="0" spc="-5"/>
              <a:t> </a:t>
            </a:r>
            <a:r>
              <a:rPr dirty="0" spc="55"/>
              <a:t>DB</a:t>
            </a:r>
            <a:r>
              <a:rPr dirty="0"/>
              <a:t> with </a:t>
            </a:r>
            <a:r>
              <a:rPr dirty="0" spc="-35"/>
              <a:t>timestamps</a:t>
            </a:r>
            <a:r>
              <a:rPr dirty="0" spc="-10"/>
              <a:t> </a:t>
            </a:r>
            <a:r>
              <a:rPr dirty="0" spc="70"/>
              <a:t>&amp;</a:t>
            </a:r>
            <a:r>
              <a:rPr dirty="0" spc="-5"/>
              <a:t> </a:t>
            </a:r>
            <a:r>
              <a:rPr dirty="0"/>
              <a:t>GPS </a:t>
            </a:r>
            <a:r>
              <a:rPr dirty="0" spc="-25"/>
              <a:t>at </a:t>
            </a:r>
            <a:r>
              <a:rPr dirty="0" spc="-45"/>
              <a:t>each</a:t>
            </a:r>
            <a:r>
              <a:rPr dirty="0" spc="-10"/>
              <a:t> stage</a:t>
            </a:r>
          </a:p>
          <a:p>
            <a:pPr algn="just" marL="12700" marR="178435">
              <a:lnSpc>
                <a:spcPct val="100000"/>
              </a:lnSpc>
              <a:spcBef>
                <a:spcPts val="484"/>
              </a:spcBef>
            </a:pPr>
            <a:r>
              <a:rPr dirty="0" spc="-65" b="1">
                <a:latin typeface="Tahoma"/>
                <a:cs typeface="Tahoma"/>
              </a:rPr>
              <a:t>Customers</a:t>
            </a:r>
            <a:r>
              <a:rPr dirty="0" spc="30" b="1">
                <a:latin typeface="Tahoma"/>
                <a:cs typeface="Tahoma"/>
              </a:rPr>
              <a:t> </a:t>
            </a:r>
            <a:r>
              <a:rPr dirty="0" spc="-80" b="1">
                <a:latin typeface="Tahoma"/>
                <a:cs typeface="Tahoma"/>
              </a:rPr>
              <a:t>see</a:t>
            </a:r>
            <a:r>
              <a:rPr dirty="0" spc="30" b="1">
                <a:latin typeface="Tahoma"/>
                <a:cs typeface="Tahoma"/>
              </a:rPr>
              <a:t> </a:t>
            </a:r>
            <a:r>
              <a:rPr dirty="0" b="1">
                <a:latin typeface="Tahoma"/>
                <a:cs typeface="Tahoma"/>
              </a:rPr>
              <a:t>it </a:t>
            </a:r>
            <a:r>
              <a:rPr dirty="0" spc="80"/>
              <a:t>—</a:t>
            </a:r>
            <a:r>
              <a:rPr dirty="0" spc="-15"/>
              <a:t> </a:t>
            </a:r>
            <a:r>
              <a:rPr dirty="0"/>
              <a:t>Each</a:t>
            </a:r>
            <a:r>
              <a:rPr dirty="0" spc="-15"/>
              <a:t> </a:t>
            </a:r>
            <a:r>
              <a:rPr dirty="0" spc="-35"/>
              <a:t>shipment</a:t>
            </a:r>
            <a:r>
              <a:rPr dirty="0" spc="-20"/>
              <a:t> </a:t>
            </a:r>
            <a:r>
              <a:rPr dirty="0" spc="-40"/>
              <a:t>gets</a:t>
            </a:r>
            <a:r>
              <a:rPr dirty="0" spc="-20"/>
              <a:t> </a:t>
            </a:r>
            <a:r>
              <a:rPr dirty="0" spc="-50"/>
              <a:t>a </a:t>
            </a:r>
            <a:r>
              <a:rPr dirty="0"/>
              <a:t>QR</a:t>
            </a:r>
            <a:r>
              <a:rPr dirty="0" spc="-30"/>
              <a:t> </a:t>
            </a:r>
            <a:r>
              <a:rPr dirty="0" spc="-25"/>
              <a:t>code </a:t>
            </a:r>
            <a:r>
              <a:rPr dirty="0" spc="-10"/>
              <a:t>linking</a:t>
            </a:r>
            <a:r>
              <a:rPr dirty="0" spc="-20"/>
              <a:t> </a:t>
            </a:r>
            <a:r>
              <a:rPr dirty="0"/>
              <a:t>to</a:t>
            </a:r>
            <a:r>
              <a:rPr dirty="0" spc="-30"/>
              <a:t> </a:t>
            </a:r>
            <a:r>
              <a:rPr dirty="0"/>
              <a:t>a</a:t>
            </a:r>
            <a:r>
              <a:rPr dirty="0" spc="-25"/>
              <a:t> </a:t>
            </a:r>
            <a:r>
              <a:rPr dirty="0" spc="-10"/>
              <a:t>public</a:t>
            </a:r>
            <a:r>
              <a:rPr dirty="0" spc="-25"/>
              <a:t> </a:t>
            </a:r>
            <a:r>
              <a:rPr dirty="0" spc="-55"/>
              <a:t>page</a:t>
            </a:r>
            <a:r>
              <a:rPr dirty="0" spc="-25"/>
              <a:t> </a:t>
            </a:r>
            <a:r>
              <a:rPr dirty="0"/>
              <a:t>with</a:t>
            </a:r>
            <a:r>
              <a:rPr dirty="0" spc="-20"/>
              <a:t> </a:t>
            </a:r>
            <a:r>
              <a:rPr dirty="0" spc="-25"/>
              <a:t>map, </a:t>
            </a:r>
            <a:r>
              <a:rPr dirty="0" spc="-20"/>
              <a:t>timeline</a:t>
            </a:r>
            <a:r>
              <a:rPr dirty="0" spc="-5"/>
              <a:t> </a:t>
            </a:r>
            <a:r>
              <a:rPr dirty="0" spc="70"/>
              <a:t>&amp;</a:t>
            </a:r>
            <a:r>
              <a:rPr dirty="0" spc="5"/>
              <a:t> </a:t>
            </a:r>
            <a:r>
              <a:rPr dirty="0" spc="-45"/>
              <a:t>farmer</a:t>
            </a:r>
            <a:r>
              <a:rPr dirty="0" spc="5"/>
              <a:t> </a:t>
            </a:r>
            <a:r>
              <a:rPr dirty="0" spc="-20"/>
              <a:t>info</a:t>
            </a: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84873" y="1157969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409117" y="1145049"/>
            <a:ext cx="66040" cy="116839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600" spc="-50">
                <a:solidFill>
                  <a:srgbClr val="FFFFFF"/>
                </a:solidFill>
                <a:latin typeface="Arial MT"/>
                <a:cs typeface="Arial MT"/>
              </a:rPr>
              <a:t>2</a:t>
            </a:r>
            <a:endParaRPr sz="600">
              <a:latin typeface="Arial MT"/>
              <a:cs typeface="Arial MT"/>
            </a:endParaRPr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84873" y="1676726"/>
            <a:ext cx="114214" cy="11421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409117" y="1663793"/>
            <a:ext cx="66040" cy="116839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600" spc="-50">
                <a:solidFill>
                  <a:srgbClr val="FFFFFF"/>
                </a:solidFill>
                <a:latin typeface="Arial MT"/>
                <a:cs typeface="Arial MT"/>
              </a:rPr>
              <a:t>3</a:t>
            </a:r>
            <a:endParaRPr sz="600">
              <a:latin typeface="Arial MT"/>
              <a:cs typeface="Arial MT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84873" y="2195483"/>
            <a:ext cx="114214" cy="114214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409117" y="2182550"/>
            <a:ext cx="66040" cy="116839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600" spc="-50">
                <a:solidFill>
                  <a:srgbClr val="FFFFFF"/>
                </a:solidFill>
                <a:latin typeface="Arial MT"/>
                <a:cs typeface="Arial MT"/>
              </a:rPr>
              <a:t>4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77698" y="2731933"/>
            <a:ext cx="2561590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Data</a:t>
            </a:r>
            <a:r>
              <a:rPr dirty="0" sz="800" spc="5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flows</a:t>
            </a:r>
            <a:r>
              <a:rPr dirty="0" sz="800" spc="5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in</a:t>
            </a:r>
            <a:r>
              <a:rPr dirty="0" sz="800" spc="5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→</a:t>
            </a:r>
            <a:r>
              <a:rPr dirty="0" sz="800" spc="5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validation</a:t>
            </a:r>
            <a:r>
              <a:rPr dirty="0" sz="800" spc="5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→</a:t>
            </a:r>
            <a:r>
              <a:rPr dirty="0" sz="800" spc="5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spc="-20" i="1">
                <a:solidFill>
                  <a:srgbClr val="333333"/>
                </a:solidFill>
                <a:latin typeface="Arial"/>
                <a:cs typeface="Arial"/>
              </a:rPr>
              <a:t>storage</a:t>
            </a:r>
            <a:r>
              <a:rPr dirty="0" sz="800" spc="5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→</a:t>
            </a:r>
            <a:r>
              <a:rPr dirty="0" sz="800" spc="5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spc="-10" i="1">
                <a:solidFill>
                  <a:srgbClr val="333333"/>
                </a:solidFill>
                <a:latin typeface="Arial"/>
                <a:cs typeface="Arial"/>
              </a:rPr>
              <a:t>visible</a:t>
            </a:r>
            <a:r>
              <a:rPr dirty="0" sz="800" spc="5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via</a:t>
            </a:r>
            <a:r>
              <a:rPr dirty="0" sz="800" spc="5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spc="-25" i="1">
                <a:solidFill>
                  <a:srgbClr val="333333"/>
                </a:solidFill>
                <a:latin typeface="Arial"/>
                <a:cs typeface="Arial"/>
              </a:rPr>
              <a:t>QR.</a:t>
            </a:r>
            <a:endParaRPr sz="800">
              <a:latin typeface="Arial"/>
              <a:cs typeface="Arial"/>
            </a:endParaRPr>
          </a:p>
        </p:txBody>
      </p:sp>
      <p:pic>
        <p:nvPicPr>
          <p:cNvPr id="15" name="object 15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352812" y="518782"/>
            <a:ext cx="158750" cy="114300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3340112" y="436891"/>
            <a:ext cx="1751330" cy="384175"/>
          </a:xfrm>
          <a:prstGeom prst="rect">
            <a:avLst/>
          </a:prstGeom>
        </p:spPr>
        <p:txBody>
          <a:bodyPr wrap="square" lIns="0" tIns="59690" rIns="0" bIns="0" rtlCol="0" vert="horz">
            <a:spAutoFit/>
          </a:bodyPr>
          <a:lstStyle/>
          <a:p>
            <a:pPr marL="217170">
              <a:lnSpc>
                <a:spcPct val="100000"/>
              </a:lnSpc>
              <a:spcBef>
                <a:spcPts val="470"/>
              </a:spcBef>
            </a:pPr>
            <a:r>
              <a:rPr dirty="0" sz="1000" spc="-25" b="1">
                <a:solidFill>
                  <a:srgbClr val="333333"/>
                </a:solidFill>
                <a:latin typeface="Tahoma"/>
                <a:cs typeface="Tahoma"/>
              </a:rPr>
              <a:t>Non-</a:t>
            </a:r>
            <a:r>
              <a:rPr dirty="0" sz="1000" spc="-60" b="1">
                <a:solidFill>
                  <a:srgbClr val="333333"/>
                </a:solidFill>
                <a:latin typeface="Tahoma"/>
                <a:cs typeface="Tahoma"/>
              </a:rPr>
              <a:t>Technical</a:t>
            </a:r>
            <a:r>
              <a:rPr dirty="0" sz="1000" spc="-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10" b="1">
                <a:solidFill>
                  <a:srgbClr val="333333"/>
                </a:solidFill>
                <a:latin typeface="Tahoma"/>
                <a:cs typeface="Tahoma"/>
              </a:rPr>
              <a:t>Data</a:t>
            </a:r>
            <a:r>
              <a:rPr dirty="0" sz="100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25" b="1">
                <a:solidFill>
                  <a:srgbClr val="333333"/>
                </a:solidFill>
                <a:latin typeface="Tahoma"/>
                <a:cs typeface="Tahoma"/>
              </a:rPr>
              <a:t>Entry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Designed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for</a:t>
            </a:r>
            <a:r>
              <a:rPr dirty="0" sz="800" spc="3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non-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technical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users: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3302012" y="934287"/>
            <a:ext cx="2218690" cy="205740"/>
            <a:chOff x="3302012" y="934287"/>
            <a:chExt cx="2218690" cy="205740"/>
          </a:xfrm>
        </p:grpSpPr>
        <p:sp>
          <p:nvSpPr>
            <p:cNvPr id="18" name="object 18"/>
            <p:cNvSpPr/>
            <p:nvPr/>
          </p:nvSpPr>
          <p:spPr>
            <a:xfrm>
              <a:off x="3302012" y="934287"/>
              <a:ext cx="2218690" cy="205740"/>
            </a:xfrm>
            <a:custGeom>
              <a:avLst/>
              <a:gdLst/>
              <a:ahLst/>
              <a:cxnLst/>
              <a:rect l="l" t="t" r="r" b="b"/>
              <a:pathLst>
                <a:path w="2218690" h="205740">
                  <a:moveTo>
                    <a:pt x="2167618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5444"/>
                  </a:lnTo>
                  <a:lnTo>
                    <a:pt x="2218419" y="205444"/>
                  </a:lnTo>
                  <a:lnTo>
                    <a:pt x="2218419" y="50800"/>
                  </a:lnTo>
                  <a:lnTo>
                    <a:pt x="2214410" y="31075"/>
                  </a:lnTo>
                  <a:lnTo>
                    <a:pt x="2203496" y="14922"/>
                  </a:lnTo>
                  <a:lnTo>
                    <a:pt x="2187343" y="4008"/>
                  </a:lnTo>
                  <a:lnTo>
                    <a:pt x="2167618" y="0"/>
                  </a:lnTo>
                  <a:close/>
                </a:path>
              </a:pathLst>
            </a:custGeom>
            <a:solidFill>
              <a:srgbClr val="2D5A4A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352812" y="971626"/>
              <a:ext cx="133350" cy="133350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3522461" y="930920"/>
            <a:ext cx="671830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spc="-55">
                <a:solidFill>
                  <a:srgbClr val="FFFFFF"/>
                </a:solidFill>
                <a:latin typeface="Tahoma"/>
                <a:cs typeface="Tahoma"/>
              </a:rPr>
              <a:t>Web</a:t>
            </a:r>
            <a:r>
              <a:rPr dirty="0" sz="1200" spc="-4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200" spc="-45">
                <a:solidFill>
                  <a:srgbClr val="FFFFFF"/>
                </a:solidFill>
                <a:latin typeface="Tahoma"/>
                <a:cs typeface="Tahoma"/>
              </a:rPr>
              <a:t>Form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302012" y="1127086"/>
            <a:ext cx="2218690" cy="154940"/>
            <a:chOff x="3302012" y="1127086"/>
            <a:chExt cx="2218690" cy="154940"/>
          </a:xfrm>
        </p:grpSpPr>
        <p:pic>
          <p:nvPicPr>
            <p:cNvPr id="22" name="object 2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302012" y="1127086"/>
              <a:ext cx="2218419" cy="50609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495357" y="1216736"/>
              <a:ext cx="65265" cy="6526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3617201" y="1145316"/>
            <a:ext cx="1842135" cy="51943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dirty="0" sz="1000" spc="-20">
                <a:solidFill>
                  <a:srgbClr val="333333"/>
                </a:solidFill>
                <a:latin typeface="Tahoma"/>
                <a:cs typeface="Tahoma"/>
              </a:rPr>
              <a:t>One</a:t>
            </a:r>
            <a:r>
              <a:rPr dirty="0" sz="1000" spc="-5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35">
                <a:solidFill>
                  <a:srgbClr val="333333"/>
                </a:solidFill>
                <a:latin typeface="Tahoma"/>
                <a:cs typeface="Tahoma"/>
              </a:rPr>
              <a:t>shipment</a:t>
            </a:r>
            <a:r>
              <a:rPr dirty="0" sz="1000" spc="-4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>
                <a:solidFill>
                  <a:srgbClr val="333333"/>
                </a:solidFill>
                <a:latin typeface="Tahoma"/>
                <a:cs typeface="Tahoma"/>
              </a:rPr>
              <a:t>at</a:t>
            </a:r>
            <a:r>
              <a:rPr dirty="0" sz="1000" spc="-45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>
                <a:solidFill>
                  <a:srgbClr val="333333"/>
                </a:solidFill>
                <a:latin typeface="Tahoma"/>
                <a:cs typeface="Tahoma"/>
              </a:rPr>
              <a:t>a</a:t>
            </a:r>
            <a:r>
              <a:rPr dirty="0" sz="1000" spc="-45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>
                <a:solidFill>
                  <a:srgbClr val="333333"/>
                </a:solidFill>
                <a:latin typeface="Tahoma"/>
                <a:cs typeface="Tahoma"/>
              </a:rPr>
              <a:t>time</a:t>
            </a:r>
            <a:r>
              <a:rPr dirty="0" sz="1000" spc="-45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>
                <a:solidFill>
                  <a:srgbClr val="333333"/>
                </a:solidFill>
                <a:latin typeface="Tahoma"/>
                <a:cs typeface="Tahoma"/>
              </a:rPr>
              <a:t>via</a:t>
            </a:r>
            <a:r>
              <a:rPr dirty="0" sz="1000" spc="-45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30">
                <a:solidFill>
                  <a:srgbClr val="333333"/>
                </a:solidFill>
                <a:latin typeface="Tahoma"/>
                <a:cs typeface="Tahoma"/>
              </a:rPr>
              <a:t>admin </a:t>
            </a:r>
            <a:r>
              <a:rPr dirty="0" sz="1000" spc="-10">
                <a:solidFill>
                  <a:srgbClr val="333333"/>
                </a:solidFill>
                <a:latin typeface="Tahoma"/>
                <a:cs typeface="Tahoma"/>
              </a:rPr>
              <a:t>dashboard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290"/>
              </a:spcBef>
            </a:pPr>
            <a:r>
              <a:rPr dirty="0" sz="1000">
                <a:solidFill>
                  <a:srgbClr val="333333"/>
                </a:solidFill>
                <a:latin typeface="Tahoma"/>
                <a:cs typeface="Tahoma"/>
              </a:rPr>
              <a:t>No</a:t>
            </a:r>
            <a:r>
              <a:rPr dirty="0" sz="1000" spc="-1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20">
                <a:solidFill>
                  <a:srgbClr val="333333"/>
                </a:solidFill>
                <a:latin typeface="Tahoma"/>
                <a:cs typeface="Tahoma"/>
              </a:rPr>
              <a:t>coding</a:t>
            </a:r>
            <a:r>
              <a:rPr dirty="0" sz="1000" spc="-10">
                <a:solidFill>
                  <a:srgbClr val="333333"/>
                </a:solidFill>
                <a:latin typeface="Tahoma"/>
                <a:cs typeface="Tahoma"/>
              </a:rPr>
              <a:t> needed</a:t>
            </a:r>
            <a:endParaRPr sz="1000">
              <a:latin typeface="Tahoma"/>
              <a:cs typeface="Tahoma"/>
            </a:endParaRPr>
          </a:p>
        </p:txBody>
      </p:sp>
      <p:pic>
        <p:nvPicPr>
          <p:cNvPr id="25" name="object 25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495357" y="1558366"/>
            <a:ext cx="65265" cy="65265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3302012" y="1783752"/>
            <a:ext cx="2218690" cy="234315"/>
            <a:chOff x="3302012" y="1783752"/>
            <a:chExt cx="2218690" cy="234315"/>
          </a:xfrm>
        </p:grpSpPr>
        <p:sp>
          <p:nvSpPr>
            <p:cNvPr id="27" name="object 27"/>
            <p:cNvSpPr/>
            <p:nvPr/>
          </p:nvSpPr>
          <p:spPr>
            <a:xfrm>
              <a:off x="3302012" y="1783752"/>
              <a:ext cx="2218690" cy="234315"/>
            </a:xfrm>
            <a:custGeom>
              <a:avLst/>
              <a:gdLst/>
              <a:ahLst/>
              <a:cxnLst/>
              <a:rect l="l" t="t" r="r" b="b"/>
              <a:pathLst>
                <a:path w="2218690" h="234314">
                  <a:moveTo>
                    <a:pt x="2167618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34217"/>
                  </a:lnTo>
                  <a:lnTo>
                    <a:pt x="2218419" y="234217"/>
                  </a:lnTo>
                  <a:lnTo>
                    <a:pt x="2218419" y="50800"/>
                  </a:lnTo>
                  <a:lnTo>
                    <a:pt x="2214410" y="31075"/>
                  </a:lnTo>
                  <a:lnTo>
                    <a:pt x="2203496" y="14922"/>
                  </a:lnTo>
                  <a:lnTo>
                    <a:pt x="2187343" y="4008"/>
                  </a:lnTo>
                  <a:lnTo>
                    <a:pt x="2167618" y="0"/>
                  </a:lnTo>
                  <a:close/>
                </a:path>
              </a:pathLst>
            </a:custGeom>
            <a:solidFill>
              <a:srgbClr val="2D5A4A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8" name="object 2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352812" y="1821357"/>
              <a:ext cx="114300" cy="152400"/>
            </a:xfrm>
            <a:prstGeom prst="rect">
              <a:avLst/>
            </a:prstGeom>
          </p:spPr>
        </p:pic>
      </p:grpSp>
      <p:sp>
        <p:nvSpPr>
          <p:cNvPr id="29" name="object 29"/>
          <p:cNvSpPr txBox="1"/>
          <p:nvPr/>
        </p:nvSpPr>
        <p:spPr>
          <a:xfrm>
            <a:off x="3503483" y="1790176"/>
            <a:ext cx="118300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>
                <a:solidFill>
                  <a:srgbClr val="FFFFFF"/>
                </a:solidFill>
                <a:latin typeface="Tahoma"/>
                <a:cs typeface="Tahoma"/>
              </a:rPr>
              <a:t>CSV/Excel</a:t>
            </a:r>
            <a:r>
              <a:rPr dirty="0" sz="1200" spc="1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200" spc="-40">
                <a:solidFill>
                  <a:srgbClr val="FFFFFF"/>
                </a:solidFill>
                <a:latin typeface="Tahoma"/>
                <a:cs typeface="Tahoma"/>
              </a:rPr>
              <a:t>Upload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3302012" y="2005317"/>
            <a:ext cx="2218690" cy="154940"/>
            <a:chOff x="3302012" y="2005317"/>
            <a:chExt cx="2218690" cy="154940"/>
          </a:xfrm>
        </p:grpSpPr>
        <p:pic>
          <p:nvPicPr>
            <p:cNvPr id="31" name="object 31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302012" y="2005317"/>
              <a:ext cx="2218419" cy="50609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495357" y="2094979"/>
              <a:ext cx="65265" cy="65265"/>
            </a:xfrm>
            <a:prstGeom prst="rect">
              <a:avLst/>
            </a:prstGeom>
          </p:spPr>
        </p:pic>
      </p:grpSp>
      <p:pic>
        <p:nvPicPr>
          <p:cNvPr id="33" name="object 33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3495357" y="2284768"/>
            <a:ext cx="65265" cy="65265"/>
          </a:xfrm>
          <a:prstGeom prst="rect">
            <a:avLst/>
          </a:prstGeom>
        </p:spPr>
      </p:pic>
      <p:sp>
        <p:nvSpPr>
          <p:cNvPr id="34" name="object 34"/>
          <p:cNvSpPr txBox="1"/>
          <p:nvPr/>
        </p:nvSpPr>
        <p:spPr>
          <a:xfrm>
            <a:off x="3340112" y="1985588"/>
            <a:ext cx="1953895" cy="108902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89560" marR="228600">
              <a:lnSpc>
                <a:spcPct val="124500"/>
              </a:lnSpc>
              <a:spcBef>
                <a:spcPts val="100"/>
              </a:spcBef>
            </a:pPr>
            <a:r>
              <a:rPr dirty="0" sz="1000" spc="-40">
                <a:solidFill>
                  <a:srgbClr val="333333"/>
                </a:solidFill>
                <a:latin typeface="Tahoma"/>
                <a:cs typeface="Tahoma"/>
              </a:rPr>
              <a:t>Drag-</a:t>
            </a:r>
            <a:r>
              <a:rPr dirty="0" sz="1000" spc="-35">
                <a:solidFill>
                  <a:srgbClr val="333333"/>
                </a:solidFill>
                <a:latin typeface="Tahoma"/>
                <a:cs typeface="Tahoma"/>
              </a:rPr>
              <a:t>and-</a:t>
            </a:r>
            <a:r>
              <a:rPr dirty="0" sz="1000" spc="-20">
                <a:solidFill>
                  <a:srgbClr val="333333"/>
                </a:solidFill>
                <a:latin typeface="Tahoma"/>
                <a:cs typeface="Tahoma"/>
              </a:rPr>
              <a:t>drop</a:t>
            </a:r>
            <a:r>
              <a:rPr dirty="0" sz="1000" spc="-45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>
                <a:solidFill>
                  <a:srgbClr val="333333"/>
                </a:solidFill>
                <a:latin typeface="Tahoma"/>
                <a:cs typeface="Tahoma"/>
              </a:rPr>
              <a:t>bulk</a:t>
            </a:r>
            <a:r>
              <a:rPr dirty="0" sz="1000" spc="-45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20">
                <a:solidFill>
                  <a:srgbClr val="333333"/>
                </a:solidFill>
                <a:latin typeface="Tahoma"/>
                <a:cs typeface="Tahoma"/>
              </a:rPr>
              <a:t>import </a:t>
            </a:r>
            <a:r>
              <a:rPr dirty="0" sz="1000" spc="-30">
                <a:solidFill>
                  <a:srgbClr val="333333"/>
                </a:solidFill>
                <a:latin typeface="Tahoma"/>
                <a:cs typeface="Tahoma"/>
              </a:rPr>
              <a:t>Auto-</a:t>
            </a:r>
            <a:r>
              <a:rPr dirty="0" sz="1000" spc="-20">
                <a:solidFill>
                  <a:srgbClr val="333333"/>
                </a:solidFill>
                <a:latin typeface="Tahoma"/>
                <a:cs typeface="Tahoma"/>
              </a:rPr>
              <a:t>validates</a:t>
            </a:r>
            <a:r>
              <a:rPr dirty="0" sz="1000" spc="15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55">
                <a:solidFill>
                  <a:srgbClr val="333333"/>
                </a:solidFill>
                <a:latin typeface="Tahoma"/>
                <a:cs typeface="Tahoma"/>
              </a:rPr>
              <a:t>every</a:t>
            </a:r>
            <a:r>
              <a:rPr dirty="0" sz="1000" spc="2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000" spc="-25">
                <a:solidFill>
                  <a:srgbClr val="333333"/>
                </a:solidFill>
                <a:latin typeface="Tahoma"/>
                <a:cs typeface="Tahoma"/>
              </a:rPr>
              <a:t>row</a:t>
            </a:r>
            <a:endParaRPr sz="1000">
              <a:latin typeface="Tahoma"/>
              <a:cs typeface="Tahoma"/>
            </a:endParaRPr>
          </a:p>
          <a:p>
            <a:pPr marL="12700" marR="270510">
              <a:lnSpc>
                <a:spcPct val="124500"/>
              </a:lnSpc>
              <a:spcBef>
                <a:spcPts val="405"/>
              </a:spcBef>
            </a:pP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Both</a:t>
            </a:r>
            <a:r>
              <a:rPr dirty="0" sz="800" spc="3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spc="-20" i="1">
                <a:solidFill>
                  <a:srgbClr val="333333"/>
                </a:solidFill>
                <a:latin typeface="Arial"/>
                <a:cs typeface="Arial"/>
              </a:rPr>
              <a:t>feed</a:t>
            </a:r>
            <a:r>
              <a:rPr dirty="0" sz="800" spc="3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the</a:t>
            </a:r>
            <a:r>
              <a:rPr dirty="0" sz="800" spc="3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spc="-30" i="1">
                <a:solidFill>
                  <a:srgbClr val="333333"/>
                </a:solidFill>
                <a:latin typeface="Arial"/>
                <a:cs typeface="Arial"/>
              </a:rPr>
              <a:t>same</a:t>
            </a:r>
            <a:r>
              <a:rPr dirty="0" sz="800" spc="40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pipeline</a:t>
            </a:r>
            <a:r>
              <a:rPr dirty="0" sz="800" spc="3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—</a:t>
            </a:r>
            <a:r>
              <a:rPr dirty="0" sz="800" spc="3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spc="-50" i="1">
                <a:solidFill>
                  <a:srgbClr val="333333"/>
                </a:solidFill>
                <a:latin typeface="Arial"/>
                <a:cs typeface="Arial"/>
              </a:rPr>
              <a:t>same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 validation,</a:t>
            </a:r>
            <a:r>
              <a:rPr dirty="0" sz="800" spc="20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spc="-30" i="1">
                <a:solidFill>
                  <a:srgbClr val="333333"/>
                </a:solidFill>
                <a:latin typeface="Arial"/>
                <a:cs typeface="Arial"/>
              </a:rPr>
              <a:t>same</a:t>
            </a:r>
            <a:r>
              <a:rPr dirty="0" sz="800" spc="20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spc="-10" i="1">
                <a:solidFill>
                  <a:srgbClr val="333333"/>
                </a:solidFill>
                <a:latin typeface="Arial"/>
                <a:cs typeface="Arial"/>
              </a:rPr>
              <a:t>database.</a:t>
            </a:r>
            <a:endParaRPr sz="800">
              <a:latin typeface="Arial"/>
              <a:cs typeface="Arial"/>
            </a:endParaRPr>
          </a:p>
          <a:p>
            <a:pPr marL="12700" marR="5080">
              <a:lnSpc>
                <a:spcPct val="124500"/>
              </a:lnSpc>
              <a:spcBef>
                <a:spcPts val="200"/>
              </a:spcBef>
            </a:pPr>
            <a:r>
              <a:rPr dirty="0" sz="800" spc="-35" b="1">
                <a:solidFill>
                  <a:srgbClr val="333333"/>
                </a:solidFill>
                <a:latin typeface="Tahoma"/>
                <a:cs typeface="Tahoma"/>
              </a:rPr>
              <a:t>Access:</a:t>
            </a:r>
            <a:r>
              <a:rPr dirty="0" sz="800" spc="7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Admins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manage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data,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public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45">
                <a:solidFill>
                  <a:srgbClr val="333333"/>
                </a:solidFill>
                <a:latin typeface="Arial MT"/>
                <a:cs typeface="Arial MT"/>
              </a:rPr>
              <a:t>users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 view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via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QR.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0" y="3060001"/>
            <a:ext cx="5760085" cy="180340"/>
          </a:xfrm>
          <a:custGeom>
            <a:avLst/>
            <a:gdLst/>
            <a:ahLst/>
            <a:cxnLst/>
            <a:rect l="l" t="t" r="r" b="b"/>
            <a:pathLst>
              <a:path w="5760085" h="180339">
                <a:moveTo>
                  <a:pt x="5759996" y="0"/>
                </a:moveTo>
                <a:lnTo>
                  <a:pt x="0" y="0"/>
                </a:lnTo>
                <a:lnTo>
                  <a:pt x="0" y="179997"/>
                </a:lnTo>
                <a:lnTo>
                  <a:pt x="5759996" y="179997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dirty="0" spc="-25"/>
              <a:t>2</a:t>
            </a:fld>
            <a:r>
              <a:rPr dirty="0" spc="-25"/>
              <a:t>/5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67297" y="154111"/>
            <a:ext cx="2067560" cy="207645"/>
          </a:xfrm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-65"/>
              <a:t>Technology</a:t>
            </a:r>
            <a:r>
              <a:rPr dirty="0" spc="25"/>
              <a:t> </a:t>
            </a:r>
            <a:r>
              <a:rPr dirty="0" spc="-50"/>
              <a:t>Choices</a:t>
            </a:r>
            <a:r>
              <a:rPr dirty="0" spc="30"/>
              <a:t> </a:t>
            </a:r>
            <a:r>
              <a:rPr dirty="0"/>
              <a:t>+</a:t>
            </a:r>
            <a:r>
              <a:rPr dirty="0" spc="30"/>
              <a:t> </a:t>
            </a:r>
            <a:r>
              <a:rPr dirty="0" spc="-50"/>
              <a:t>Bonus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7223" y="533323"/>
            <a:ext cx="146050" cy="142875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290398" y="729995"/>
            <a:ext cx="2536190" cy="0"/>
          </a:xfrm>
          <a:custGeom>
            <a:avLst/>
            <a:gdLst/>
            <a:ahLst/>
            <a:cxnLst/>
            <a:rect l="l" t="t" r="r" b="b"/>
            <a:pathLst>
              <a:path w="2536190" h="0">
                <a:moveTo>
                  <a:pt x="0" y="0"/>
                </a:moveTo>
                <a:lnTo>
                  <a:pt x="2535656" y="0"/>
                </a:lnTo>
              </a:path>
            </a:pathLst>
          </a:custGeom>
          <a:ln w="11087">
            <a:solidFill>
              <a:srgbClr val="333333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353618" y="505903"/>
            <a:ext cx="1362710" cy="3873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5730">
              <a:lnSpc>
                <a:spcPct val="100000"/>
              </a:lnSpc>
              <a:spcBef>
                <a:spcPts val="90"/>
              </a:spcBef>
            </a:pPr>
            <a:r>
              <a:rPr dirty="0" sz="1100" spc="-25" b="1">
                <a:solidFill>
                  <a:srgbClr val="333333"/>
                </a:solidFill>
                <a:latin typeface="Tahoma"/>
                <a:cs typeface="Tahoma"/>
              </a:rPr>
              <a:t>Tech</a:t>
            </a:r>
            <a:r>
              <a:rPr dirty="0" sz="1100" spc="1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100" spc="-35" b="1">
                <a:solidFill>
                  <a:srgbClr val="333333"/>
                </a:solidFill>
                <a:latin typeface="Tahoma"/>
                <a:cs typeface="Tahoma"/>
              </a:rPr>
              <a:t>Stack</a:t>
            </a:r>
            <a:r>
              <a:rPr dirty="0" sz="1100" spc="1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100" b="1">
                <a:solidFill>
                  <a:srgbClr val="333333"/>
                </a:solidFill>
                <a:latin typeface="Tahoma"/>
                <a:cs typeface="Tahoma"/>
              </a:rPr>
              <a:t>&amp;</a:t>
            </a:r>
            <a:r>
              <a:rPr dirty="0" sz="1100" spc="1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100" spc="-25" b="1">
                <a:solidFill>
                  <a:srgbClr val="333333"/>
                </a:solidFill>
                <a:latin typeface="Tahoma"/>
                <a:cs typeface="Tahoma"/>
              </a:rPr>
              <a:t>Why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75"/>
              </a:spcBef>
            </a:pPr>
            <a:r>
              <a:rPr dirty="0" sz="800" spc="-20" b="1">
                <a:solidFill>
                  <a:srgbClr val="333333"/>
                </a:solidFill>
                <a:latin typeface="Tahoma"/>
                <a:cs typeface="Tahoma"/>
              </a:rPr>
              <a:t>Component</a:t>
            </a:r>
            <a:r>
              <a:rPr dirty="0" sz="800" spc="140" b="1">
                <a:solidFill>
                  <a:srgbClr val="333333"/>
                </a:solidFill>
                <a:latin typeface="Tahoma"/>
                <a:cs typeface="Tahoma"/>
              </a:rPr>
              <a:t>  </a:t>
            </a:r>
            <a:r>
              <a:rPr dirty="0" sz="800" spc="-35" b="1">
                <a:solidFill>
                  <a:srgbClr val="333333"/>
                </a:solidFill>
                <a:latin typeface="Tahoma"/>
                <a:cs typeface="Tahoma"/>
              </a:rPr>
              <a:t>Choice</a:t>
            </a:r>
            <a:r>
              <a:rPr dirty="0" sz="800" b="1">
                <a:solidFill>
                  <a:srgbClr val="333333"/>
                </a:solidFill>
                <a:latin typeface="Tahoma"/>
                <a:cs typeface="Tahoma"/>
              </a:rPr>
              <a:t> &amp;</a:t>
            </a:r>
            <a:r>
              <a:rPr dirty="0" sz="800" spc="-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25" b="1">
                <a:solidFill>
                  <a:srgbClr val="333333"/>
                </a:solidFill>
                <a:latin typeface="Tahoma"/>
                <a:cs typeface="Tahoma"/>
              </a:rPr>
              <a:t>Why</a:t>
            </a:r>
            <a:endParaRPr sz="8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290398" y="923848"/>
            <a:ext cx="2536190" cy="0"/>
          </a:xfrm>
          <a:custGeom>
            <a:avLst/>
            <a:gdLst/>
            <a:ahLst/>
            <a:cxnLst/>
            <a:rect l="l" t="t" r="r" b="b"/>
            <a:pathLst>
              <a:path w="2536190" h="0">
                <a:moveTo>
                  <a:pt x="0" y="0"/>
                </a:moveTo>
                <a:lnTo>
                  <a:pt x="2535656" y="0"/>
                </a:lnTo>
              </a:path>
            </a:pathLst>
          </a:custGeom>
          <a:ln w="6921">
            <a:solidFill>
              <a:srgbClr val="333333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353618" y="937550"/>
            <a:ext cx="240982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68020" algn="l"/>
              </a:tabLst>
            </a:pPr>
            <a:r>
              <a:rPr dirty="0" sz="800" spc="-10" b="1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r>
              <a:rPr dirty="0" sz="800" b="1">
                <a:solidFill>
                  <a:srgbClr val="333333"/>
                </a:solidFill>
                <a:latin typeface="Tahoma"/>
                <a:cs typeface="Tahoma"/>
              </a:rPr>
              <a:t>	GCP</a:t>
            </a:r>
            <a:r>
              <a:rPr dirty="0" sz="800" spc="245" b="1">
                <a:solidFill>
                  <a:srgbClr val="333333"/>
                </a:solidFill>
                <a:latin typeface="Tahoma"/>
                <a:cs typeface="Tahoma"/>
              </a:rPr>
              <a:t> 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265">
                <a:solidFill>
                  <a:srgbClr val="333333"/>
                </a:solidFill>
                <a:latin typeface="Arial MT"/>
                <a:cs typeface="Arial MT"/>
              </a:rPr>
              <a:t> 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London</a:t>
            </a:r>
            <a:r>
              <a:rPr dirty="0" sz="800" spc="265">
                <a:solidFill>
                  <a:srgbClr val="333333"/>
                </a:solidFill>
                <a:latin typeface="Arial MT"/>
                <a:cs typeface="Arial MT"/>
              </a:rPr>
              <a:t> 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(europe-west2),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09446" y="1057756"/>
            <a:ext cx="1753235" cy="2673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 marR="5080">
              <a:lnSpc>
                <a:spcPts val="950"/>
              </a:lnSpc>
              <a:spcBef>
                <a:spcPts val="135"/>
              </a:spcBef>
              <a:tabLst>
                <a:tab pos="969010" algn="l"/>
                <a:tab pos="1414145" algn="l"/>
              </a:tabLst>
            </a:pP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GDPR-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compliant,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	</a:t>
            </a:r>
            <a:r>
              <a:rPr dirty="0" sz="800" spc="-20" b="1">
                <a:solidFill>
                  <a:srgbClr val="2D5A4A"/>
                </a:solidFill>
                <a:latin typeface="Microsoft Tai Le"/>
                <a:cs typeface="Microsoft Tai Le"/>
              </a:rPr>
              <a:t>$</a:t>
            </a:r>
            <a:r>
              <a:rPr dirty="0" sz="800" spc="-20" b="1">
                <a:solidFill>
                  <a:srgbClr val="2D5A4A"/>
                </a:solidFill>
                <a:latin typeface="Tahoma"/>
                <a:cs typeface="Tahoma"/>
              </a:rPr>
              <a:t>200K</a:t>
            </a:r>
            <a:r>
              <a:rPr dirty="0" sz="800" b="1">
                <a:solidFill>
                  <a:srgbClr val="2D5A4A"/>
                </a:solidFill>
                <a:latin typeface="Tahoma"/>
                <a:cs typeface="Tahoma"/>
              </a:rPr>
              <a:t>	</a:t>
            </a:r>
            <a:r>
              <a:rPr dirty="0" sz="800" spc="-65" b="1">
                <a:solidFill>
                  <a:srgbClr val="2D5A4A"/>
                </a:solidFill>
                <a:latin typeface="Tahoma"/>
                <a:cs typeface="Tahoma"/>
              </a:rPr>
              <a:t>startup</a:t>
            </a:r>
            <a:r>
              <a:rPr dirty="0" sz="800" spc="500" b="1">
                <a:solidFill>
                  <a:srgbClr val="2D5A4A"/>
                </a:solidFill>
                <a:latin typeface="Tahoma"/>
                <a:cs typeface="Tahoma"/>
              </a:rPr>
              <a:t> </a:t>
            </a:r>
            <a:r>
              <a:rPr dirty="0" sz="800" spc="-40" b="1">
                <a:solidFill>
                  <a:srgbClr val="2D5A4A"/>
                </a:solidFill>
                <a:latin typeface="Tahoma"/>
                <a:cs typeface="Tahoma"/>
              </a:rPr>
              <a:t>credits</a:t>
            </a:r>
            <a:r>
              <a:rPr dirty="0" sz="800" spc="-40">
                <a:solidFill>
                  <a:srgbClr val="333333"/>
                </a:solidFill>
                <a:latin typeface="Arial MT"/>
                <a:cs typeface="Arial MT"/>
              </a:rPr>
              <a:t>,</a:t>
            </a:r>
            <a:r>
              <a:rPr dirty="0" sz="800" spc="4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35">
                <a:solidFill>
                  <a:srgbClr val="333333"/>
                </a:solidFill>
                <a:latin typeface="Arial MT"/>
                <a:cs typeface="Arial MT"/>
              </a:rPr>
              <a:t>scales</a:t>
            </a:r>
            <a:r>
              <a:rPr dirty="0" sz="800" spc="4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to</a:t>
            </a:r>
            <a:r>
              <a:rPr dirty="0" sz="800" spc="4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zero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3618" y="1298154"/>
            <a:ext cx="41846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40" b="1">
                <a:solidFill>
                  <a:srgbClr val="333333"/>
                </a:solidFill>
                <a:latin typeface="Tahoma"/>
                <a:cs typeface="Tahoma"/>
              </a:rPr>
              <a:t>Backend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09232" y="1298154"/>
            <a:ext cx="1753870" cy="171005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 marR="5080">
              <a:lnSpc>
                <a:spcPts val="950"/>
              </a:lnSpc>
              <a:spcBef>
                <a:spcPts val="135"/>
              </a:spcBef>
            </a:pPr>
            <a:r>
              <a:rPr dirty="0" sz="800" spc="-50" b="1">
                <a:solidFill>
                  <a:srgbClr val="333333"/>
                </a:solidFill>
                <a:latin typeface="Tahoma"/>
                <a:cs typeface="Tahoma"/>
              </a:rPr>
              <a:t>Python</a:t>
            </a:r>
            <a:r>
              <a:rPr dirty="0" sz="800" spc="-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333333"/>
                </a:solidFill>
                <a:latin typeface="Tahoma"/>
                <a:cs typeface="Tahoma"/>
              </a:rPr>
              <a:t>+</a:t>
            </a:r>
            <a:r>
              <a:rPr dirty="0" sz="800" spc="-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333333"/>
                </a:solidFill>
                <a:latin typeface="Tahoma"/>
                <a:cs typeface="Tahoma"/>
              </a:rPr>
              <a:t>REST </a:t>
            </a:r>
            <a:r>
              <a:rPr dirty="0" sz="800" spc="-10" b="1">
                <a:solidFill>
                  <a:srgbClr val="333333"/>
                </a:solidFill>
                <a:latin typeface="Tahoma"/>
                <a:cs typeface="Tahoma"/>
              </a:rPr>
              <a:t>API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on</a:t>
            </a:r>
            <a:r>
              <a:rPr dirty="0" sz="800" spc="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Cloud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Run</a:t>
            </a:r>
            <a:r>
              <a:rPr dirty="0" sz="800" spc="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5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 simple,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widely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known,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35">
                <a:solidFill>
                  <a:srgbClr val="333333"/>
                </a:solidFill>
                <a:latin typeface="Arial MT"/>
                <a:cs typeface="Arial MT"/>
              </a:rPr>
              <a:t>easy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to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hire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for</a:t>
            </a:r>
            <a:r>
              <a:rPr dirty="0" sz="800" spc="50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40" b="1">
                <a:solidFill>
                  <a:srgbClr val="333333"/>
                </a:solidFill>
                <a:latin typeface="Tahoma"/>
                <a:cs typeface="Tahoma"/>
              </a:rPr>
              <a:t>Next.js</a:t>
            </a:r>
            <a:r>
              <a:rPr dirty="0" sz="800" spc="-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35">
                <a:solidFill>
                  <a:srgbClr val="333333"/>
                </a:solidFill>
                <a:latin typeface="Arial MT"/>
                <a:cs typeface="Arial MT"/>
              </a:rPr>
              <a:t>server-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side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rendering</a:t>
            </a:r>
            <a:r>
              <a:rPr dirty="0" sz="800" spc="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so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QR</a:t>
            </a:r>
            <a:r>
              <a:rPr dirty="0" sz="800" spc="50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35">
                <a:solidFill>
                  <a:srgbClr val="333333"/>
                </a:solidFill>
                <a:latin typeface="Arial MT"/>
                <a:cs typeface="Arial MT"/>
              </a:rPr>
              <a:t>pages</a:t>
            </a:r>
            <a:r>
              <a:rPr dirty="0" sz="800" spc="-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load</a:t>
            </a:r>
            <a:r>
              <a:rPr dirty="0" sz="800" spc="-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instantly</a:t>
            </a:r>
            <a:endParaRPr sz="800">
              <a:latin typeface="Arial MT"/>
              <a:cs typeface="Arial MT"/>
            </a:endParaRPr>
          </a:p>
          <a:p>
            <a:pPr marL="12700">
              <a:lnSpc>
                <a:spcPts val="900"/>
              </a:lnSpc>
            </a:pPr>
            <a:r>
              <a:rPr dirty="0" sz="800" spc="-45" b="1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r>
              <a:rPr dirty="0" sz="800" spc="-2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333333"/>
                </a:solidFill>
                <a:latin typeface="Tahoma"/>
                <a:cs typeface="Tahoma"/>
              </a:rPr>
              <a:t>SQL</a:t>
            </a:r>
            <a:r>
              <a:rPr dirty="0" sz="800" spc="-2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55" b="1">
                <a:solidFill>
                  <a:srgbClr val="333333"/>
                </a:solidFill>
                <a:latin typeface="Tahoma"/>
                <a:cs typeface="Tahoma"/>
              </a:rPr>
              <a:t>(Postgres)</a:t>
            </a:r>
            <a:r>
              <a:rPr dirty="0" sz="800" spc="-2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reliable,</a:t>
            </a:r>
            <a:r>
              <a:rPr dirty="0" sz="800" spc="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free-</a:t>
            </a:r>
            <a:endParaRPr sz="800">
              <a:latin typeface="Arial MT"/>
              <a:cs typeface="Arial MT"/>
            </a:endParaRPr>
          </a:p>
          <a:p>
            <a:pPr marL="12700">
              <a:lnSpc>
                <a:spcPts val="944"/>
              </a:lnSpc>
            </a:pP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tier,</a:t>
            </a:r>
            <a:r>
              <a:rPr dirty="0" sz="800" spc="6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30">
                <a:solidFill>
                  <a:srgbClr val="333333"/>
                </a:solidFill>
                <a:latin typeface="Arial MT"/>
                <a:cs typeface="Arial MT"/>
              </a:rPr>
              <a:t>sub-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10ms</a:t>
            </a:r>
            <a:r>
              <a:rPr dirty="0" sz="800" spc="7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reads</a:t>
            </a:r>
            <a:endParaRPr sz="800">
              <a:latin typeface="Arial MT"/>
              <a:cs typeface="Arial MT"/>
            </a:endParaRPr>
          </a:p>
          <a:p>
            <a:pPr marL="12700" marR="5080">
              <a:lnSpc>
                <a:spcPts val="950"/>
              </a:lnSpc>
              <a:spcBef>
                <a:spcPts val="35"/>
              </a:spcBef>
            </a:pPr>
            <a:r>
              <a:rPr dirty="0" sz="800" spc="-10" b="1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r>
              <a:rPr dirty="0" sz="800" spc="14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40" b="1">
                <a:solidFill>
                  <a:srgbClr val="333333"/>
                </a:solidFill>
                <a:latin typeface="Tahoma"/>
                <a:cs typeface="Tahoma"/>
              </a:rPr>
              <a:t>Storage</a:t>
            </a:r>
            <a:r>
              <a:rPr dirty="0" sz="800" spc="13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14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cheap,</a:t>
            </a:r>
            <a:r>
              <a:rPr dirty="0" sz="800" spc="17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immutable backup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of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every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raw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upload</a:t>
            </a:r>
            <a:endParaRPr sz="800">
              <a:latin typeface="Arial MT"/>
              <a:cs typeface="Arial MT"/>
            </a:endParaRPr>
          </a:p>
          <a:p>
            <a:pPr marL="12700">
              <a:lnSpc>
                <a:spcPts val="905"/>
              </a:lnSpc>
            </a:pPr>
            <a:r>
              <a:rPr dirty="0" sz="800" spc="-10" b="1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r>
              <a:rPr dirty="0" sz="800" spc="19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40" b="1">
                <a:solidFill>
                  <a:srgbClr val="333333"/>
                </a:solidFill>
                <a:latin typeface="Tahoma"/>
                <a:cs typeface="Tahoma"/>
              </a:rPr>
              <a:t>Functions</a:t>
            </a:r>
            <a:r>
              <a:rPr dirty="0" sz="800" spc="17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19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runs</a:t>
            </a:r>
            <a:r>
              <a:rPr dirty="0" sz="800" spc="19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only</a:t>
            </a:r>
            <a:r>
              <a:rPr dirty="0" sz="800" spc="19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when</a:t>
            </a:r>
            <a:endParaRPr sz="800">
              <a:latin typeface="Arial MT"/>
              <a:cs typeface="Arial MT"/>
            </a:endParaRPr>
          </a:p>
          <a:p>
            <a:pPr marL="12700">
              <a:lnSpc>
                <a:spcPts val="944"/>
              </a:lnSpc>
            </a:pP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data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arrives,</a:t>
            </a:r>
            <a:r>
              <a:rPr dirty="0" sz="800" spc="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pay</a:t>
            </a:r>
            <a:r>
              <a:rPr dirty="0" sz="800" spc="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per</a:t>
            </a:r>
            <a:r>
              <a:rPr dirty="0" sz="800" spc="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use</a:t>
            </a:r>
            <a:endParaRPr sz="800">
              <a:latin typeface="Arial MT"/>
              <a:cs typeface="Arial MT"/>
            </a:endParaRPr>
          </a:p>
          <a:p>
            <a:pPr marL="12700" marR="5080" indent="-635">
              <a:lnSpc>
                <a:spcPts val="950"/>
              </a:lnSpc>
              <a:spcBef>
                <a:spcPts val="30"/>
              </a:spcBef>
            </a:pPr>
            <a:r>
              <a:rPr dirty="0" sz="800" spc="-50" b="1">
                <a:solidFill>
                  <a:srgbClr val="333333"/>
                </a:solidFill>
                <a:latin typeface="Tahoma"/>
                <a:cs typeface="Tahoma"/>
              </a:rPr>
              <a:t>Terraform</a:t>
            </a:r>
            <a:r>
              <a:rPr dirty="0" sz="800" spc="6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333333"/>
                </a:solidFill>
                <a:latin typeface="Tahoma"/>
                <a:cs typeface="Tahoma"/>
              </a:rPr>
              <a:t>+</a:t>
            </a:r>
            <a:r>
              <a:rPr dirty="0" sz="800" spc="5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20" b="1">
                <a:solidFill>
                  <a:srgbClr val="333333"/>
                </a:solidFill>
                <a:latin typeface="Tahoma"/>
                <a:cs typeface="Tahoma"/>
              </a:rPr>
              <a:t>GitHub</a:t>
            </a:r>
            <a:r>
              <a:rPr dirty="0" sz="800" spc="6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30" b="1">
                <a:solidFill>
                  <a:srgbClr val="333333"/>
                </a:solidFill>
                <a:latin typeface="Tahoma"/>
                <a:cs typeface="Tahoma"/>
              </a:rPr>
              <a:t>Actions</a:t>
            </a:r>
            <a:r>
              <a:rPr dirty="0" sz="800" spc="4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infra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in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code,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auto-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deploy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on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push</a:t>
            </a:r>
            <a:endParaRPr sz="800">
              <a:latin typeface="Arial MT"/>
              <a:cs typeface="Arial MT"/>
            </a:endParaRPr>
          </a:p>
          <a:p>
            <a:pPr marL="12700">
              <a:lnSpc>
                <a:spcPts val="905"/>
              </a:lnSpc>
            </a:pPr>
            <a:r>
              <a:rPr dirty="0" sz="800" spc="-35" b="1">
                <a:solidFill>
                  <a:srgbClr val="333333"/>
                </a:solidFill>
                <a:latin typeface="Tahoma"/>
                <a:cs typeface="Tahoma"/>
              </a:rPr>
              <a:t>Google</a:t>
            </a:r>
            <a:r>
              <a:rPr dirty="0" sz="800" spc="9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333333"/>
                </a:solidFill>
                <a:latin typeface="Tahoma"/>
                <a:cs typeface="Tahoma"/>
              </a:rPr>
              <a:t>Maps</a:t>
            </a:r>
            <a:r>
              <a:rPr dirty="0" sz="800" spc="9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333333"/>
                </a:solidFill>
                <a:latin typeface="Tahoma"/>
                <a:cs typeface="Tahoma"/>
              </a:rPr>
              <a:t>API</a:t>
            </a:r>
            <a:r>
              <a:rPr dirty="0" sz="800" spc="8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10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native</a:t>
            </a:r>
            <a:r>
              <a:rPr dirty="0" sz="800" spc="9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to</a:t>
            </a:r>
            <a:r>
              <a:rPr dirty="0" sz="800" spc="9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GCP,</a:t>
            </a:r>
            <a:endParaRPr sz="800">
              <a:latin typeface="Arial MT"/>
              <a:cs typeface="Arial MT"/>
            </a:endParaRPr>
          </a:p>
          <a:p>
            <a:pPr marL="12700">
              <a:lnSpc>
                <a:spcPts val="955"/>
              </a:lnSpc>
            </a:pPr>
            <a:r>
              <a:rPr dirty="0" sz="800" spc="-30">
                <a:solidFill>
                  <a:srgbClr val="333333"/>
                </a:solidFill>
                <a:latin typeface="Arial MT"/>
                <a:cs typeface="Arial MT"/>
              </a:rPr>
              <a:t>shows</a:t>
            </a:r>
            <a:r>
              <a:rPr dirty="0" sz="800" spc="5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the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farm-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to-cup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journey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53618" y="1538552"/>
            <a:ext cx="440690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 b="1">
                <a:solidFill>
                  <a:srgbClr val="333333"/>
                </a:solidFill>
                <a:latin typeface="Tahoma"/>
                <a:cs typeface="Tahoma"/>
              </a:rPr>
              <a:t>Frontend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53618" y="1778951"/>
            <a:ext cx="457834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45" b="1">
                <a:solidFill>
                  <a:srgbClr val="333333"/>
                </a:solidFill>
                <a:latin typeface="Tahoma"/>
                <a:cs typeface="Tahoma"/>
              </a:rPr>
              <a:t>Database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53618" y="2019349"/>
            <a:ext cx="37909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45" b="1">
                <a:solidFill>
                  <a:srgbClr val="333333"/>
                </a:solidFill>
                <a:latin typeface="Tahoma"/>
                <a:cs typeface="Tahoma"/>
              </a:rPr>
              <a:t>Storage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53618" y="2259747"/>
            <a:ext cx="518159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 b="1">
                <a:solidFill>
                  <a:srgbClr val="333333"/>
                </a:solidFill>
                <a:latin typeface="Tahoma"/>
                <a:cs typeface="Tahoma"/>
              </a:rPr>
              <a:t>Processing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53618" y="2500146"/>
            <a:ext cx="417830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35" b="1">
                <a:solidFill>
                  <a:srgbClr val="333333"/>
                </a:solidFill>
                <a:latin typeface="Tahoma"/>
                <a:cs typeface="Tahoma"/>
              </a:rPr>
              <a:t>IaC</a:t>
            </a:r>
            <a:r>
              <a:rPr dirty="0" sz="800" b="1">
                <a:solidFill>
                  <a:srgbClr val="333333"/>
                </a:solidFill>
                <a:latin typeface="Tahoma"/>
                <a:cs typeface="Tahoma"/>
              </a:rPr>
              <a:t> /</a:t>
            </a:r>
            <a:r>
              <a:rPr dirty="0" sz="800" spc="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25" b="1">
                <a:solidFill>
                  <a:srgbClr val="333333"/>
                </a:solidFill>
                <a:latin typeface="Tahoma"/>
                <a:cs typeface="Tahoma"/>
              </a:rPr>
              <a:t>CI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53618" y="2740544"/>
            <a:ext cx="27749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25" b="1">
                <a:solidFill>
                  <a:srgbClr val="333333"/>
                </a:solidFill>
                <a:latin typeface="Tahoma"/>
                <a:cs typeface="Tahoma"/>
              </a:rPr>
              <a:t>Maps</a:t>
            </a:r>
            <a:endParaRPr sz="800">
              <a:latin typeface="Tahoma"/>
              <a:cs typeface="Tahoma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035344"/>
            <a:ext cx="5760085" cy="205104"/>
            <a:chOff x="0" y="3035344"/>
            <a:chExt cx="5760085" cy="205104"/>
          </a:xfrm>
        </p:grpSpPr>
        <p:sp>
          <p:nvSpPr>
            <p:cNvPr id="18" name="object 18"/>
            <p:cNvSpPr/>
            <p:nvPr/>
          </p:nvSpPr>
          <p:spPr>
            <a:xfrm>
              <a:off x="290398" y="3040887"/>
              <a:ext cx="2536190" cy="0"/>
            </a:xfrm>
            <a:custGeom>
              <a:avLst/>
              <a:gdLst/>
              <a:ahLst/>
              <a:cxnLst/>
              <a:rect l="l" t="t" r="r" b="b"/>
              <a:pathLst>
                <a:path w="2536190" h="0">
                  <a:moveTo>
                    <a:pt x="0" y="0"/>
                  </a:moveTo>
                  <a:lnTo>
                    <a:pt x="2535656" y="0"/>
                  </a:lnTo>
                </a:path>
              </a:pathLst>
            </a:custGeom>
            <a:ln w="11087">
              <a:solidFill>
                <a:srgbClr val="333333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0" y="3060001"/>
              <a:ext cx="5760085" cy="180340"/>
            </a:xfrm>
            <a:custGeom>
              <a:avLst/>
              <a:gdLst/>
              <a:ahLst/>
              <a:cxnLst/>
              <a:rect l="l" t="t" r="r" b="b"/>
              <a:pathLst>
                <a:path w="5760085" h="180339">
                  <a:moveTo>
                    <a:pt x="5759996" y="0"/>
                  </a:moveTo>
                  <a:lnTo>
                    <a:pt x="0" y="0"/>
                  </a:lnTo>
                  <a:lnTo>
                    <a:pt x="0" y="179997"/>
                  </a:lnTo>
                  <a:lnTo>
                    <a:pt x="5759996" y="179997"/>
                  </a:lnTo>
                  <a:lnTo>
                    <a:pt x="5759996" y="0"/>
                  </a:lnTo>
                  <a:close/>
                </a:path>
              </a:pathLst>
            </a:custGeom>
            <a:solidFill>
              <a:srgbClr val="2D5A4A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0" name="object 20"/>
          <p:cNvGrpSpPr/>
          <p:nvPr/>
        </p:nvGrpSpPr>
        <p:grpSpPr>
          <a:xfrm>
            <a:off x="3349637" y="533247"/>
            <a:ext cx="1803400" cy="469900"/>
            <a:chOff x="3349637" y="533247"/>
            <a:chExt cx="1803400" cy="469900"/>
          </a:xfrm>
        </p:grpSpPr>
        <p:pic>
          <p:nvPicPr>
            <p:cNvPr id="21" name="object 2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49637" y="533247"/>
              <a:ext cx="142875" cy="142875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352799" y="700896"/>
              <a:ext cx="1800225" cy="302260"/>
            </a:xfrm>
            <a:custGeom>
              <a:avLst/>
              <a:gdLst/>
              <a:ahLst/>
              <a:cxnLst/>
              <a:rect l="l" t="t" r="r" b="b"/>
              <a:pathLst>
                <a:path w="1800225" h="302259">
                  <a:moveTo>
                    <a:pt x="1749411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1216"/>
                  </a:lnTo>
                  <a:lnTo>
                    <a:pt x="3977" y="270917"/>
                  </a:lnTo>
                  <a:lnTo>
                    <a:pt x="14823" y="287004"/>
                  </a:lnTo>
                  <a:lnTo>
                    <a:pt x="30910" y="297850"/>
                  </a:lnTo>
                  <a:lnTo>
                    <a:pt x="50610" y="301827"/>
                  </a:lnTo>
                  <a:lnTo>
                    <a:pt x="1749411" y="301827"/>
                  </a:lnTo>
                  <a:lnTo>
                    <a:pt x="1769111" y="297850"/>
                  </a:lnTo>
                  <a:lnTo>
                    <a:pt x="1785199" y="287004"/>
                  </a:lnTo>
                  <a:lnTo>
                    <a:pt x="1796045" y="270917"/>
                  </a:lnTo>
                  <a:lnTo>
                    <a:pt x="1800022" y="251216"/>
                  </a:lnTo>
                  <a:lnTo>
                    <a:pt x="1800022" y="50610"/>
                  </a:lnTo>
                  <a:lnTo>
                    <a:pt x="1796045" y="30910"/>
                  </a:lnTo>
                  <a:lnTo>
                    <a:pt x="1785199" y="14823"/>
                  </a:lnTo>
                  <a:lnTo>
                    <a:pt x="1769111" y="3977"/>
                  </a:lnTo>
                  <a:lnTo>
                    <a:pt x="1749411" y="0"/>
                  </a:lnTo>
                  <a:close/>
                </a:path>
              </a:pathLst>
            </a:custGeom>
            <a:solidFill>
              <a:srgbClr val="A6501E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/>
          <p:nvPr/>
        </p:nvSpPr>
        <p:spPr>
          <a:xfrm>
            <a:off x="3529504" y="462888"/>
            <a:ext cx="1477645" cy="502920"/>
          </a:xfrm>
          <a:prstGeom prst="rect">
            <a:avLst/>
          </a:prstGeom>
        </p:spPr>
        <p:txBody>
          <a:bodyPr wrap="square" lIns="0" tIns="5461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430"/>
              </a:spcBef>
            </a:pPr>
            <a:r>
              <a:rPr dirty="0" sz="1100" spc="-50" b="1">
                <a:solidFill>
                  <a:srgbClr val="333333"/>
                </a:solidFill>
                <a:latin typeface="Tahoma"/>
                <a:cs typeface="Tahoma"/>
              </a:rPr>
              <a:t>Medallion</a:t>
            </a:r>
            <a:r>
              <a:rPr dirty="0" sz="1100" spc="-1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100" spc="-45" b="1">
                <a:solidFill>
                  <a:srgbClr val="333333"/>
                </a:solidFill>
                <a:latin typeface="Tahoma"/>
                <a:cs typeface="Tahoma"/>
              </a:rPr>
              <a:t>Architecture</a:t>
            </a:r>
            <a:endParaRPr sz="1100">
              <a:latin typeface="Tahoma"/>
              <a:cs typeface="Tahoma"/>
            </a:endParaRPr>
          </a:p>
          <a:p>
            <a:pPr algn="ctr" marR="22860">
              <a:lnSpc>
                <a:spcPct val="100000"/>
              </a:lnSpc>
              <a:spcBef>
                <a:spcPts val="240"/>
              </a:spcBef>
            </a:pPr>
            <a:r>
              <a:rPr dirty="0" sz="800" spc="-10" b="1">
                <a:solidFill>
                  <a:srgbClr val="FFFFFF"/>
                </a:solidFill>
                <a:latin typeface="Tahoma"/>
                <a:cs typeface="Tahoma"/>
              </a:rPr>
              <a:t>Bronze</a:t>
            </a:r>
            <a:endParaRPr sz="800">
              <a:latin typeface="Tahoma"/>
              <a:cs typeface="Tahoma"/>
            </a:endParaRPr>
          </a:p>
          <a:p>
            <a:pPr algn="ctr" marR="22225">
              <a:lnSpc>
                <a:spcPct val="100000"/>
              </a:lnSpc>
              <a:spcBef>
                <a:spcPts val="185"/>
              </a:spcBef>
            </a:pPr>
            <a:r>
              <a:rPr dirty="0" sz="600" spc="-55" b="1">
                <a:solidFill>
                  <a:srgbClr val="FFFFFF"/>
                </a:solidFill>
                <a:latin typeface="Tahoma"/>
                <a:cs typeface="Tahoma"/>
              </a:rPr>
              <a:t>Raw</a:t>
            </a:r>
            <a:r>
              <a:rPr dirty="0" sz="600" spc="3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600" b="1">
                <a:solidFill>
                  <a:srgbClr val="FFFFFF"/>
                </a:solidFill>
                <a:latin typeface="Tahoma"/>
                <a:cs typeface="Tahoma"/>
              </a:rPr>
              <a:t>CSV/JSON</a:t>
            </a:r>
            <a:r>
              <a:rPr dirty="0" sz="600" spc="3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600" spc="80" b="1">
                <a:solidFill>
                  <a:srgbClr val="FFFFFF"/>
                </a:solidFill>
                <a:latin typeface="Arial"/>
                <a:cs typeface="Arial"/>
              </a:rPr>
              <a:t>→</a:t>
            </a:r>
            <a:r>
              <a:rPr dirty="0" sz="600" spc="4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600" spc="-25" b="1">
                <a:solidFill>
                  <a:srgbClr val="FFFFFF"/>
                </a:solidFill>
                <a:latin typeface="Tahoma"/>
                <a:cs typeface="Tahoma"/>
              </a:rPr>
              <a:t>Cloud</a:t>
            </a:r>
            <a:r>
              <a:rPr dirty="0" sz="600" spc="3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600" spc="-10" b="1">
                <a:solidFill>
                  <a:srgbClr val="FFFFFF"/>
                </a:solidFill>
                <a:latin typeface="Tahoma"/>
                <a:cs typeface="Tahoma"/>
              </a:rPr>
              <a:t>Storage</a:t>
            </a:r>
            <a:endParaRPr sz="600">
              <a:latin typeface="Tahoma"/>
              <a:cs typeface="Tahoma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3352799" y="1027012"/>
            <a:ext cx="1800225" cy="297815"/>
          </a:xfrm>
          <a:custGeom>
            <a:avLst/>
            <a:gdLst/>
            <a:ahLst/>
            <a:cxnLst/>
            <a:rect l="l" t="t" r="r" b="b"/>
            <a:pathLst>
              <a:path w="1800225" h="297815">
                <a:moveTo>
                  <a:pt x="1749411" y="0"/>
                </a:moveTo>
                <a:lnTo>
                  <a:pt x="50610" y="0"/>
                </a:lnTo>
                <a:lnTo>
                  <a:pt x="30910" y="3977"/>
                </a:lnTo>
                <a:lnTo>
                  <a:pt x="14823" y="14823"/>
                </a:lnTo>
                <a:lnTo>
                  <a:pt x="3977" y="30910"/>
                </a:lnTo>
                <a:lnTo>
                  <a:pt x="0" y="50610"/>
                </a:lnTo>
                <a:lnTo>
                  <a:pt x="0" y="246999"/>
                </a:lnTo>
                <a:lnTo>
                  <a:pt x="3977" y="266699"/>
                </a:lnTo>
                <a:lnTo>
                  <a:pt x="14823" y="282786"/>
                </a:lnTo>
                <a:lnTo>
                  <a:pt x="30910" y="293632"/>
                </a:lnTo>
                <a:lnTo>
                  <a:pt x="50610" y="297610"/>
                </a:lnTo>
                <a:lnTo>
                  <a:pt x="1749411" y="297610"/>
                </a:lnTo>
                <a:lnTo>
                  <a:pt x="1769111" y="293632"/>
                </a:lnTo>
                <a:lnTo>
                  <a:pt x="1785199" y="282786"/>
                </a:lnTo>
                <a:lnTo>
                  <a:pt x="1796045" y="266699"/>
                </a:lnTo>
                <a:lnTo>
                  <a:pt x="1800022" y="246999"/>
                </a:lnTo>
                <a:lnTo>
                  <a:pt x="1800022" y="50610"/>
                </a:lnTo>
                <a:lnTo>
                  <a:pt x="1796045" y="30910"/>
                </a:lnTo>
                <a:lnTo>
                  <a:pt x="1785199" y="14823"/>
                </a:lnTo>
                <a:lnTo>
                  <a:pt x="1769111" y="3977"/>
                </a:lnTo>
                <a:lnTo>
                  <a:pt x="1749411" y="0"/>
                </a:lnTo>
                <a:close/>
              </a:path>
            </a:pathLst>
          </a:custGeom>
          <a:solidFill>
            <a:srgbClr val="1465B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 txBox="1"/>
          <p:nvPr/>
        </p:nvSpPr>
        <p:spPr>
          <a:xfrm>
            <a:off x="3773728" y="997501"/>
            <a:ext cx="958850" cy="294640"/>
          </a:xfrm>
          <a:prstGeom prst="rect">
            <a:avLst/>
          </a:prstGeom>
        </p:spPr>
        <p:txBody>
          <a:bodyPr wrap="square" lIns="0" tIns="4445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350"/>
              </a:spcBef>
            </a:pPr>
            <a:r>
              <a:rPr dirty="0" sz="800" spc="-10" b="1">
                <a:solidFill>
                  <a:srgbClr val="FFFFFF"/>
                </a:solidFill>
                <a:latin typeface="Tahoma"/>
                <a:cs typeface="Tahoma"/>
              </a:rPr>
              <a:t>Silver</a:t>
            </a:r>
            <a:endParaRPr sz="8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85"/>
              </a:spcBef>
            </a:pPr>
            <a:r>
              <a:rPr dirty="0" sz="600" spc="-25" b="1">
                <a:solidFill>
                  <a:srgbClr val="FFFFFF"/>
                </a:solidFill>
                <a:latin typeface="Tahoma"/>
                <a:cs typeface="Tahoma"/>
              </a:rPr>
              <a:t>Clean</a:t>
            </a:r>
            <a:r>
              <a:rPr dirty="0" sz="600" spc="1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600" spc="-25" b="1">
                <a:solidFill>
                  <a:srgbClr val="FFFFFF"/>
                </a:solidFill>
                <a:latin typeface="Tahoma"/>
                <a:cs typeface="Tahoma"/>
              </a:rPr>
              <a:t>data</a:t>
            </a:r>
            <a:r>
              <a:rPr dirty="0" sz="600" spc="1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600" spc="80" b="1">
                <a:solidFill>
                  <a:srgbClr val="FFFFFF"/>
                </a:solidFill>
                <a:latin typeface="Arial"/>
                <a:cs typeface="Arial"/>
              </a:rPr>
              <a:t>→</a:t>
            </a:r>
            <a:r>
              <a:rPr dirty="0" sz="600" spc="2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600" spc="-10" b="1">
                <a:solidFill>
                  <a:srgbClr val="FFFFFF"/>
                </a:solidFill>
                <a:latin typeface="Tahoma"/>
                <a:cs typeface="Tahoma"/>
              </a:rPr>
              <a:t>PostgreSQL</a:t>
            </a:r>
            <a:endParaRPr sz="600">
              <a:latin typeface="Tahoma"/>
              <a:cs typeface="Tahoma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352799" y="1348905"/>
            <a:ext cx="1800225" cy="302260"/>
          </a:xfrm>
          <a:custGeom>
            <a:avLst/>
            <a:gdLst/>
            <a:ahLst/>
            <a:cxnLst/>
            <a:rect l="l" t="t" r="r" b="b"/>
            <a:pathLst>
              <a:path w="1800225" h="302260">
                <a:moveTo>
                  <a:pt x="1749411" y="0"/>
                </a:moveTo>
                <a:lnTo>
                  <a:pt x="50610" y="0"/>
                </a:lnTo>
                <a:lnTo>
                  <a:pt x="30910" y="3977"/>
                </a:lnTo>
                <a:lnTo>
                  <a:pt x="14823" y="14823"/>
                </a:lnTo>
                <a:lnTo>
                  <a:pt x="3977" y="30910"/>
                </a:lnTo>
                <a:lnTo>
                  <a:pt x="0" y="50610"/>
                </a:lnTo>
                <a:lnTo>
                  <a:pt x="0" y="251216"/>
                </a:lnTo>
                <a:lnTo>
                  <a:pt x="3977" y="270916"/>
                </a:lnTo>
                <a:lnTo>
                  <a:pt x="14823" y="287003"/>
                </a:lnTo>
                <a:lnTo>
                  <a:pt x="30910" y="297850"/>
                </a:lnTo>
                <a:lnTo>
                  <a:pt x="50610" y="301827"/>
                </a:lnTo>
                <a:lnTo>
                  <a:pt x="1749411" y="301827"/>
                </a:lnTo>
                <a:lnTo>
                  <a:pt x="1769111" y="297850"/>
                </a:lnTo>
                <a:lnTo>
                  <a:pt x="1785199" y="287003"/>
                </a:lnTo>
                <a:lnTo>
                  <a:pt x="1796045" y="270916"/>
                </a:lnTo>
                <a:lnTo>
                  <a:pt x="1800022" y="251216"/>
                </a:lnTo>
                <a:lnTo>
                  <a:pt x="1800022" y="50610"/>
                </a:lnTo>
                <a:lnTo>
                  <a:pt x="1796045" y="30910"/>
                </a:lnTo>
                <a:lnTo>
                  <a:pt x="1785199" y="14823"/>
                </a:lnTo>
                <a:lnTo>
                  <a:pt x="1769111" y="3977"/>
                </a:lnTo>
                <a:lnTo>
                  <a:pt x="1749411" y="0"/>
                </a:lnTo>
                <a:close/>
              </a:path>
            </a:pathLst>
          </a:custGeom>
          <a:solidFill>
            <a:srgbClr val="C586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 txBox="1"/>
          <p:nvPr/>
        </p:nvSpPr>
        <p:spPr>
          <a:xfrm>
            <a:off x="3694328" y="1319412"/>
            <a:ext cx="1117600" cy="294640"/>
          </a:xfrm>
          <a:prstGeom prst="rect">
            <a:avLst/>
          </a:prstGeom>
        </p:spPr>
        <p:txBody>
          <a:bodyPr wrap="square" lIns="0" tIns="4445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350"/>
              </a:spcBef>
            </a:pPr>
            <a:r>
              <a:rPr dirty="0" sz="800" spc="-20" b="1">
                <a:solidFill>
                  <a:srgbClr val="FFFFFF"/>
                </a:solidFill>
                <a:latin typeface="Tahoma"/>
                <a:cs typeface="Tahoma"/>
              </a:rPr>
              <a:t>Gold</a:t>
            </a:r>
            <a:endParaRPr sz="8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85"/>
              </a:spcBef>
            </a:pPr>
            <a:r>
              <a:rPr dirty="0" sz="600" b="1">
                <a:solidFill>
                  <a:srgbClr val="FFFFFF"/>
                </a:solidFill>
                <a:latin typeface="Tahoma"/>
                <a:cs typeface="Tahoma"/>
              </a:rPr>
              <a:t>QR</a:t>
            </a:r>
            <a:r>
              <a:rPr dirty="0" sz="600" spc="3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600" spc="-40" b="1">
                <a:solidFill>
                  <a:srgbClr val="FFFFFF"/>
                </a:solidFill>
                <a:latin typeface="Tahoma"/>
                <a:cs typeface="Tahoma"/>
              </a:rPr>
              <a:t>Pages</a:t>
            </a:r>
            <a:r>
              <a:rPr dirty="0" sz="600" spc="3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600" b="1">
                <a:solidFill>
                  <a:srgbClr val="FFFFFF"/>
                </a:solidFill>
                <a:latin typeface="Tahoma"/>
                <a:cs typeface="Tahoma"/>
              </a:rPr>
              <a:t>+</a:t>
            </a:r>
            <a:r>
              <a:rPr dirty="0" sz="600" spc="3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600" spc="-30" b="1">
                <a:solidFill>
                  <a:srgbClr val="FFFFFF"/>
                </a:solidFill>
                <a:latin typeface="Tahoma"/>
                <a:cs typeface="Tahoma"/>
              </a:rPr>
              <a:t>BigQuery</a:t>
            </a:r>
            <a:r>
              <a:rPr dirty="0" sz="600" spc="30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600" spc="-10" b="1">
                <a:solidFill>
                  <a:srgbClr val="FFFFFF"/>
                </a:solidFill>
                <a:latin typeface="Tahoma"/>
                <a:cs typeface="Tahoma"/>
              </a:rPr>
              <a:t>(future)</a:t>
            </a:r>
            <a:endParaRPr sz="600">
              <a:latin typeface="Tahoma"/>
              <a:cs typeface="Tahoma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4222445" y="991712"/>
            <a:ext cx="60960" cy="354965"/>
            <a:chOff x="4222445" y="991712"/>
            <a:chExt cx="60960" cy="354965"/>
          </a:xfrm>
        </p:grpSpPr>
        <p:sp>
          <p:nvSpPr>
            <p:cNvPr id="29" name="object 29"/>
            <p:cNvSpPr/>
            <p:nvPr/>
          </p:nvSpPr>
          <p:spPr>
            <a:xfrm>
              <a:off x="4252811" y="1005254"/>
              <a:ext cx="0" cy="10795"/>
            </a:xfrm>
            <a:custGeom>
              <a:avLst/>
              <a:gdLst/>
              <a:ahLst/>
              <a:cxnLst/>
              <a:rect l="l" t="t" r="r" b="b"/>
              <a:pathLst>
                <a:path w="0" h="10794">
                  <a:moveTo>
                    <a:pt x="0" y="0"/>
                  </a:moveTo>
                  <a:lnTo>
                    <a:pt x="0" y="10244"/>
                  </a:lnTo>
                </a:path>
              </a:pathLst>
            </a:custGeom>
            <a:ln w="10122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4226494" y="995760"/>
              <a:ext cx="52705" cy="24765"/>
            </a:xfrm>
            <a:custGeom>
              <a:avLst/>
              <a:gdLst/>
              <a:ahLst/>
              <a:cxnLst/>
              <a:rect l="l" t="t" r="r" b="b"/>
              <a:pathLst>
                <a:path w="52704" h="24765">
                  <a:moveTo>
                    <a:pt x="52633" y="0"/>
                  </a:moveTo>
                  <a:lnTo>
                    <a:pt x="44589" y="3855"/>
                  </a:lnTo>
                  <a:lnTo>
                    <a:pt x="36391" y="11102"/>
                  </a:lnTo>
                  <a:lnTo>
                    <a:pt x="29734" y="18966"/>
                  </a:lnTo>
                  <a:lnTo>
                    <a:pt x="26316" y="24671"/>
                  </a:lnTo>
                  <a:lnTo>
                    <a:pt x="22898" y="18966"/>
                  </a:lnTo>
                  <a:lnTo>
                    <a:pt x="16242" y="11102"/>
                  </a:lnTo>
                  <a:lnTo>
                    <a:pt x="8044" y="3855"/>
                  </a:lnTo>
                  <a:lnTo>
                    <a:pt x="0" y="0"/>
                  </a:lnTo>
                </a:path>
              </a:pathLst>
            </a:custGeom>
            <a:ln w="8097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4252811" y="1327152"/>
              <a:ext cx="0" cy="10795"/>
            </a:xfrm>
            <a:custGeom>
              <a:avLst/>
              <a:gdLst/>
              <a:ahLst/>
              <a:cxnLst/>
              <a:rect l="l" t="t" r="r" b="b"/>
              <a:pathLst>
                <a:path w="0" h="10794">
                  <a:moveTo>
                    <a:pt x="0" y="0"/>
                  </a:moveTo>
                  <a:lnTo>
                    <a:pt x="0" y="10238"/>
                  </a:lnTo>
                </a:path>
              </a:pathLst>
            </a:custGeom>
            <a:ln w="10122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4226494" y="1317653"/>
              <a:ext cx="52705" cy="24765"/>
            </a:xfrm>
            <a:custGeom>
              <a:avLst/>
              <a:gdLst/>
              <a:ahLst/>
              <a:cxnLst/>
              <a:rect l="l" t="t" r="r" b="b"/>
              <a:pathLst>
                <a:path w="52704" h="24765">
                  <a:moveTo>
                    <a:pt x="52633" y="0"/>
                  </a:moveTo>
                  <a:lnTo>
                    <a:pt x="44589" y="3855"/>
                  </a:lnTo>
                  <a:lnTo>
                    <a:pt x="36391" y="11102"/>
                  </a:lnTo>
                  <a:lnTo>
                    <a:pt x="29734" y="18966"/>
                  </a:lnTo>
                  <a:lnTo>
                    <a:pt x="26316" y="24671"/>
                  </a:lnTo>
                  <a:lnTo>
                    <a:pt x="22898" y="18966"/>
                  </a:lnTo>
                  <a:lnTo>
                    <a:pt x="16242" y="11102"/>
                  </a:lnTo>
                  <a:lnTo>
                    <a:pt x="8044" y="3855"/>
                  </a:lnTo>
                  <a:lnTo>
                    <a:pt x="0" y="0"/>
                  </a:lnTo>
                </a:path>
              </a:pathLst>
            </a:custGeom>
            <a:ln w="8097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33" name="object 3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349637" y="1726691"/>
            <a:ext cx="177800" cy="142875"/>
          </a:xfrm>
          <a:prstGeom prst="rect">
            <a:avLst/>
          </a:prstGeom>
        </p:spPr>
      </p:pic>
      <p:sp>
        <p:nvSpPr>
          <p:cNvPr id="34" name="object 34"/>
          <p:cNvSpPr/>
          <p:nvPr/>
        </p:nvSpPr>
        <p:spPr>
          <a:xfrm>
            <a:off x="3558501" y="2065985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 h="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/>
          <p:nvPr/>
        </p:nvSpPr>
        <p:spPr>
          <a:xfrm>
            <a:off x="3995407" y="2288184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 h="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/>
          <p:nvPr/>
        </p:nvSpPr>
        <p:spPr>
          <a:xfrm>
            <a:off x="3625710" y="2357780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 h="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7" name="object 37"/>
          <p:cNvSpPr/>
          <p:nvPr/>
        </p:nvSpPr>
        <p:spPr>
          <a:xfrm>
            <a:off x="3625710" y="2427363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 h="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8" name="object 38"/>
          <p:cNvSpPr/>
          <p:nvPr/>
        </p:nvSpPr>
        <p:spPr>
          <a:xfrm>
            <a:off x="3659327" y="2496959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 h="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9" name="object 39"/>
          <p:cNvSpPr/>
          <p:nvPr/>
        </p:nvSpPr>
        <p:spPr>
          <a:xfrm>
            <a:off x="4062628" y="2579992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 h="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0" name="object 40"/>
          <p:cNvSpPr/>
          <p:nvPr/>
        </p:nvSpPr>
        <p:spPr>
          <a:xfrm>
            <a:off x="4096232" y="2649575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 h="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1" name="object 41"/>
          <p:cNvSpPr txBox="1"/>
          <p:nvPr/>
        </p:nvSpPr>
        <p:spPr>
          <a:xfrm>
            <a:off x="3340112" y="1699271"/>
            <a:ext cx="1887220" cy="111760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236220">
              <a:lnSpc>
                <a:spcPts val="1270"/>
              </a:lnSpc>
              <a:spcBef>
                <a:spcPts val="90"/>
              </a:spcBef>
            </a:pPr>
            <a:r>
              <a:rPr dirty="0" sz="1100" spc="-40" b="1">
                <a:solidFill>
                  <a:srgbClr val="333333"/>
                </a:solidFill>
                <a:latin typeface="Tahoma"/>
                <a:cs typeface="Tahoma"/>
              </a:rPr>
              <a:t>Bonus:</a:t>
            </a:r>
            <a:r>
              <a:rPr dirty="0" sz="1100" spc="7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100" spc="-60" b="1">
                <a:solidFill>
                  <a:srgbClr val="333333"/>
                </a:solidFill>
                <a:latin typeface="Tahoma"/>
                <a:cs typeface="Tahoma"/>
              </a:rPr>
              <a:t>Database</a:t>
            </a:r>
            <a:r>
              <a:rPr dirty="0" sz="1100" spc="-2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1100" spc="-65" b="1">
                <a:solidFill>
                  <a:srgbClr val="333333"/>
                </a:solidFill>
                <a:latin typeface="Tahoma"/>
                <a:cs typeface="Tahoma"/>
              </a:rPr>
              <a:t>Schema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ts val="525"/>
              </a:lnSpc>
            </a:pPr>
            <a:r>
              <a:rPr dirty="0" sz="500">
                <a:solidFill>
                  <a:srgbClr val="2D5A4A"/>
                </a:solidFill>
                <a:latin typeface="Calibri"/>
                <a:cs typeface="Calibri"/>
              </a:rPr>
              <a:t>CREATE</a:t>
            </a:r>
            <a:r>
              <a:rPr dirty="0" sz="500" spc="250">
                <a:solidFill>
                  <a:srgbClr val="2D5A4A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2D5A4A"/>
                </a:solidFill>
                <a:latin typeface="Calibri"/>
                <a:cs typeface="Calibri"/>
              </a:rPr>
              <a:t>TABLE</a:t>
            </a:r>
            <a:r>
              <a:rPr dirty="0" sz="500" spc="250">
                <a:solidFill>
                  <a:srgbClr val="2D5A4A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farmers</a:t>
            </a:r>
            <a:r>
              <a:rPr dirty="0" sz="500" spc="254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60">
                <a:solidFill>
                  <a:srgbClr val="333333"/>
                </a:solidFill>
                <a:latin typeface="Calibri"/>
                <a:cs typeface="Calibri"/>
              </a:rPr>
              <a:t>(</a:t>
            </a:r>
            <a:endParaRPr sz="500">
              <a:latin typeface="Calibri"/>
              <a:cs typeface="Calibri"/>
            </a:endParaRPr>
          </a:p>
          <a:p>
            <a:pPr marL="79375" marR="421005">
              <a:lnSpc>
                <a:spcPts val="550"/>
              </a:lnSpc>
              <a:spcBef>
                <a:spcPts val="35"/>
              </a:spcBef>
            </a:pPr>
            <a:r>
              <a:rPr dirty="0" sz="500" spc="75">
                <a:solidFill>
                  <a:srgbClr val="333333"/>
                </a:solidFill>
                <a:latin typeface="Calibri"/>
                <a:cs typeface="Calibri"/>
              </a:rPr>
              <a:t>id</a:t>
            </a:r>
            <a:r>
              <a:rPr dirty="0" sz="500" spc="20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UUID</a:t>
            </a:r>
            <a:r>
              <a:rPr dirty="0" sz="500" spc="204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PK,</a:t>
            </a:r>
            <a:r>
              <a:rPr dirty="0" sz="500" spc="20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-10">
                <a:solidFill>
                  <a:srgbClr val="333333"/>
                </a:solidFill>
                <a:latin typeface="Calibri"/>
                <a:cs typeface="Calibri"/>
              </a:rPr>
              <a:t>name</a:t>
            </a:r>
            <a:r>
              <a:rPr dirty="0" sz="500" spc="204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VARCHAR,</a:t>
            </a:r>
            <a:r>
              <a:rPr dirty="0" sz="500" spc="204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region</a:t>
            </a:r>
            <a:r>
              <a:rPr dirty="0" sz="500" spc="20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-10">
                <a:solidFill>
                  <a:srgbClr val="333333"/>
                </a:solidFill>
                <a:latin typeface="Calibri"/>
                <a:cs typeface="Calibri"/>
              </a:rPr>
              <a:t>VARCHAR,</a:t>
            </a:r>
            <a:r>
              <a:rPr dirty="0" sz="500" spc="50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farm</a:t>
            </a:r>
            <a:r>
              <a:rPr dirty="0" sz="500" spc="11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70">
                <a:solidFill>
                  <a:srgbClr val="333333"/>
                </a:solidFill>
                <a:latin typeface="Calibri"/>
                <a:cs typeface="Calibri"/>
              </a:rPr>
              <a:t>size</a:t>
            </a:r>
            <a:r>
              <a:rPr dirty="0" sz="500" spc="20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DECIMAL,</a:t>
            </a:r>
            <a:r>
              <a:rPr dirty="0" sz="500" spc="204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70">
                <a:solidFill>
                  <a:srgbClr val="333333"/>
                </a:solidFill>
                <a:latin typeface="Calibri"/>
                <a:cs typeface="Calibri"/>
              </a:rPr>
              <a:t>lat/lon</a:t>
            </a:r>
            <a:r>
              <a:rPr dirty="0" sz="500" spc="20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-10">
                <a:solidFill>
                  <a:srgbClr val="333333"/>
                </a:solidFill>
                <a:latin typeface="Calibri"/>
                <a:cs typeface="Calibri"/>
              </a:rPr>
              <a:t>DECIMAL(9,6),</a:t>
            </a:r>
            <a:r>
              <a:rPr dirty="0" sz="500" spc="50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cooperative</a:t>
            </a:r>
            <a:r>
              <a:rPr dirty="0" sz="500" spc="35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-10">
                <a:solidFill>
                  <a:srgbClr val="333333"/>
                </a:solidFill>
                <a:latin typeface="Calibri"/>
                <a:cs typeface="Calibri"/>
              </a:rPr>
              <a:t>VARCHAR</a:t>
            </a:r>
            <a:r>
              <a:rPr dirty="0" sz="500" spc="35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95">
                <a:solidFill>
                  <a:srgbClr val="333333"/>
                </a:solidFill>
                <a:latin typeface="Calibri"/>
                <a:cs typeface="Calibri"/>
              </a:rPr>
              <a:t>);</a:t>
            </a:r>
            <a:endParaRPr sz="500">
              <a:latin typeface="Calibri"/>
              <a:cs typeface="Calibri"/>
            </a:endParaRPr>
          </a:p>
          <a:p>
            <a:pPr marL="12700">
              <a:lnSpc>
                <a:spcPts val="575"/>
              </a:lnSpc>
              <a:spcBef>
                <a:spcPts val="40"/>
              </a:spcBef>
            </a:pPr>
            <a:r>
              <a:rPr dirty="0" sz="500">
                <a:solidFill>
                  <a:srgbClr val="2D5A4A"/>
                </a:solidFill>
                <a:latin typeface="Calibri"/>
                <a:cs typeface="Calibri"/>
              </a:rPr>
              <a:t>CREATE</a:t>
            </a:r>
            <a:r>
              <a:rPr dirty="0" sz="500" spc="250">
                <a:solidFill>
                  <a:srgbClr val="2D5A4A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2D5A4A"/>
                </a:solidFill>
                <a:latin typeface="Calibri"/>
                <a:cs typeface="Calibri"/>
              </a:rPr>
              <a:t>TABLE</a:t>
            </a:r>
            <a:r>
              <a:rPr dirty="0" sz="500" spc="250">
                <a:solidFill>
                  <a:srgbClr val="2D5A4A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shipments</a:t>
            </a:r>
            <a:r>
              <a:rPr dirty="0" sz="500" spc="25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60">
                <a:solidFill>
                  <a:srgbClr val="333333"/>
                </a:solidFill>
                <a:latin typeface="Calibri"/>
                <a:cs typeface="Calibri"/>
              </a:rPr>
              <a:t>(</a:t>
            </a:r>
            <a:endParaRPr sz="500">
              <a:latin typeface="Calibri"/>
              <a:cs typeface="Calibri"/>
            </a:endParaRPr>
          </a:p>
          <a:p>
            <a:pPr marL="79375" marR="430530">
              <a:lnSpc>
                <a:spcPts val="550"/>
              </a:lnSpc>
              <a:spcBef>
                <a:spcPts val="30"/>
              </a:spcBef>
            </a:pPr>
            <a:r>
              <a:rPr dirty="0" sz="500" spc="75">
                <a:solidFill>
                  <a:srgbClr val="333333"/>
                </a:solidFill>
                <a:latin typeface="Calibri"/>
                <a:cs typeface="Calibri"/>
              </a:rPr>
              <a:t>id</a:t>
            </a:r>
            <a:r>
              <a:rPr dirty="0" sz="500" spc="185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UUID</a:t>
            </a:r>
            <a:r>
              <a:rPr dirty="0" sz="500" spc="185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PK,</a:t>
            </a:r>
            <a:r>
              <a:rPr dirty="0" sz="500" spc="185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batch</a:t>
            </a:r>
            <a:r>
              <a:rPr dirty="0" sz="500" spc="95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75">
                <a:solidFill>
                  <a:srgbClr val="333333"/>
                </a:solidFill>
                <a:latin typeface="Calibri"/>
                <a:cs typeface="Calibri"/>
              </a:rPr>
              <a:t>id</a:t>
            </a:r>
            <a:r>
              <a:rPr dirty="0" sz="500" spc="19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-10">
                <a:solidFill>
                  <a:srgbClr val="333333"/>
                </a:solidFill>
                <a:latin typeface="Calibri"/>
                <a:cs typeface="Calibri"/>
              </a:rPr>
              <a:t>VARCHAR</a:t>
            </a:r>
            <a:r>
              <a:rPr dirty="0" sz="500" spc="185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-10">
                <a:solidFill>
                  <a:srgbClr val="333333"/>
                </a:solidFill>
                <a:latin typeface="Calibri"/>
                <a:cs typeface="Calibri"/>
              </a:rPr>
              <a:t>UNIQUE,</a:t>
            </a:r>
            <a:r>
              <a:rPr dirty="0" sz="500" spc="50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farmer</a:t>
            </a:r>
            <a:r>
              <a:rPr dirty="0" sz="500" spc="11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75">
                <a:solidFill>
                  <a:srgbClr val="333333"/>
                </a:solidFill>
                <a:latin typeface="Calibri"/>
                <a:cs typeface="Calibri"/>
              </a:rPr>
              <a:t>id</a:t>
            </a:r>
            <a:r>
              <a:rPr dirty="0" sz="500" spc="204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UUID</a:t>
            </a:r>
            <a:r>
              <a:rPr dirty="0" sz="500" spc="20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FK</a:t>
            </a:r>
            <a:r>
              <a:rPr dirty="0" sz="500" spc="1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farmers,</a:t>
            </a:r>
            <a:r>
              <a:rPr dirty="0" sz="500" spc="204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grade</a:t>
            </a:r>
            <a:r>
              <a:rPr dirty="0" sz="500" spc="204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-10">
                <a:solidFill>
                  <a:srgbClr val="333333"/>
                </a:solidFill>
                <a:latin typeface="Calibri"/>
                <a:cs typeface="Calibri"/>
              </a:rPr>
              <a:t>VARCHAR,</a:t>
            </a:r>
            <a:r>
              <a:rPr dirty="0" sz="500" spc="50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weight</a:t>
            </a:r>
            <a:r>
              <a:rPr dirty="0" sz="500" spc="11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kg</a:t>
            </a:r>
            <a:r>
              <a:rPr dirty="0" sz="500" spc="204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DECIMAL,</a:t>
            </a:r>
            <a:r>
              <a:rPr dirty="0" sz="500" spc="204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55">
                <a:solidFill>
                  <a:srgbClr val="333333"/>
                </a:solidFill>
                <a:latin typeface="Calibri"/>
                <a:cs typeface="Calibri"/>
              </a:rPr>
              <a:t>status</a:t>
            </a:r>
            <a:r>
              <a:rPr dirty="0" sz="500" spc="204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-10">
                <a:solidFill>
                  <a:srgbClr val="333333"/>
                </a:solidFill>
                <a:latin typeface="Calibri"/>
                <a:cs typeface="Calibri"/>
              </a:rPr>
              <a:t>VARCHAR,</a:t>
            </a:r>
            <a:r>
              <a:rPr dirty="0" sz="500" spc="500">
                <a:solidFill>
                  <a:srgbClr val="333333"/>
                </a:solidFill>
                <a:latin typeface="Calibri"/>
                <a:cs typeface="Calibri"/>
              </a:rPr>
              <a:t> 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created</a:t>
            </a:r>
            <a:r>
              <a:rPr dirty="0" sz="500" spc="10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60">
                <a:solidFill>
                  <a:srgbClr val="333333"/>
                </a:solidFill>
                <a:latin typeface="Calibri"/>
                <a:cs typeface="Calibri"/>
              </a:rPr>
              <a:t>at</a:t>
            </a:r>
            <a:r>
              <a:rPr dirty="0" sz="500" spc="19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-10">
                <a:solidFill>
                  <a:srgbClr val="333333"/>
                </a:solidFill>
                <a:latin typeface="Calibri"/>
                <a:cs typeface="Calibri"/>
              </a:rPr>
              <a:t>TIMESTAMP</a:t>
            </a:r>
            <a:r>
              <a:rPr dirty="0" sz="500" spc="19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DEFAULT</a:t>
            </a:r>
            <a:r>
              <a:rPr dirty="0" sz="500" spc="19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NOW()</a:t>
            </a:r>
            <a:r>
              <a:rPr dirty="0" sz="500" spc="185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95">
                <a:solidFill>
                  <a:srgbClr val="333333"/>
                </a:solidFill>
                <a:latin typeface="Calibri"/>
                <a:cs typeface="Calibri"/>
              </a:rPr>
              <a:t>);</a:t>
            </a:r>
            <a:endParaRPr sz="500">
              <a:latin typeface="Calibri"/>
              <a:cs typeface="Calibri"/>
            </a:endParaRPr>
          </a:p>
          <a:p>
            <a:pPr marL="12700">
              <a:lnSpc>
                <a:spcPts val="575"/>
              </a:lnSpc>
              <a:spcBef>
                <a:spcPts val="40"/>
              </a:spcBef>
            </a:pPr>
            <a:r>
              <a:rPr dirty="0" sz="500" spc="10">
                <a:solidFill>
                  <a:srgbClr val="2D5A4A"/>
                </a:solidFill>
                <a:latin typeface="Calibri"/>
                <a:cs typeface="Calibri"/>
              </a:rPr>
              <a:t>CREATE</a:t>
            </a:r>
            <a:r>
              <a:rPr dirty="0" sz="500" spc="225">
                <a:solidFill>
                  <a:srgbClr val="2D5A4A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2D5A4A"/>
                </a:solidFill>
                <a:latin typeface="Calibri"/>
                <a:cs typeface="Calibri"/>
              </a:rPr>
              <a:t>TABLE</a:t>
            </a:r>
            <a:r>
              <a:rPr dirty="0" sz="500" spc="225">
                <a:solidFill>
                  <a:srgbClr val="2D5A4A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shipment</a:t>
            </a:r>
            <a:r>
              <a:rPr dirty="0" sz="500" spc="13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stages</a:t>
            </a:r>
            <a:r>
              <a:rPr dirty="0" sz="500" spc="225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60">
                <a:solidFill>
                  <a:srgbClr val="333333"/>
                </a:solidFill>
                <a:latin typeface="Calibri"/>
                <a:cs typeface="Calibri"/>
              </a:rPr>
              <a:t>(</a:t>
            </a:r>
            <a:endParaRPr sz="500">
              <a:latin typeface="Calibri"/>
              <a:cs typeface="Calibri"/>
            </a:endParaRPr>
          </a:p>
          <a:p>
            <a:pPr marL="79375" marR="396875">
              <a:lnSpc>
                <a:spcPts val="550"/>
              </a:lnSpc>
              <a:spcBef>
                <a:spcPts val="35"/>
              </a:spcBef>
            </a:pPr>
            <a:r>
              <a:rPr dirty="0" sz="500" spc="75">
                <a:solidFill>
                  <a:srgbClr val="333333"/>
                </a:solidFill>
                <a:latin typeface="Calibri"/>
                <a:cs typeface="Calibri"/>
              </a:rPr>
              <a:t>id</a:t>
            </a:r>
            <a:r>
              <a:rPr dirty="0" sz="500" spc="16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UUID</a:t>
            </a:r>
            <a:r>
              <a:rPr dirty="0" sz="500" spc="16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PK,</a:t>
            </a:r>
            <a:r>
              <a:rPr dirty="0" sz="500" spc="16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shipment</a:t>
            </a:r>
            <a:r>
              <a:rPr dirty="0" sz="500" spc="8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75">
                <a:solidFill>
                  <a:srgbClr val="333333"/>
                </a:solidFill>
                <a:latin typeface="Calibri"/>
                <a:cs typeface="Calibri"/>
              </a:rPr>
              <a:t>id</a:t>
            </a:r>
            <a:r>
              <a:rPr dirty="0" sz="500" spc="16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10">
                <a:solidFill>
                  <a:srgbClr val="333333"/>
                </a:solidFill>
                <a:latin typeface="Calibri"/>
                <a:cs typeface="Calibri"/>
              </a:rPr>
              <a:t>UUID</a:t>
            </a:r>
            <a:r>
              <a:rPr dirty="0" sz="500" spc="16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-10">
                <a:solidFill>
                  <a:srgbClr val="333333"/>
                </a:solidFill>
                <a:latin typeface="Calibri"/>
                <a:cs typeface="Calibri"/>
              </a:rPr>
              <a:t>FK</a:t>
            </a:r>
            <a:r>
              <a:rPr dirty="0" sz="500" spc="-1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dirty="0" sz="500" spc="-10">
                <a:solidFill>
                  <a:srgbClr val="333333"/>
                </a:solidFill>
                <a:latin typeface="Calibri"/>
                <a:cs typeface="Calibri"/>
              </a:rPr>
              <a:t>shipments,</a:t>
            </a:r>
            <a:r>
              <a:rPr dirty="0" sz="500" spc="50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stage</a:t>
            </a:r>
            <a:r>
              <a:rPr dirty="0" sz="500" spc="22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VARCHAR,</a:t>
            </a:r>
            <a:r>
              <a:rPr dirty="0" sz="500" spc="225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60">
                <a:solidFill>
                  <a:srgbClr val="333333"/>
                </a:solidFill>
                <a:latin typeface="Calibri"/>
                <a:cs typeface="Calibri"/>
              </a:rPr>
              <a:t>location</a:t>
            </a:r>
            <a:r>
              <a:rPr dirty="0" sz="500" spc="225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-10">
                <a:solidFill>
                  <a:srgbClr val="333333"/>
                </a:solidFill>
                <a:latin typeface="Calibri"/>
                <a:cs typeface="Calibri"/>
              </a:rPr>
              <a:t>VARCHAR,</a:t>
            </a:r>
            <a:endParaRPr sz="500">
              <a:latin typeface="Calibri"/>
              <a:cs typeface="Calibri"/>
            </a:endParaRPr>
          </a:p>
          <a:p>
            <a:pPr marL="79375">
              <a:lnSpc>
                <a:spcPts val="535"/>
              </a:lnSpc>
            </a:pP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timestamp</a:t>
            </a:r>
            <a:r>
              <a:rPr dirty="0" sz="500" spc="26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TIMESTAMP,</a:t>
            </a:r>
            <a:r>
              <a:rPr dirty="0" sz="500" spc="26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notes</a:t>
            </a:r>
            <a:r>
              <a:rPr dirty="0" sz="500" spc="26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>
                <a:solidFill>
                  <a:srgbClr val="333333"/>
                </a:solidFill>
                <a:latin typeface="Calibri"/>
                <a:cs typeface="Calibri"/>
              </a:rPr>
              <a:t>TEXT</a:t>
            </a:r>
            <a:r>
              <a:rPr dirty="0" sz="500" spc="26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dirty="0" sz="500" spc="95">
                <a:solidFill>
                  <a:srgbClr val="333333"/>
                </a:solidFill>
                <a:latin typeface="Calibri"/>
                <a:cs typeface="Calibri"/>
              </a:rPr>
              <a:t>);</a:t>
            </a:r>
            <a:endParaRPr sz="500">
              <a:latin typeface="Calibri"/>
              <a:cs typeface="Calibri"/>
            </a:endParaRPr>
          </a:p>
        </p:txBody>
      </p:sp>
      <p:sp>
        <p:nvSpPr>
          <p:cNvPr id="42" name="object 42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dirty="0" spc="-25"/>
              <a:t>2</a:t>
            </a:fld>
            <a:r>
              <a:rPr dirty="0" spc="-25"/>
              <a:t>/5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7297" y="154111"/>
            <a:ext cx="144462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spc="-65" b="1">
                <a:solidFill>
                  <a:srgbClr val="FFFFFF"/>
                </a:solidFill>
                <a:latin typeface="Tahoma"/>
                <a:cs typeface="Tahoma"/>
              </a:rPr>
              <a:t>System</a:t>
            </a:r>
            <a:r>
              <a:rPr dirty="0" sz="1200" spc="-15" b="1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200" spc="-60" b="1">
                <a:solidFill>
                  <a:srgbClr val="FFFFFF"/>
                </a:solidFill>
                <a:latin typeface="Tahoma"/>
                <a:cs typeface="Tahoma"/>
              </a:rPr>
              <a:t>Architecture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53644" y="411307"/>
            <a:ext cx="5046345" cy="2623820"/>
            <a:chOff x="353644" y="411307"/>
            <a:chExt cx="5046345" cy="262382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9994" y="411307"/>
              <a:ext cx="5039909" cy="246514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3644" y="2911233"/>
              <a:ext cx="123825" cy="123825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500226" y="2889435"/>
            <a:ext cx="2427605" cy="1625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90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Click</a:t>
            </a:r>
            <a:r>
              <a:rPr dirty="0" sz="900" spc="-15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 </a:t>
            </a:r>
            <a:r>
              <a:rPr dirty="0" sz="900" spc="-3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here</a:t>
            </a:r>
            <a:r>
              <a:rPr dirty="0" sz="900" spc="-1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 </a:t>
            </a:r>
            <a:r>
              <a:rPr dirty="0" sz="90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for</a:t>
            </a:r>
            <a:r>
              <a:rPr dirty="0" sz="900" spc="-1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 </a:t>
            </a:r>
            <a:r>
              <a:rPr dirty="0" sz="900" spc="-2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full-</a:t>
            </a:r>
            <a:r>
              <a:rPr dirty="0" sz="90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resolution</a:t>
            </a:r>
            <a:r>
              <a:rPr dirty="0" sz="900" spc="-15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 </a:t>
            </a:r>
            <a:r>
              <a:rPr dirty="0" sz="900" spc="-1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architecture diagram</a:t>
            </a:r>
            <a:endParaRPr sz="9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0" y="3060001"/>
            <a:ext cx="5760085" cy="180340"/>
          </a:xfrm>
          <a:custGeom>
            <a:avLst/>
            <a:gdLst/>
            <a:ahLst/>
            <a:cxnLst/>
            <a:rect l="l" t="t" r="r" b="b"/>
            <a:pathLst>
              <a:path w="5760085" h="180339">
                <a:moveTo>
                  <a:pt x="5759996" y="0"/>
                </a:moveTo>
                <a:lnTo>
                  <a:pt x="0" y="0"/>
                </a:lnTo>
                <a:lnTo>
                  <a:pt x="0" y="179997"/>
                </a:lnTo>
                <a:lnTo>
                  <a:pt x="5759996" y="179997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dirty="0" spc="-25"/>
              <a:t>2</a:t>
            </a:fld>
            <a:r>
              <a:rPr dirty="0" spc="-25"/>
              <a:t>/5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67297" y="154111"/>
            <a:ext cx="3128010" cy="207645"/>
          </a:xfrm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-20"/>
              <a:t>Why</a:t>
            </a:r>
            <a:r>
              <a:rPr dirty="0" spc="-35"/>
              <a:t> These</a:t>
            </a:r>
            <a:r>
              <a:rPr dirty="0" spc="-20"/>
              <a:t> </a:t>
            </a:r>
            <a:r>
              <a:rPr dirty="0" spc="-50"/>
              <a:t>Choices</a:t>
            </a:r>
            <a:r>
              <a:rPr dirty="0" spc="-15"/>
              <a:t> </a:t>
            </a:r>
            <a:r>
              <a:rPr dirty="0" spc="-55"/>
              <a:t>Work</a:t>
            </a:r>
            <a:r>
              <a:rPr dirty="0" spc="-20"/>
              <a:t> </a:t>
            </a:r>
            <a:r>
              <a:rPr dirty="0" spc="-55"/>
              <a:t>for</a:t>
            </a:r>
            <a:r>
              <a:rPr dirty="0" spc="-15"/>
              <a:t> </a:t>
            </a:r>
            <a:r>
              <a:rPr dirty="0" spc="-85"/>
              <a:t>Kahawa</a:t>
            </a:r>
            <a:r>
              <a:rPr dirty="0" spc="-5"/>
              <a:t> </a:t>
            </a:r>
            <a:r>
              <a:rPr dirty="0" spc="-25"/>
              <a:t>Roots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7213" y="500240"/>
            <a:ext cx="63500" cy="889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49757" y="683907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49757" y="1082459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49757" y="1481010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49757" y="1879574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04038" y="2144407"/>
            <a:ext cx="107949" cy="107950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49757" y="2337600"/>
            <a:ext cx="65265" cy="6526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49757" y="2736151"/>
            <a:ext cx="65265" cy="65265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394923" y="421424"/>
            <a:ext cx="2343150" cy="2536190"/>
          </a:xfrm>
          <a:prstGeom prst="rect">
            <a:avLst/>
          </a:prstGeom>
        </p:spPr>
        <p:txBody>
          <a:bodyPr wrap="square" lIns="0" tIns="5969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70"/>
              </a:spcBef>
            </a:pPr>
            <a:r>
              <a:rPr dirty="0" sz="800" spc="-30" b="1">
                <a:solidFill>
                  <a:srgbClr val="333333"/>
                </a:solidFill>
                <a:latin typeface="Tahoma"/>
                <a:cs typeface="Tahoma"/>
              </a:rPr>
              <a:t>Cheap</a:t>
            </a:r>
            <a:r>
              <a:rPr dirty="0" sz="800" spc="-2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333333"/>
                </a:solidFill>
                <a:latin typeface="Tahoma"/>
                <a:cs typeface="Tahoma"/>
              </a:rPr>
              <a:t>at</a:t>
            </a:r>
            <a:r>
              <a:rPr dirty="0" sz="800" spc="-2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35" b="1">
                <a:solidFill>
                  <a:srgbClr val="333333"/>
                </a:solidFill>
                <a:latin typeface="Tahoma"/>
                <a:cs typeface="Tahoma"/>
              </a:rPr>
              <a:t>Small</a:t>
            </a:r>
            <a:r>
              <a:rPr dirty="0" sz="800" spc="-1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10" b="1">
                <a:solidFill>
                  <a:srgbClr val="333333"/>
                </a:solidFill>
                <a:latin typeface="Tahoma"/>
                <a:cs typeface="Tahoma"/>
              </a:rPr>
              <a:t>Scale</a:t>
            </a:r>
            <a:endParaRPr sz="800">
              <a:latin typeface="Tahoma"/>
              <a:cs typeface="Tahoma"/>
            </a:endParaRPr>
          </a:p>
          <a:p>
            <a:pPr marL="189230" marR="5080">
              <a:lnSpc>
                <a:spcPts val="950"/>
              </a:lnSpc>
              <a:spcBef>
                <a:spcPts val="409"/>
              </a:spcBef>
            </a:pPr>
            <a:r>
              <a:rPr dirty="0" sz="800" spc="-30" b="1">
                <a:solidFill>
                  <a:srgbClr val="654320"/>
                </a:solidFill>
                <a:latin typeface="Tahoma"/>
                <a:cs typeface="Tahoma"/>
              </a:rPr>
              <a:t>Cloud</a:t>
            </a:r>
            <a:r>
              <a:rPr dirty="0" sz="800" spc="1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30" b="1">
                <a:solidFill>
                  <a:srgbClr val="654320"/>
                </a:solidFill>
                <a:latin typeface="Tahoma"/>
                <a:cs typeface="Tahoma"/>
              </a:rPr>
              <a:t>Run</a:t>
            </a:r>
            <a:r>
              <a:rPr dirty="0" sz="800" spc="1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35">
                <a:solidFill>
                  <a:srgbClr val="333333"/>
                </a:solidFill>
                <a:latin typeface="Arial MT"/>
                <a:cs typeface="Arial MT"/>
              </a:rPr>
              <a:t>scales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to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zero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when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nobody’s using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it,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you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pay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nothing.</a:t>
            </a:r>
            <a:r>
              <a:rPr dirty="0" sz="800" spc="1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No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idle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infrastructure costs.</a:t>
            </a:r>
            <a:endParaRPr sz="800">
              <a:latin typeface="Arial MT"/>
              <a:cs typeface="Arial MT"/>
            </a:endParaRPr>
          </a:p>
          <a:p>
            <a:pPr marL="189230" marR="27305">
              <a:lnSpc>
                <a:spcPts val="950"/>
              </a:lnSpc>
              <a:spcBef>
                <a:spcPts val="285"/>
              </a:spcBef>
            </a:pPr>
            <a:r>
              <a:rPr dirty="0" sz="800" spc="-30" b="1">
                <a:solidFill>
                  <a:srgbClr val="654320"/>
                </a:solidFill>
                <a:latin typeface="Tahoma"/>
                <a:cs typeface="Tahoma"/>
              </a:rPr>
              <a:t>Cloud</a:t>
            </a:r>
            <a:r>
              <a:rPr dirty="0" sz="80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45" b="1">
                <a:solidFill>
                  <a:srgbClr val="654320"/>
                </a:solidFill>
                <a:latin typeface="Tahoma"/>
                <a:cs typeface="Tahoma"/>
              </a:rPr>
              <a:t>Functions</a:t>
            </a:r>
            <a:r>
              <a:rPr dirty="0" sz="80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only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run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when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data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arrives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5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 a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few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pence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per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execution,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not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a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monthly</a:t>
            </a:r>
            <a:r>
              <a:rPr dirty="0" sz="800" spc="50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server</a:t>
            </a:r>
            <a:r>
              <a:rPr dirty="0" sz="800" spc="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bill.</a:t>
            </a:r>
            <a:endParaRPr sz="800">
              <a:latin typeface="Arial MT"/>
              <a:cs typeface="Arial MT"/>
            </a:endParaRPr>
          </a:p>
          <a:p>
            <a:pPr marL="189230">
              <a:lnSpc>
                <a:spcPts val="955"/>
              </a:lnSpc>
              <a:spcBef>
                <a:spcPts val="250"/>
              </a:spcBef>
            </a:pPr>
            <a:r>
              <a:rPr dirty="0" sz="800" b="1">
                <a:solidFill>
                  <a:srgbClr val="654320"/>
                </a:solidFill>
                <a:latin typeface="Tahoma"/>
                <a:cs typeface="Tahoma"/>
              </a:rPr>
              <a:t>GCP</a:t>
            </a:r>
            <a:r>
              <a:rPr dirty="0" sz="800" spc="4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eligible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for</a:t>
            </a:r>
            <a:r>
              <a:rPr dirty="0" sz="800" spc="6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startup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credits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(up</a:t>
            </a:r>
            <a:r>
              <a:rPr dirty="0" sz="800" spc="6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to</a:t>
            </a:r>
            <a:endParaRPr sz="800">
              <a:latin typeface="Arial MT"/>
              <a:cs typeface="Arial MT"/>
            </a:endParaRPr>
          </a:p>
          <a:p>
            <a:pPr marL="189230" marR="178435">
              <a:lnSpc>
                <a:spcPts val="950"/>
              </a:lnSpc>
              <a:spcBef>
                <a:spcPts val="35"/>
              </a:spcBef>
            </a:pPr>
            <a:r>
              <a:rPr dirty="0" sz="800">
                <a:solidFill>
                  <a:srgbClr val="333333"/>
                </a:solidFill>
                <a:latin typeface="Segoe UI"/>
                <a:cs typeface="Segoe UI"/>
              </a:rPr>
              <a:t>$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200K).</a:t>
            </a:r>
            <a:r>
              <a:rPr dirty="0" sz="800" spc="5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The</a:t>
            </a:r>
            <a:r>
              <a:rPr dirty="0" sz="800" spc="5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platform</a:t>
            </a:r>
            <a:r>
              <a:rPr dirty="0" sz="800" spc="5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could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run</a:t>
            </a:r>
            <a:r>
              <a:rPr dirty="0" sz="800" spc="5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for</a:t>
            </a:r>
            <a:r>
              <a:rPr dirty="0" sz="800" spc="5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months before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costing</a:t>
            </a:r>
            <a:r>
              <a:rPr dirty="0" sz="800" spc="-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anything.</a:t>
            </a:r>
            <a:endParaRPr sz="800">
              <a:latin typeface="Arial MT"/>
              <a:cs typeface="Arial MT"/>
            </a:endParaRPr>
          </a:p>
          <a:p>
            <a:pPr marL="189230" marR="59690">
              <a:lnSpc>
                <a:spcPts val="950"/>
              </a:lnSpc>
              <a:spcBef>
                <a:spcPts val="290"/>
              </a:spcBef>
            </a:pPr>
            <a:r>
              <a:rPr dirty="0" sz="800" spc="-35" b="1">
                <a:solidFill>
                  <a:srgbClr val="654320"/>
                </a:solidFill>
                <a:latin typeface="Tahoma"/>
                <a:cs typeface="Tahoma"/>
              </a:rPr>
              <a:t>PostgreSQL</a:t>
            </a:r>
            <a:r>
              <a:rPr dirty="0" sz="800" spc="3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5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free-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tier</a:t>
            </a:r>
            <a:r>
              <a:rPr dirty="0" sz="800" spc="5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eligible,</a:t>
            </a:r>
            <a:r>
              <a:rPr dirty="0" sz="800" spc="5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battle-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tested,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no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licensing</a:t>
            </a:r>
            <a:r>
              <a:rPr dirty="0" sz="800" spc="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fees.</a:t>
            </a:r>
            <a:endParaRPr sz="800">
              <a:latin typeface="Arial MT"/>
              <a:cs typeface="Arial MT"/>
            </a:endParaRPr>
          </a:p>
          <a:p>
            <a:pPr marL="50165">
              <a:lnSpc>
                <a:spcPct val="100000"/>
              </a:lnSpc>
              <a:spcBef>
                <a:spcPts val="335"/>
              </a:spcBef>
            </a:pPr>
            <a:r>
              <a:rPr dirty="0" sz="800" spc="-30" b="1">
                <a:solidFill>
                  <a:srgbClr val="333333"/>
                </a:solidFill>
                <a:latin typeface="Tahoma"/>
                <a:cs typeface="Tahoma"/>
              </a:rPr>
              <a:t>Easy</a:t>
            </a:r>
            <a:r>
              <a:rPr dirty="0" sz="800" spc="-2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333333"/>
                </a:solidFill>
                <a:latin typeface="Tahoma"/>
                <a:cs typeface="Tahoma"/>
              </a:rPr>
              <a:t>to</a:t>
            </a:r>
            <a:r>
              <a:rPr dirty="0" sz="800" spc="-2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10" b="1">
                <a:solidFill>
                  <a:srgbClr val="333333"/>
                </a:solidFill>
                <a:latin typeface="Tahoma"/>
                <a:cs typeface="Tahoma"/>
              </a:rPr>
              <a:t>Maintain</a:t>
            </a:r>
            <a:endParaRPr sz="800">
              <a:latin typeface="Tahoma"/>
              <a:cs typeface="Tahoma"/>
            </a:endParaRPr>
          </a:p>
          <a:p>
            <a:pPr marL="189230" marR="42545">
              <a:lnSpc>
                <a:spcPts val="950"/>
              </a:lnSpc>
              <a:spcBef>
                <a:spcPts val="409"/>
              </a:spcBef>
            </a:pPr>
            <a:r>
              <a:rPr dirty="0" sz="800" b="1">
                <a:solidFill>
                  <a:srgbClr val="654320"/>
                </a:solidFill>
                <a:latin typeface="Tahoma"/>
                <a:cs typeface="Tahoma"/>
              </a:rPr>
              <a:t>3</a:t>
            </a:r>
            <a:r>
              <a:rPr dirty="0" sz="800" spc="3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50" b="1">
                <a:solidFill>
                  <a:srgbClr val="654320"/>
                </a:solidFill>
                <a:latin typeface="Tahoma"/>
                <a:cs typeface="Tahoma"/>
              </a:rPr>
              <a:t>small</a:t>
            </a:r>
            <a:r>
              <a:rPr dirty="0" sz="800" spc="3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55" b="1">
                <a:solidFill>
                  <a:srgbClr val="654320"/>
                </a:solidFill>
                <a:latin typeface="Tahoma"/>
                <a:cs typeface="Tahoma"/>
              </a:rPr>
              <a:t>apps</a:t>
            </a:r>
            <a:r>
              <a:rPr dirty="0" sz="800" spc="2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instead</a:t>
            </a:r>
            <a:r>
              <a:rPr dirty="0" sz="800" spc="4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of</a:t>
            </a:r>
            <a:r>
              <a:rPr dirty="0" sz="800" spc="3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1</a:t>
            </a:r>
            <a:r>
              <a:rPr dirty="0" sz="800" spc="4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big</a:t>
            </a:r>
            <a:r>
              <a:rPr dirty="0" sz="800" spc="3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one</a:t>
            </a:r>
            <a:r>
              <a:rPr dirty="0" sz="800" spc="4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4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if</a:t>
            </a:r>
            <a:r>
              <a:rPr dirty="0" sz="800" spc="3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the</a:t>
            </a:r>
            <a:r>
              <a:rPr dirty="0" sz="800" spc="4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QR</a:t>
            </a:r>
            <a:r>
              <a:rPr dirty="0" sz="800" spc="50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page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40">
                <a:solidFill>
                  <a:srgbClr val="333333"/>
                </a:solidFill>
                <a:latin typeface="Arial MT"/>
                <a:cs typeface="Arial MT"/>
              </a:rPr>
              <a:t>needs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updating,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the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admin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panel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stays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untouched.</a:t>
            </a:r>
            <a:endParaRPr sz="800">
              <a:latin typeface="Arial MT"/>
              <a:cs typeface="Arial MT"/>
            </a:endParaRPr>
          </a:p>
          <a:p>
            <a:pPr marL="189230" marR="19050">
              <a:lnSpc>
                <a:spcPts val="950"/>
              </a:lnSpc>
              <a:spcBef>
                <a:spcPts val="290"/>
              </a:spcBef>
            </a:pPr>
            <a:r>
              <a:rPr dirty="0" sz="800" spc="-65" b="1">
                <a:solidFill>
                  <a:srgbClr val="654320"/>
                </a:solidFill>
                <a:latin typeface="Tahoma"/>
                <a:cs typeface="Tahoma"/>
              </a:rPr>
              <a:t>Infra</a:t>
            </a:r>
            <a:r>
              <a:rPr dirty="0" sz="800" spc="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35" b="1">
                <a:solidFill>
                  <a:srgbClr val="654320"/>
                </a:solidFill>
                <a:latin typeface="Tahoma"/>
                <a:cs typeface="Tahoma"/>
              </a:rPr>
              <a:t>as</a:t>
            </a:r>
            <a:r>
              <a:rPr dirty="0" sz="800" spc="1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35" b="1">
                <a:solidFill>
                  <a:srgbClr val="654320"/>
                </a:solidFill>
                <a:latin typeface="Tahoma"/>
                <a:cs typeface="Tahoma"/>
              </a:rPr>
              <a:t>code</a:t>
            </a:r>
            <a:r>
              <a:rPr dirty="0" sz="80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the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entire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system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is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defined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in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 config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files.</a:t>
            </a:r>
            <a:r>
              <a:rPr dirty="0" sz="800" spc="10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If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something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breaks,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one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command</a:t>
            </a:r>
            <a:endParaRPr sz="800">
              <a:latin typeface="Arial MT"/>
              <a:cs typeface="Arial MT"/>
            </a:endParaRPr>
          </a:p>
        </p:txBody>
      </p:sp>
      <p:pic>
        <p:nvPicPr>
          <p:cNvPr id="12" name="object 1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3033610" y="500214"/>
            <a:ext cx="88900" cy="101600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176155" y="690232"/>
            <a:ext cx="65265" cy="65265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3176155" y="1208989"/>
            <a:ext cx="65265" cy="65265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3176155" y="1607540"/>
            <a:ext cx="65265" cy="65265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3176155" y="2006091"/>
            <a:ext cx="65265" cy="65265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3033610" y="2407005"/>
            <a:ext cx="101600" cy="762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3176155" y="2584322"/>
            <a:ext cx="65265" cy="65265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3176155" y="2862668"/>
            <a:ext cx="65265" cy="65265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3146626" y="427748"/>
            <a:ext cx="2319020" cy="2536190"/>
          </a:xfrm>
          <a:prstGeom prst="rect">
            <a:avLst/>
          </a:prstGeom>
        </p:spPr>
        <p:txBody>
          <a:bodyPr wrap="square" lIns="0" tIns="5969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70"/>
              </a:spcBef>
            </a:pPr>
            <a:r>
              <a:rPr dirty="0" sz="800" spc="-30" b="1">
                <a:solidFill>
                  <a:srgbClr val="333333"/>
                </a:solidFill>
                <a:latin typeface="Tahoma"/>
                <a:cs typeface="Tahoma"/>
              </a:rPr>
              <a:t>Safe</a:t>
            </a:r>
            <a:r>
              <a:rPr dirty="0" sz="800" spc="30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b="1">
                <a:solidFill>
                  <a:srgbClr val="333333"/>
                </a:solidFill>
                <a:latin typeface="Tahoma"/>
                <a:cs typeface="Tahoma"/>
              </a:rPr>
              <a:t>&amp;</a:t>
            </a:r>
            <a:r>
              <a:rPr dirty="0" sz="800" spc="3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10" b="1">
                <a:solidFill>
                  <a:srgbClr val="333333"/>
                </a:solidFill>
                <a:latin typeface="Tahoma"/>
                <a:cs typeface="Tahoma"/>
              </a:rPr>
              <a:t>Reliable</a:t>
            </a:r>
            <a:endParaRPr sz="800">
              <a:latin typeface="Tahoma"/>
              <a:cs typeface="Tahoma"/>
            </a:endParaRPr>
          </a:p>
          <a:p>
            <a:pPr marL="163830" marR="99695">
              <a:lnSpc>
                <a:spcPts val="950"/>
              </a:lnSpc>
              <a:spcBef>
                <a:spcPts val="409"/>
              </a:spcBef>
            </a:pPr>
            <a:r>
              <a:rPr dirty="0" sz="800" spc="-55" b="1">
                <a:solidFill>
                  <a:srgbClr val="654320"/>
                </a:solidFill>
                <a:latin typeface="Tahoma"/>
                <a:cs typeface="Tahoma"/>
              </a:rPr>
              <a:t>Raw</a:t>
            </a:r>
            <a:r>
              <a:rPr dirty="0" sz="80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30" b="1">
                <a:solidFill>
                  <a:srgbClr val="654320"/>
                </a:solidFill>
                <a:latin typeface="Tahoma"/>
                <a:cs typeface="Tahoma"/>
              </a:rPr>
              <a:t>data</a:t>
            </a:r>
            <a:r>
              <a:rPr dirty="0" sz="800" spc="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10" b="1">
                <a:solidFill>
                  <a:srgbClr val="654320"/>
                </a:solidFill>
                <a:latin typeface="Tahoma"/>
                <a:cs typeface="Tahoma"/>
              </a:rPr>
              <a:t>is</a:t>
            </a:r>
            <a:r>
              <a:rPr dirty="0" sz="800" spc="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60" b="1">
                <a:solidFill>
                  <a:srgbClr val="654320"/>
                </a:solidFill>
                <a:latin typeface="Tahoma"/>
                <a:cs typeface="Tahoma"/>
              </a:rPr>
              <a:t>never</a:t>
            </a:r>
            <a:r>
              <a:rPr dirty="0" sz="800" spc="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45" b="1">
                <a:solidFill>
                  <a:srgbClr val="654320"/>
                </a:solidFill>
                <a:latin typeface="Tahoma"/>
                <a:cs typeface="Tahoma"/>
              </a:rPr>
              <a:t>deleted</a:t>
            </a:r>
            <a:r>
              <a:rPr dirty="0" sz="80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every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CSV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and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 form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submission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is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backed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up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untouched.</a:t>
            </a:r>
            <a:r>
              <a:rPr dirty="0" sz="800" spc="9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If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 anything</a:t>
            </a:r>
            <a:r>
              <a:rPr dirty="0" sz="800" spc="1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30">
                <a:solidFill>
                  <a:srgbClr val="333333"/>
                </a:solidFill>
                <a:latin typeface="Arial MT"/>
                <a:cs typeface="Arial MT"/>
              </a:rPr>
              <a:t>goes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wrong,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the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original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data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is</a:t>
            </a:r>
            <a:r>
              <a:rPr dirty="0" sz="800" spc="50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always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there.</a:t>
            </a:r>
            <a:endParaRPr sz="800">
              <a:latin typeface="Arial MT"/>
              <a:cs typeface="Arial MT"/>
            </a:endParaRPr>
          </a:p>
          <a:p>
            <a:pPr marL="163830" marR="5080">
              <a:lnSpc>
                <a:spcPts val="950"/>
              </a:lnSpc>
              <a:spcBef>
                <a:spcPts val="285"/>
              </a:spcBef>
            </a:pPr>
            <a:r>
              <a:rPr dirty="0" sz="800" spc="-55" b="1">
                <a:solidFill>
                  <a:srgbClr val="654320"/>
                </a:solidFill>
                <a:latin typeface="Tahoma"/>
                <a:cs typeface="Tahoma"/>
              </a:rPr>
              <a:t>Two-</a:t>
            </a:r>
            <a:r>
              <a:rPr dirty="0" sz="800" spc="-40" b="1">
                <a:solidFill>
                  <a:srgbClr val="654320"/>
                </a:solidFill>
                <a:latin typeface="Tahoma"/>
                <a:cs typeface="Tahoma"/>
              </a:rPr>
              <a:t>step</a:t>
            </a:r>
            <a:r>
              <a:rPr dirty="0" sz="800" spc="3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45" b="1">
                <a:solidFill>
                  <a:srgbClr val="654320"/>
                </a:solidFill>
                <a:latin typeface="Tahoma"/>
                <a:cs typeface="Tahoma"/>
              </a:rPr>
              <a:t>validation</a:t>
            </a:r>
            <a:r>
              <a:rPr dirty="0" sz="800" spc="2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4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data</a:t>
            </a:r>
            <a:r>
              <a:rPr dirty="0" sz="800" spc="4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is</a:t>
            </a:r>
            <a:r>
              <a:rPr dirty="0" sz="800" spc="3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30">
                <a:solidFill>
                  <a:srgbClr val="333333"/>
                </a:solidFill>
                <a:latin typeface="Arial MT"/>
                <a:cs typeface="Arial MT"/>
              </a:rPr>
              <a:t>checked</a:t>
            </a:r>
            <a:r>
              <a:rPr dirty="0" sz="800" spc="4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at</a:t>
            </a:r>
            <a:r>
              <a:rPr dirty="0" sz="800" spc="50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entry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i="1">
                <a:solidFill>
                  <a:srgbClr val="333333"/>
                </a:solidFill>
                <a:latin typeface="Arial"/>
                <a:cs typeface="Arial"/>
              </a:rPr>
              <a:t>and</a:t>
            </a:r>
            <a:r>
              <a:rPr dirty="0" sz="800" spc="85" i="1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again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before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50">
                <a:solidFill>
                  <a:srgbClr val="333333"/>
                </a:solidFill>
                <a:latin typeface="Arial MT"/>
                <a:cs typeface="Arial MT"/>
              </a:rPr>
              <a:t>it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35">
                <a:solidFill>
                  <a:srgbClr val="333333"/>
                </a:solidFill>
                <a:latin typeface="Arial MT"/>
                <a:cs typeface="Arial MT"/>
              </a:rPr>
              <a:t>reaches</a:t>
            </a:r>
            <a:r>
              <a:rPr dirty="0" sz="800" spc="2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the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database.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Bad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 rows</a:t>
            </a:r>
            <a:r>
              <a:rPr dirty="0" sz="800" spc="-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are</a:t>
            </a:r>
            <a:r>
              <a:rPr dirty="0" sz="800" spc="-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rejected</a:t>
            </a:r>
            <a:r>
              <a:rPr dirty="0" sz="800" spc="-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with</a:t>
            </a:r>
            <a:r>
              <a:rPr dirty="0" sz="800" spc="-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clear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 error </a:t>
            </a:r>
            <a:r>
              <a:rPr dirty="0" sz="800" spc="-50">
                <a:solidFill>
                  <a:srgbClr val="333333"/>
                </a:solidFill>
                <a:latin typeface="Arial MT"/>
                <a:cs typeface="Arial MT"/>
              </a:rPr>
              <a:t>messages.</a:t>
            </a:r>
            <a:endParaRPr sz="800">
              <a:latin typeface="Arial MT"/>
              <a:cs typeface="Arial MT"/>
            </a:endParaRPr>
          </a:p>
          <a:p>
            <a:pPr marL="163830" marR="94615">
              <a:lnSpc>
                <a:spcPts val="950"/>
              </a:lnSpc>
              <a:spcBef>
                <a:spcPts val="285"/>
              </a:spcBef>
            </a:pPr>
            <a:r>
              <a:rPr dirty="0" sz="800" spc="-75" b="1">
                <a:solidFill>
                  <a:srgbClr val="654320"/>
                </a:solidFill>
                <a:latin typeface="Tahoma"/>
                <a:cs typeface="Tahoma"/>
              </a:rPr>
              <a:t>Passwords</a:t>
            </a:r>
            <a:r>
              <a:rPr dirty="0" sz="800" spc="5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55" b="1">
                <a:solidFill>
                  <a:srgbClr val="654320"/>
                </a:solidFill>
                <a:latin typeface="Tahoma"/>
                <a:cs typeface="Tahoma"/>
              </a:rPr>
              <a:t>stored</a:t>
            </a:r>
            <a:r>
              <a:rPr dirty="0" sz="800" spc="5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55" b="1">
                <a:solidFill>
                  <a:srgbClr val="654320"/>
                </a:solidFill>
                <a:latin typeface="Tahoma"/>
                <a:cs typeface="Tahoma"/>
              </a:rPr>
              <a:t>securely</a:t>
            </a:r>
            <a:r>
              <a:rPr dirty="0" sz="800" spc="4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database credentials</a:t>
            </a:r>
            <a:r>
              <a:rPr dirty="0" sz="800" spc="3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and</a:t>
            </a:r>
            <a:r>
              <a:rPr dirty="0" sz="800" spc="3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API</a:t>
            </a:r>
            <a:r>
              <a:rPr dirty="0" sz="800" spc="3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keys</a:t>
            </a:r>
            <a:r>
              <a:rPr dirty="0" sz="800" spc="3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live</a:t>
            </a:r>
            <a:r>
              <a:rPr dirty="0" sz="800" spc="3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in</a:t>
            </a:r>
            <a:r>
              <a:rPr dirty="0" sz="800" spc="3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a</a:t>
            </a:r>
            <a:r>
              <a:rPr dirty="0" sz="800" spc="3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vault,</a:t>
            </a:r>
            <a:r>
              <a:rPr dirty="0" sz="800" spc="3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30">
                <a:solidFill>
                  <a:srgbClr val="333333"/>
                </a:solidFill>
                <a:latin typeface="Arial MT"/>
                <a:cs typeface="Arial MT"/>
              </a:rPr>
              <a:t>never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 in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the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code.</a:t>
            </a:r>
            <a:endParaRPr sz="800">
              <a:latin typeface="Arial MT"/>
              <a:cs typeface="Arial MT"/>
            </a:endParaRPr>
          </a:p>
          <a:p>
            <a:pPr marL="163830" marR="75565">
              <a:lnSpc>
                <a:spcPts val="950"/>
              </a:lnSpc>
              <a:spcBef>
                <a:spcPts val="290"/>
              </a:spcBef>
            </a:pPr>
            <a:r>
              <a:rPr dirty="0" sz="800" b="1">
                <a:solidFill>
                  <a:srgbClr val="654320"/>
                </a:solidFill>
                <a:latin typeface="Tahoma"/>
                <a:cs typeface="Tahoma"/>
              </a:rPr>
              <a:t>UK</a:t>
            </a:r>
            <a:r>
              <a:rPr dirty="0" sz="800" spc="4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30" b="1">
                <a:solidFill>
                  <a:srgbClr val="654320"/>
                </a:solidFill>
                <a:latin typeface="Tahoma"/>
                <a:cs typeface="Tahoma"/>
              </a:rPr>
              <a:t>data</a:t>
            </a:r>
            <a:r>
              <a:rPr dirty="0" sz="800" spc="4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45" b="1">
                <a:solidFill>
                  <a:srgbClr val="654320"/>
                </a:solidFill>
                <a:latin typeface="Tahoma"/>
                <a:cs typeface="Tahoma"/>
              </a:rPr>
              <a:t>centre</a:t>
            </a:r>
            <a:r>
              <a:rPr dirty="0" sz="800" spc="3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5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everything</a:t>
            </a:r>
            <a:r>
              <a:rPr dirty="0" sz="800" spc="4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runs</a:t>
            </a:r>
            <a:r>
              <a:rPr dirty="0" sz="800" spc="4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in</a:t>
            </a:r>
            <a:r>
              <a:rPr dirty="0" sz="800" spc="4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London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(europe-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west2).</a:t>
            </a:r>
            <a:r>
              <a:rPr dirty="0" sz="800" spc="15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Data</a:t>
            </a:r>
            <a:r>
              <a:rPr dirty="0" sz="800" spc="5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stays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in</a:t>
            </a:r>
            <a:r>
              <a:rPr dirty="0" sz="800" spc="5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the</a:t>
            </a:r>
            <a:r>
              <a:rPr dirty="0" sz="800" spc="6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UK,</a:t>
            </a:r>
            <a:endParaRPr sz="800">
              <a:latin typeface="Arial MT"/>
              <a:cs typeface="Arial MT"/>
            </a:endParaRPr>
          </a:p>
          <a:p>
            <a:pPr marL="163830">
              <a:lnSpc>
                <a:spcPts val="915"/>
              </a:lnSpc>
            </a:pP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GDPR-friendly.</a:t>
            </a:r>
            <a:endParaRPr sz="800">
              <a:latin typeface="Arial MT"/>
              <a:cs typeface="Arial MT"/>
            </a:endParaRPr>
          </a:p>
          <a:p>
            <a:pPr marL="24765">
              <a:lnSpc>
                <a:spcPct val="100000"/>
              </a:lnSpc>
              <a:spcBef>
                <a:spcPts val="370"/>
              </a:spcBef>
            </a:pPr>
            <a:r>
              <a:rPr dirty="0" sz="800" spc="-40" b="1">
                <a:solidFill>
                  <a:srgbClr val="333333"/>
                </a:solidFill>
                <a:latin typeface="Tahoma"/>
                <a:cs typeface="Tahoma"/>
              </a:rPr>
              <a:t>Scales</a:t>
            </a:r>
            <a:r>
              <a:rPr dirty="0" sz="800" spc="-1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35" b="1">
                <a:solidFill>
                  <a:srgbClr val="333333"/>
                </a:solidFill>
                <a:latin typeface="Tahoma"/>
                <a:cs typeface="Tahoma"/>
              </a:rPr>
              <a:t>When</a:t>
            </a:r>
            <a:r>
              <a:rPr dirty="0" sz="800" spc="-15" b="1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dirty="0" sz="800" spc="-35" b="1">
                <a:solidFill>
                  <a:srgbClr val="333333"/>
                </a:solidFill>
                <a:latin typeface="Tahoma"/>
                <a:cs typeface="Tahoma"/>
              </a:rPr>
              <a:t>You’re</a:t>
            </a:r>
            <a:r>
              <a:rPr dirty="0" sz="800" spc="-10" b="1">
                <a:solidFill>
                  <a:srgbClr val="333333"/>
                </a:solidFill>
                <a:latin typeface="Tahoma"/>
                <a:cs typeface="Tahoma"/>
              </a:rPr>
              <a:t> Ready</a:t>
            </a:r>
            <a:endParaRPr sz="800">
              <a:latin typeface="Tahoma"/>
              <a:cs typeface="Tahoma"/>
            </a:endParaRPr>
          </a:p>
          <a:p>
            <a:pPr marL="163830" marR="70485">
              <a:lnSpc>
                <a:spcPts val="950"/>
              </a:lnSpc>
              <a:spcBef>
                <a:spcPts val="409"/>
              </a:spcBef>
            </a:pPr>
            <a:r>
              <a:rPr dirty="0" sz="800" spc="-30" b="1">
                <a:solidFill>
                  <a:srgbClr val="654320"/>
                </a:solidFill>
                <a:latin typeface="Tahoma"/>
                <a:cs typeface="Tahoma"/>
              </a:rPr>
              <a:t>BigQuery</a:t>
            </a:r>
            <a:r>
              <a:rPr dirty="0" sz="800" spc="-1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ready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when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there’s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enough</a:t>
            </a:r>
            <a:r>
              <a:rPr dirty="0" sz="800" spc="1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data,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plug</a:t>
            </a:r>
            <a:r>
              <a:rPr dirty="0" sz="800" spc="4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in</a:t>
            </a:r>
            <a:r>
              <a:rPr dirty="0" sz="800" spc="5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analytics</a:t>
            </a:r>
            <a:r>
              <a:rPr dirty="0" sz="800" spc="5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without</a:t>
            </a:r>
            <a:r>
              <a:rPr dirty="0" sz="800" spc="5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rebuilding</a:t>
            </a:r>
            <a:r>
              <a:rPr dirty="0" sz="800" spc="5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anything.</a:t>
            </a:r>
            <a:endParaRPr sz="800">
              <a:latin typeface="Arial MT"/>
              <a:cs typeface="Arial MT"/>
            </a:endParaRPr>
          </a:p>
          <a:p>
            <a:pPr marL="163830">
              <a:lnSpc>
                <a:spcPct val="100000"/>
              </a:lnSpc>
              <a:spcBef>
                <a:spcPts val="250"/>
              </a:spcBef>
            </a:pPr>
            <a:r>
              <a:rPr dirty="0" sz="800" spc="-50" b="1">
                <a:solidFill>
                  <a:srgbClr val="654320"/>
                </a:solidFill>
                <a:latin typeface="Tahoma"/>
                <a:cs typeface="Tahoma"/>
              </a:rPr>
              <a:t>Dashboard</a:t>
            </a:r>
            <a:r>
              <a:rPr dirty="0" sz="800" spc="15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3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Looker</a:t>
            </a:r>
            <a:r>
              <a:rPr dirty="0" sz="800" spc="3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Studio</a:t>
            </a:r>
            <a:r>
              <a:rPr dirty="0" sz="800" spc="3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for</a:t>
            </a:r>
            <a:r>
              <a:rPr dirty="0" sz="800" spc="3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founders</a:t>
            </a:r>
            <a:r>
              <a:rPr dirty="0" sz="800" spc="3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to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0" y="3060001"/>
            <a:ext cx="5760085" cy="180340"/>
          </a:xfrm>
          <a:custGeom>
            <a:avLst/>
            <a:gdLst/>
            <a:ahLst/>
            <a:cxnLst/>
            <a:rect l="l" t="t" r="r" b="b"/>
            <a:pathLst>
              <a:path w="5760085" h="180339">
                <a:moveTo>
                  <a:pt x="5759996" y="0"/>
                </a:moveTo>
                <a:lnTo>
                  <a:pt x="0" y="0"/>
                </a:lnTo>
                <a:lnTo>
                  <a:pt x="0" y="179997"/>
                </a:lnTo>
                <a:lnTo>
                  <a:pt x="5759996" y="179997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 txBox="1"/>
          <p:nvPr/>
        </p:nvSpPr>
        <p:spPr>
          <a:xfrm>
            <a:off x="584301" y="3110081"/>
            <a:ext cx="2009139" cy="12509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ts val="890"/>
              </a:lnSpc>
            </a:pPr>
            <a:r>
              <a:rPr dirty="0" sz="800" spc="-45" b="1">
                <a:solidFill>
                  <a:srgbClr val="654320"/>
                </a:solidFill>
                <a:latin typeface="Tahoma"/>
                <a:cs typeface="Tahoma"/>
              </a:rPr>
              <a:t>Auto-deploy</a:t>
            </a:r>
            <a:r>
              <a:rPr dirty="0" sz="800" spc="20" b="1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dirty="0" sz="800" spc="3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push</a:t>
            </a:r>
            <a:r>
              <a:rPr dirty="0" sz="800" spc="4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code</a:t>
            </a:r>
            <a:r>
              <a:rPr dirty="0" sz="800" spc="3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155">
                <a:solidFill>
                  <a:srgbClr val="333333"/>
                </a:solidFill>
                <a:latin typeface="Segoe UI"/>
                <a:cs typeface="Segoe UI"/>
              </a:rPr>
              <a:t>→</a:t>
            </a:r>
            <a:r>
              <a:rPr dirty="0" sz="800" spc="35">
                <a:solidFill>
                  <a:srgbClr val="333333"/>
                </a:solidFill>
                <a:latin typeface="Segoe UI"/>
                <a:cs typeface="Segoe UI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it’s</a:t>
            </a:r>
            <a:r>
              <a:rPr dirty="0" sz="800" spc="4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tested</a:t>
            </a:r>
            <a:r>
              <a:rPr dirty="0" sz="800" spc="3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35">
                <a:solidFill>
                  <a:srgbClr val="333333"/>
                </a:solidFill>
                <a:latin typeface="Arial MT"/>
                <a:cs typeface="Arial MT"/>
              </a:rPr>
              <a:t>and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71601" y="2954613"/>
            <a:ext cx="499109" cy="128270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865"/>
              </a:lnSpc>
            </a:pPr>
            <a:r>
              <a:rPr dirty="0" sz="800" spc="-10">
                <a:solidFill>
                  <a:srgbClr val="333333"/>
                </a:solidFill>
                <a:latin typeface="Arial MT"/>
                <a:cs typeface="Arial MT"/>
              </a:rPr>
              <a:t>rebuilds</a:t>
            </a:r>
            <a:r>
              <a:rPr dirty="0" sz="800" spc="2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5">
                <a:solidFill>
                  <a:srgbClr val="333333"/>
                </a:solidFill>
                <a:latin typeface="Arial MT"/>
                <a:cs typeface="Arial MT"/>
              </a:rPr>
              <a:t>it.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297999" y="2960938"/>
            <a:ext cx="1911350" cy="128270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865"/>
              </a:lnSpc>
            </a:pPr>
            <a:r>
              <a:rPr dirty="0" sz="800" spc="-60">
                <a:solidFill>
                  <a:srgbClr val="333333"/>
                </a:solidFill>
                <a:latin typeface="Arial MT"/>
                <a:cs typeface="Arial MT"/>
              </a:rPr>
              <a:t>see</a:t>
            </a:r>
            <a:r>
              <a:rPr dirty="0" sz="800" spc="4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trends</a:t>
            </a:r>
            <a:r>
              <a:rPr dirty="0" sz="800" spc="5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without</a:t>
            </a:r>
            <a:r>
              <a:rPr dirty="0" sz="800" spc="4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touching</a:t>
            </a:r>
            <a:r>
              <a:rPr dirty="0" sz="800" spc="5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>
                <a:solidFill>
                  <a:srgbClr val="333333"/>
                </a:solidFill>
                <a:latin typeface="Arial MT"/>
                <a:cs typeface="Arial MT"/>
              </a:rPr>
              <a:t>the</a:t>
            </a:r>
            <a:r>
              <a:rPr dirty="0" sz="800" spc="45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dirty="0" sz="800" spc="-20">
                <a:solidFill>
                  <a:srgbClr val="333333"/>
                </a:solidFill>
                <a:latin typeface="Arial MT"/>
                <a:cs typeface="Arial MT"/>
              </a:rPr>
              <a:t>database.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dirty="0" spc="-25"/>
              <a:t>5</a:t>
            </a:fld>
            <a:r>
              <a:rPr dirty="0" spc="-25"/>
              <a:t>/5</a:t>
            </a:r>
          </a:p>
        </p:txBody>
      </p:sp>
    </p:spTree>
  </p:cSld>
  <p:clrMapOvr>
    <a:masterClrMapping/>
  </p:clrMapOvr>
  <p:transition spd="fast">
    <p:cut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185F3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Shree Hari Anbazhagan</dc:creator>
  <dc:title>Kahawa Roots   Traceability Platform — Pre-Interview Task - Tracking Coffee from Kenya's Farms to the UK</dc:title>
  <dcterms:created xsi:type="dcterms:W3CDTF">2026-04-11T05:20:51Z</dcterms:created>
  <dcterms:modified xsi:type="dcterms:W3CDTF">2026-04-11T05:20:51Z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2026-04-11T00:00:00Z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2026-04-11T00:00:00Z</vt:filetime>
  </property>
  <property fmtid="{D5CDD505-2E9C-101B-9397-08002B2CF9AE}" pid="5" name="PTEX.Fullbanner">
    <vt:lpwstr>This is pdfTeX, Version 3.141592653-2.6-1.40.27 (TeX Live 2025) kpathsea version 6.4.1</vt:lpwstr>
  </property>
  <property fmtid="{D5CDD505-2E9C-101B-9397-08002B2CF9AE}" pid="6" name="Producer">
    <vt:lpwstr>pdfTeX-1.40.27</vt:lpwstr>
  </property>
</Properties>
</file>