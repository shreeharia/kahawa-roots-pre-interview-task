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1"/>
    <p:restoredTop sz="94694"/>
  </p:normalViewPr>
  <p:slideViewPr>
    <p:cSldViewPr>
      <p:cViewPr varScale="1">
        <p:scale>
          <a:sx n="256" d="100"/>
          <a:sy n="256" d="100"/>
        </p:scale>
        <p:origin x="456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Aptos Slab" panose="020B0004020202020204" pitchFamily="34" charset="0"/>
                <a:cs typeface="Tahoma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333333"/>
                </a:solidFill>
                <a:latin typeface="Aptos Slab" panose="020B0004020202020204" pitchFamily="34" charset="0"/>
                <a:cs typeface="Tahoma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865"/>
              </a:lnSpc>
            </a:pPr>
            <a:fld id="{81D60167-4931-47E6-BA6A-407CBD079E47}" type="slidenum">
              <a:rPr spc="-25" dirty="0"/>
              <a:t>‹#›</a:t>
            </a:fld>
            <a:r>
              <a:rPr spc="-25" dirty="0"/>
              <a:t>/5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ptos Slab" panose="020B0004020202020204" pitchFamily="34" charset="0"/>
                <a:cs typeface="Tahoma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333333"/>
                </a:solidFill>
                <a:latin typeface="Aptos Slab" panose="020B0004020202020204" pitchFamily="34" charset="0"/>
                <a:cs typeface="Tahoma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865"/>
              </a:lnSpc>
            </a:pPr>
            <a:fld id="{81D60167-4931-47E6-BA6A-407CBD079E47}" type="slidenum">
              <a:rPr spc="-25" dirty="0"/>
              <a:t>‹#›</a:t>
            </a:fld>
            <a:r>
              <a:rPr spc="-25" dirty="0"/>
              <a:t>/5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ptos Slab" panose="020B0004020202020204" pitchFamily="34" charset="0"/>
                <a:cs typeface="Tahoma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Aptos Slab" panose="020B000402020202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Aptos Slab" panose="020B0004020202020204" pitchFamily="34" charset="0"/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865"/>
              </a:lnSpc>
            </a:pPr>
            <a:fld id="{81D60167-4931-47E6-BA6A-407CBD079E47}" type="slidenum">
              <a:rPr spc="-25" dirty="0"/>
              <a:t>‹#›</a:t>
            </a:fld>
            <a:r>
              <a:rPr spc="-25" dirty="0"/>
              <a:t>/5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ptos Slab" panose="020B0004020202020204" pitchFamily="34" charset="0"/>
                <a:cs typeface="Tahoma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865"/>
              </a:lnSpc>
            </a:pPr>
            <a:fld id="{81D60167-4931-47E6-BA6A-407CBD079E47}" type="slidenum">
              <a:rPr spc="-25" dirty="0"/>
              <a:t>‹#›</a:t>
            </a:fld>
            <a:r>
              <a:rPr spc="-25" dirty="0"/>
              <a:t>/5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865"/>
              </a:lnSpc>
            </a:pPr>
            <a:fld id="{81D60167-4931-47E6-BA6A-407CBD079E47}" type="slidenum">
              <a:rPr spc="-25" dirty="0"/>
              <a:t>‹#›</a:t>
            </a:fld>
            <a:r>
              <a:rPr spc="-25" dirty="0"/>
              <a:t>/5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6649"/>
            <a:ext cx="5760085" cy="324485"/>
          </a:xfrm>
          <a:custGeom>
            <a:avLst/>
            <a:gdLst/>
            <a:ahLst/>
            <a:cxnLst/>
            <a:rect l="l" t="t" r="r" b="b"/>
            <a:pathLst>
              <a:path w="5760085" h="324485">
                <a:moveTo>
                  <a:pt x="5759996" y="0"/>
                </a:moveTo>
                <a:lnTo>
                  <a:pt x="0" y="0"/>
                </a:lnTo>
                <a:lnTo>
                  <a:pt x="0" y="324002"/>
                </a:lnTo>
                <a:lnTo>
                  <a:pt x="5759996" y="324002"/>
                </a:lnTo>
                <a:lnTo>
                  <a:pt x="5759996" y="0"/>
                </a:lnTo>
                <a:close/>
              </a:path>
            </a:pathLst>
          </a:custGeom>
          <a:solidFill>
            <a:srgbClr val="2D5A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7297" y="154111"/>
            <a:ext cx="3298190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54786" y="745482"/>
            <a:ext cx="2520315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333333"/>
                </a:solidFill>
                <a:latin typeface="Tahoma"/>
                <a:cs typeface="Tahoma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16575" y="3096269"/>
            <a:ext cx="212725" cy="1282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865"/>
              </a:lnSpc>
            </a:pPr>
            <a:fld id="{81D60167-4931-47E6-BA6A-407CBD079E47}" type="slidenum">
              <a:rPr spc="-25" dirty="0"/>
              <a:t>‹#›</a:t>
            </a:fld>
            <a:r>
              <a:rPr spc="-25" dirty="0"/>
              <a:t>/5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Arial Black" panose="020B0A04020102020204" pitchFamily="34" charset="0"/>
          <a:ea typeface="+mj-ea"/>
          <a:cs typeface="+mj-cs"/>
        </a:defRPr>
      </a:lvl1pPr>
    </p:titleStyle>
    <p:bodyStyle>
      <a:lvl1pPr marL="0">
        <a:defRPr>
          <a:latin typeface="Arial Black" panose="020B0A04020102020204" pitchFamily="34" charset="0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github.com/ShreehariA/Kahawa-Roots-Pre-Interview-Task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hyperlink" Target="mailto:shreeharianbazhagan@gmail.com" TargetMode="Externa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5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openxmlformats.org/officeDocument/2006/relationships/image" Target="../media/image8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4.png"/><Relationship Id="rId1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Relationship Id="rId4" Type="http://schemas.openxmlformats.org/officeDocument/2006/relationships/hyperlink" Target="http://github.com/ShreehariA/Kahawa-Roots-Pre-Interview-Task/blob/main/kahawa-roots-architecture.png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17" Type="http://schemas.openxmlformats.org/officeDocument/2006/relationships/image" Target="../media/image13.png"/><Relationship Id="rId2" Type="http://schemas.openxmlformats.org/officeDocument/2006/relationships/image" Target="../media/image23.png"/><Relationship Id="rId16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77698" y="373362"/>
            <a:ext cx="1939734" cy="27699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dirty="0">
                <a:solidFill>
                  <a:srgbClr val="654320"/>
                </a:solidFill>
              </a:rPr>
              <a:t>Kahawa Roots</a:t>
            </a:r>
            <a:endParaRPr sz="17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7698" y="1504950"/>
            <a:ext cx="133350" cy="11747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77698" y="584265"/>
            <a:ext cx="2694940" cy="1234825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200" dirty="0">
                <a:solidFill>
                  <a:srgbClr val="333333"/>
                </a:solidFill>
                <a:latin typeface="Aptos Slab" panose="020B0004020202020204" pitchFamily="34" charset="0"/>
                <a:cs typeface="Tahoma"/>
              </a:rPr>
              <a:t>Traceability Platform</a:t>
            </a:r>
            <a:endParaRPr sz="1200" dirty="0">
              <a:latin typeface="Aptos Slab" panose="020B0004020202020204" pitchFamily="34" charset="0"/>
              <a:cs typeface="Tahoma"/>
            </a:endParaRPr>
          </a:p>
          <a:p>
            <a:pPr marL="12700" marR="5080">
              <a:lnSpc>
                <a:spcPct val="122000"/>
              </a:lnSpc>
              <a:spcBef>
                <a:spcPts val="180"/>
              </a:spcBef>
            </a:pPr>
            <a:r>
              <a:rPr sz="1000" i="1" dirty="0">
                <a:solidFill>
                  <a:srgbClr val="333333"/>
                </a:solidFill>
                <a:latin typeface="Arial MT"/>
                <a:cs typeface="Times New Roman" panose="02020603050405020304" pitchFamily="18" charset="0"/>
              </a:rPr>
              <a:t>Track coffee from a Kenyan farm to a UK cup </a:t>
            </a:r>
            <a:r>
              <a:rPr lang="en-IN" sz="1000" i="1" dirty="0">
                <a:solidFill>
                  <a:srgbClr val="333333"/>
                </a:solidFill>
                <a:latin typeface="Arial MT"/>
                <a:cs typeface="Times New Roman" panose="02020603050405020304" pitchFamily="18" charset="0"/>
              </a:rPr>
              <a:t>allowing anyone to </a:t>
            </a:r>
            <a:r>
              <a:rPr sz="1000" i="1" dirty="0">
                <a:solidFill>
                  <a:srgbClr val="333333"/>
                </a:solidFill>
                <a:latin typeface="Arial MT"/>
                <a:cs typeface="Times New Roman" panose="02020603050405020304" pitchFamily="18" charset="0"/>
              </a:rPr>
              <a:t>scan a QR code </a:t>
            </a:r>
            <a:r>
              <a:rPr lang="en-IN" sz="1000" i="1" dirty="0">
                <a:solidFill>
                  <a:srgbClr val="333333"/>
                </a:solidFill>
                <a:latin typeface="Arial MT"/>
                <a:cs typeface="Times New Roman" panose="02020603050405020304" pitchFamily="18" charset="0"/>
              </a:rPr>
              <a:t>and view its full </a:t>
            </a:r>
            <a:r>
              <a:rPr sz="1000" i="1" dirty="0">
                <a:solidFill>
                  <a:srgbClr val="333333"/>
                </a:solidFill>
                <a:latin typeface="Arial MT"/>
                <a:cs typeface="Times New Roman" panose="02020603050405020304" pitchFamily="18" charset="0"/>
              </a:rPr>
              <a:t>journey.</a:t>
            </a:r>
            <a:endParaRPr sz="1000" dirty="0">
              <a:latin typeface="Arial MT"/>
              <a:cs typeface="Times New Roman" panose="02020603050405020304" pitchFamily="18" charset="0"/>
            </a:endParaRPr>
          </a:p>
          <a:p>
            <a:pPr marL="12700" marR="243840" indent="167005">
              <a:lnSpc>
                <a:spcPct val="125499"/>
              </a:lnSpc>
              <a:spcBef>
                <a:spcPts val="415"/>
              </a:spcBef>
            </a:pPr>
            <a:r>
              <a:rPr sz="900" dirty="0">
                <a:solidFill>
                  <a:srgbClr val="2D5A4A"/>
                </a:solidFill>
                <a:latin typeface="Arial MT"/>
                <a:cs typeface="Arial MT"/>
              </a:rPr>
              <a:t>Transparent traceability builds buyer trust and </a:t>
            </a:r>
            <a:r>
              <a:rPr lang="en-IN" sz="900" dirty="0">
                <a:solidFill>
                  <a:srgbClr val="2D5A4A"/>
                </a:solidFill>
                <a:latin typeface="Arial MT"/>
                <a:cs typeface="Arial MT"/>
              </a:rPr>
              <a:t>enables</a:t>
            </a:r>
            <a:r>
              <a:rPr sz="900" dirty="0">
                <a:solidFill>
                  <a:srgbClr val="2D5A4A"/>
                </a:solidFill>
                <a:latin typeface="Arial MT"/>
                <a:cs typeface="Arial MT"/>
              </a:rPr>
              <a:t> premium pricing.</a:t>
            </a:r>
            <a:endParaRPr sz="900" dirty="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6633" y="2130759"/>
            <a:ext cx="139700" cy="1047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5578" y="2334139"/>
            <a:ext cx="142875" cy="14287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77698" y="1800466"/>
            <a:ext cx="2910002" cy="1041824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1100" b="1" dirty="0">
                <a:solidFill>
                  <a:srgbClr val="333333"/>
                </a:solidFill>
                <a:latin typeface="Aptos Slab" panose="020B0004020202020204" pitchFamily="34" charset="0"/>
                <a:cs typeface="Tahoma"/>
              </a:rPr>
              <a:t>Shree Hari Anbazhagan</a:t>
            </a:r>
            <a:endParaRPr lang="en-IN" sz="1100" dirty="0">
              <a:latin typeface="Aptos Slab" panose="020B0004020202020204" pitchFamily="34" charset="0"/>
              <a:cs typeface="Tahoma"/>
            </a:endParaRPr>
          </a:p>
          <a:p>
            <a:pPr marL="302895" marR="459740">
              <a:lnSpc>
                <a:spcPct val="103200"/>
              </a:lnSpc>
              <a:spcBef>
                <a:spcPts val="445"/>
              </a:spcBef>
            </a:pPr>
            <a:r>
              <a:rPr lang="en-IN" sz="1100" dirty="0">
                <a:solidFill>
                  <a:srgbClr val="4185F3"/>
                </a:solidFill>
                <a:latin typeface="Aptos Slab" panose="020B0004020202020204" pitchFamily="34" charset="0"/>
                <a:cs typeface="Tahoma"/>
                <a:hlinkClick r:id="rId5"/>
              </a:rPr>
              <a:t>shreeharianbazhagan@gmail.com</a:t>
            </a:r>
            <a:endParaRPr lang="en-IN" sz="1100" dirty="0">
              <a:solidFill>
                <a:srgbClr val="4185F3"/>
              </a:solidFill>
              <a:latin typeface="Aptos Slab" panose="020B0004020202020204" pitchFamily="34" charset="0"/>
              <a:cs typeface="Tahoma"/>
            </a:endParaRPr>
          </a:p>
          <a:p>
            <a:pPr marL="302895" marR="459740">
              <a:lnSpc>
                <a:spcPct val="103200"/>
              </a:lnSpc>
              <a:spcBef>
                <a:spcPts val="445"/>
              </a:spcBef>
            </a:pPr>
            <a:r>
              <a:rPr sz="1100" spc="-10" dirty="0">
                <a:solidFill>
                  <a:srgbClr val="333333"/>
                </a:solidFill>
                <a:latin typeface="Aptos Slab" panose="020B0004020202020204" pitchFamily="34" charset="0"/>
                <a:cs typeface="Tahoma"/>
              </a:rPr>
              <a:t>07721046613</a:t>
            </a:r>
            <a:endParaRPr sz="1100" dirty="0">
              <a:latin typeface="Aptos Slab" panose="020B0004020202020204" pitchFamily="34" charset="0"/>
              <a:cs typeface="Tahoma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1100" dirty="0">
              <a:latin typeface="Aptos Slab" panose="020B0004020202020204" pitchFamily="34" charset="0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900" spc="-25" dirty="0">
                <a:solidFill>
                  <a:srgbClr val="7F7F7F"/>
                </a:solidFill>
                <a:latin typeface="Arial MT"/>
                <a:cs typeface="Arial MT"/>
              </a:rPr>
              <a:t>Pre-</a:t>
            </a:r>
            <a:r>
              <a:rPr sz="900" spc="-10" dirty="0">
                <a:solidFill>
                  <a:srgbClr val="7F7F7F"/>
                </a:solidFill>
                <a:latin typeface="Arial MT"/>
                <a:cs typeface="Arial MT"/>
              </a:rPr>
              <a:t>Interview</a:t>
            </a:r>
            <a:r>
              <a:rPr sz="900" spc="30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900" spc="-25" dirty="0">
                <a:solidFill>
                  <a:srgbClr val="7F7F7F"/>
                </a:solidFill>
                <a:latin typeface="Arial MT"/>
                <a:cs typeface="Arial MT"/>
              </a:rPr>
              <a:t>Task</a:t>
            </a:r>
            <a:r>
              <a:rPr sz="900" spc="3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7F7F7F"/>
                </a:solidFill>
                <a:latin typeface="Arial MT"/>
                <a:cs typeface="Arial MT"/>
              </a:rPr>
              <a:t>—</a:t>
            </a:r>
            <a:r>
              <a:rPr sz="900" spc="3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900" spc="-30" dirty="0">
                <a:solidFill>
                  <a:srgbClr val="7F7F7F"/>
                </a:solidFill>
                <a:latin typeface="Arial MT"/>
                <a:cs typeface="Arial MT"/>
              </a:rPr>
              <a:t>Developer</a:t>
            </a:r>
            <a:r>
              <a:rPr sz="900" spc="3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7F7F7F"/>
                </a:solidFill>
                <a:latin typeface="Arial MT"/>
                <a:cs typeface="Arial MT"/>
              </a:rPr>
              <a:t>Intern</a:t>
            </a:r>
            <a:r>
              <a:rPr sz="900" spc="3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7F7F7F"/>
                </a:solidFill>
                <a:latin typeface="Arial MT"/>
                <a:cs typeface="Arial MT"/>
              </a:rPr>
              <a:t>—</a:t>
            </a:r>
            <a:r>
              <a:rPr sz="900" spc="3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7F7F7F"/>
                </a:solidFill>
                <a:latin typeface="Arial MT"/>
                <a:cs typeface="Arial MT"/>
              </a:rPr>
              <a:t>April</a:t>
            </a:r>
            <a:r>
              <a:rPr sz="900" spc="3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900" spc="-20" dirty="0">
                <a:solidFill>
                  <a:srgbClr val="7F7F7F"/>
                </a:solidFill>
                <a:latin typeface="Arial MT"/>
                <a:cs typeface="Arial MT"/>
              </a:rPr>
              <a:t>2026</a:t>
            </a:r>
            <a:endParaRPr sz="900" dirty="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302012" y="541489"/>
            <a:ext cx="2218690" cy="198755"/>
          </a:xfrm>
          <a:custGeom>
            <a:avLst/>
            <a:gdLst/>
            <a:ahLst/>
            <a:cxnLst/>
            <a:rect l="l" t="t" r="r" b="b"/>
            <a:pathLst>
              <a:path w="2218690" h="198754">
                <a:moveTo>
                  <a:pt x="2167618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2218419" y="198367"/>
                </a:lnTo>
                <a:lnTo>
                  <a:pt x="2218419" y="50800"/>
                </a:lnTo>
                <a:lnTo>
                  <a:pt x="2214410" y="31075"/>
                </a:lnTo>
                <a:lnTo>
                  <a:pt x="2203496" y="14922"/>
                </a:lnTo>
                <a:lnTo>
                  <a:pt x="2187343" y="4008"/>
                </a:lnTo>
                <a:lnTo>
                  <a:pt x="2167618" y="0"/>
                </a:lnTo>
                <a:close/>
              </a:path>
            </a:pathLst>
          </a:custGeom>
          <a:solidFill>
            <a:srgbClr val="2D5A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340112" y="520494"/>
            <a:ext cx="1295388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FFFFFF"/>
                </a:solidFill>
                <a:latin typeface="Aptos Slab" panose="020B0004020202020204" pitchFamily="34" charset="0"/>
                <a:cs typeface="Tahoma"/>
              </a:rPr>
              <a:t>Proof of Concept</a:t>
            </a:r>
            <a:endParaRPr sz="1200" dirty="0">
              <a:latin typeface="Aptos Slab" panose="020B0004020202020204" pitchFamily="34" charset="0"/>
              <a:cs typeface="Taho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02012" y="727201"/>
            <a:ext cx="2218419" cy="5060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340112" y="745431"/>
            <a:ext cx="2006600" cy="7843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33"/>
                </a:solidFill>
                <a:latin typeface="Arial MT"/>
                <a:cs typeface="Tahoma"/>
              </a:rPr>
              <a:t>I’ve already built a live system on the </a:t>
            </a:r>
            <a:r>
              <a:rPr sz="1000" b="1" dirty="0">
                <a:solidFill>
                  <a:srgbClr val="333333"/>
                </a:solidFill>
                <a:latin typeface="Arial MT"/>
                <a:cs typeface="Tahoma"/>
              </a:rPr>
              <a:t>same stack </a:t>
            </a:r>
            <a:r>
              <a:rPr sz="1000" dirty="0">
                <a:solidFill>
                  <a:srgbClr val="333333"/>
                </a:solidFill>
                <a:latin typeface="Arial MT"/>
                <a:cs typeface="Tahoma"/>
              </a:rPr>
              <a:t>I’m proposing:</a:t>
            </a:r>
            <a:endParaRPr sz="1000" dirty="0">
              <a:latin typeface="Arial MT"/>
              <a:cs typeface="Tahoma"/>
            </a:endParaRPr>
          </a:p>
          <a:p>
            <a:pPr marL="12700" marR="361315">
              <a:lnSpc>
                <a:spcPct val="125099"/>
              </a:lnSpc>
              <a:spcBef>
                <a:spcPts val="100"/>
              </a:spcBef>
            </a:pPr>
            <a:r>
              <a:rPr sz="800" dirty="0">
                <a:solidFill>
                  <a:srgbClr val="4185F3"/>
                </a:solidFill>
                <a:latin typeface="Arial MT"/>
                <a:cs typeface="Arial MT"/>
                <a:hlinkClick r:id="rId7"/>
              </a:rPr>
              <a:t>DeltaEd — Live on GCP Cloud Run </a:t>
            </a:r>
            <a:r>
              <a:rPr sz="800" dirty="0">
                <a:solidFill>
                  <a:srgbClr val="333333"/>
                </a:solidFill>
                <a:latin typeface="Arial MT"/>
                <a:cs typeface="Arial MT"/>
              </a:rPr>
              <a:t>GCP </a:t>
            </a:r>
            <a:r>
              <a:rPr sz="800" dirty="0">
                <a:solidFill>
                  <a:srgbClr val="333333"/>
                </a:solidFill>
                <a:latin typeface="Segoe UI"/>
                <a:cs typeface="Segoe UI"/>
              </a:rPr>
              <a:t>• </a:t>
            </a:r>
            <a:r>
              <a:rPr sz="800" dirty="0">
                <a:solidFill>
                  <a:srgbClr val="333333"/>
                </a:solidFill>
                <a:latin typeface="Arial MT"/>
                <a:cs typeface="Arial MT"/>
              </a:rPr>
              <a:t>React </a:t>
            </a:r>
            <a:r>
              <a:rPr sz="800" dirty="0">
                <a:solidFill>
                  <a:srgbClr val="333333"/>
                </a:solidFill>
                <a:latin typeface="Segoe UI"/>
                <a:cs typeface="Segoe UI"/>
              </a:rPr>
              <a:t>• </a:t>
            </a:r>
            <a:r>
              <a:rPr sz="800" dirty="0">
                <a:solidFill>
                  <a:srgbClr val="333333"/>
                </a:solidFill>
                <a:latin typeface="Arial MT"/>
                <a:cs typeface="Arial MT"/>
              </a:rPr>
              <a:t>Python </a:t>
            </a:r>
            <a:r>
              <a:rPr sz="800" dirty="0">
                <a:solidFill>
                  <a:srgbClr val="333333"/>
                </a:solidFill>
                <a:latin typeface="Segoe UI"/>
                <a:cs typeface="Segoe UI"/>
              </a:rPr>
              <a:t>• </a:t>
            </a:r>
            <a:r>
              <a:rPr sz="800" dirty="0">
                <a:solidFill>
                  <a:srgbClr val="333333"/>
                </a:solidFill>
                <a:latin typeface="Arial MT"/>
                <a:cs typeface="Arial MT"/>
              </a:rPr>
              <a:t>BigQuery </a:t>
            </a:r>
            <a:r>
              <a:rPr sz="800" i="1" dirty="0">
                <a:solidFill>
                  <a:srgbClr val="333333"/>
                </a:solidFill>
                <a:latin typeface="Aptos Slab" panose="020B0004020202020204" pitchFamily="34" charset="0"/>
                <a:cs typeface="Times New Roman" panose="02020603050405020304" pitchFamily="18" charset="0"/>
              </a:rPr>
              <a:t>(Built on a similar stack)</a:t>
            </a:r>
            <a:endParaRPr sz="800" dirty="0">
              <a:latin typeface="Aptos Slab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3060001"/>
            <a:ext cx="5760085" cy="180340"/>
          </a:xfrm>
          <a:custGeom>
            <a:avLst/>
            <a:gdLst/>
            <a:ahLst/>
            <a:cxnLst/>
            <a:rect l="l" t="t" r="r" b="b"/>
            <a:pathLst>
              <a:path w="5760085" h="180339">
                <a:moveTo>
                  <a:pt x="5759996" y="0"/>
                </a:moveTo>
                <a:lnTo>
                  <a:pt x="0" y="0"/>
                </a:lnTo>
                <a:lnTo>
                  <a:pt x="0" y="179997"/>
                </a:lnTo>
                <a:lnTo>
                  <a:pt x="5759996" y="179997"/>
                </a:lnTo>
                <a:lnTo>
                  <a:pt x="5759996" y="0"/>
                </a:lnTo>
                <a:close/>
              </a:path>
            </a:pathLst>
          </a:custGeom>
          <a:solidFill>
            <a:srgbClr val="2D5A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441975" y="3096269"/>
            <a:ext cx="187325" cy="128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5"/>
              </a:lnSpc>
            </a:pPr>
            <a:r>
              <a:rPr sz="800" spc="-25" dirty="0">
                <a:solidFill>
                  <a:srgbClr val="FFFFFF"/>
                </a:solidFill>
                <a:latin typeface="Arial MT"/>
                <a:cs typeface="Arial MT"/>
              </a:rPr>
              <a:t>1/5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8380" y="177646"/>
            <a:ext cx="4314720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How Kahawa Roots Tracks Coffee, End to End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398" y="520522"/>
            <a:ext cx="127000" cy="1270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50657" y="492422"/>
            <a:ext cx="1594043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333333"/>
                </a:solidFill>
                <a:latin typeface="Aptos Slab" panose="020B0004020202020204" pitchFamily="34" charset="0"/>
                <a:cs typeface="Tahoma"/>
              </a:rPr>
              <a:t>The Journey in 4 Steps</a:t>
            </a:r>
            <a:endParaRPr sz="1000" dirty="0">
              <a:latin typeface="Aptos Slab" panose="020B0004020202020204" pitchFamily="34" charset="0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4587" y="801045"/>
            <a:ext cx="114214" cy="11421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19342" y="793549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endParaRPr sz="60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451184" y="742000"/>
            <a:ext cx="2520315" cy="186910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12725">
              <a:lnSpc>
                <a:spcPct val="100000"/>
              </a:lnSpc>
              <a:spcBef>
                <a:spcPts val="95"/>
              </a:spcBef>
            </a:pPr>
            <a:r>
              <a:rPr sz="800" b="1" dirty="0"/>
              <a:t>Data </a:t>
            </a:r>
            <a:r>
              <a:rPr lang="en-IN" sz="800" b="1" dirty="0"/>
              <a:t>Ingestion </a:t>
            </a:r>
            <a:r>
              <a:rPr dirty="0"/>
              <a:t>— </a:t>
            </a:r>
            <a:r>
              <a:rPr sz="800" dirty="0">
                <a:latin typeface="Arial MT"/>
              </a:rPr>
              <a:t>Farmer</a:t>
            </a:r>
            <a:r>
              <a:rPr lang="en-IN" sz="800" dirty="0">
                <a:latin typeface="Arial MT"/>
              </a:rPr>
              <a:t>s</a:t>
            </a:r>
            <a:r>
              <a:rPr sz="800" dirty="0">
                <a:latin typeface="Arial MT"/>
              </a:rPr>
              <a:t> or admin</a:t>
            </a:r>
            <a:r>
              <a:rPr lang="en-IN" sz="800" dirty="0">
                <a:latin typeface="Arial MT"/>
              </a:rPr>
              <a:t>s</a:t>
            </a:r>
            <a:r>
              <a:rPr sz="800" dirty="0">
                <a:latin typeface="Arial MT"/>
              </a:rPr>
              <a:t> </a:t>
            </a:r>
            <a:r>
              <a:rPr lang="en-IN" sz="800" dirty="0">
                <a:latin typeface="Arial MT"/>
              </a:rPr>
              <a:t>submit</a:t>
            </a:r>
            <a:r>
              <a:rPr sz="800" dirty="0">
                <a:latin typeface="Arial MT"/>
              </a:rPr>
              <a:t> </a:t>
            </a:r>
            <a:r>
              <a:rPr lang="en-IN" sz="800" dirty="0">
                <a:latin typeface="Arial MT"/>
              </a:rPr>
              <a:t>data </a:t>
            </a:r>
            <a:r>
              <a:rPr sz="800" dirty="0">
                <a:latin typeface="Arial MT"/>
              </a:rPr>
              <a:t>via </a:t>
            </a:r>
            <a:r>
              <a:rPr lang="en-IN" sz="800" dirty="0">
                <a:latin typeface="Arial MT"/>
              </a:rPr>
              <a:t>a </a:t>
            </a:r>
            <a:r>
              <a:rPr sz="800" dirty="0">
                <a:latin typeface="Arial MT"/>
              </a:rPr>
              <a:t>web form or CSV</a:t>
            </a:r>
            <a:r>
              <a:rPr lang="en-IN" sz="800" dirty="0">
                <a:latin typeface="Arial MT"/>
              </a:rPr>
              <a:t> upload.</a:t>
            </a:r>
            <a:endParaRPr sz="800" dirty="0">
              <a:latin typeface="Arial MT"/>
            </a:endParaRPr>
          </a:p>
          <a:p>
            <a:pPr marL="12700" marR="34925">
              <a:lnSpc>
                <a:spcPct val="100000"/>
              </a:lnSpc>
              <a:spcBef>
                <a:spcPts val="490"/>
              </a:spcBef>
            </a:pPr>
            <a:r>
              <a:rPr lang="en-IN" sz="800" b="1" dirty="0"/>
              <a:t>Validation </a:t>
            </a:r>
            <a:r>
              <a:rPr sz="800" b="1" dirty="0"/>
              <a:t>&amp; </a:t>
            </a:r>
            <a:r>
              <a:rPr lang="en-IN" sz="800" b="1" dirty="0"/>
              <a:t>Cleaning </a:t>
            </a:r>
            <a:r>
              <a:rPr dirty="0"/>
              <a:t>— </a:t>
            </a:r>
            <a:r>
              <a:rPr sz="800" dirty="0">
                <a:latin typeface="Arial MT"/>
              </a:rPr>
              <a:t>Every field </a:t>
            </a:r>
            <a:r>
              <a:rPr lang="en-IN" sz="800" dirty="0">
                <a:latin typeface="Arial MT"/>
              </a:rPr>
              <a:t>is </a:t>
            </a:r>
            <a:r>
              <a:rPr sz="800" dirty="0">
                <a:latin typeface="Arial MT"/>
              </a:rPr>
              <a:t>automatically</a:t>
            </a:r>
            <a:r>
              <a:rPr lang="en-IN" sz="800" dirty="0">
                <a:latin typeface="Arial MT"/>
              </a:rPr>
              <a:t> validated.</a:t>
            </a:r>
            <a:r>
              <a:rPr sz="800" dirty="0">
                <a:latin typeface="Arial MT"/>
              </a:rPr>
              <a:t> </a:t>
            </a:r>
            <a:r>
              <a:rPr lang="en-IN" sz="800" dirty="0">
                <a:latin typeface="Arial MT"/>
              </a:rPr>
              <a:t>Invalid</a:t>
            </a:r>
            <a:r>
              <a:rPr sz="800" dirty="0">
                <a:latin typeface="Arial MT"/>
              </a:rPr>
              <a:t> rows </a:t>
            </a:r>
            <a:r>
              <a:rPr lang="en-IN" sz="800" dirty="0">
                <a:latin typeface="Arial MT"/>
              </a:rPr>
              <a:t>are </a:t>
            </a:r>
            <a:r>
              <a:rPr sz="800" dirty="0">
                <a:latin typeface="Arial MT"/>
              </a:rPr>
              <a:t>rejected</a:t>
            </a:r>
            <a:r>
              <a:rPr lang="en-IN" sz="800" dirty="0">
                <a:latin typeface="Arial MT"/>
              </a:rPr>
              <a:t> and </a:t>
            </a:r>
            <a:r>
              <a:rPr sz="800" dirty="0">
                <a:latin typeface="Arial MT"/>
              </a:rPr>
              <a:t>logged for review</a:t>
            </a:r>
            <a:r>
              <a:rPr lang="en-US" sz="800" dirty="0">
                <a:latin typeface="Arial MT"/>
              </a:rPr>
              <a:t>.</a:t>
            </a:r>
            <a:endParaRPr sz="800" dirty="0">
              <a:latin typeface="Arial MT"/>
            </a:endParaRPr>
          </a:p>
          <a:p>
            <a:pPr marL="12700" marR="5080">
              <a:lnSpc>
                <a:spcPct val="100000"/>
              </a:lnSpc>
              <a:spcBef>
                <a:spcPts val="484"/>
              </a:spcBef>
            </a:pPr>
            <a:r>
              <a:rPr lang="en-IN" sz="800" b="1" dirty="0"/>
              <a:t>Secure s</a:t>
            </a:r>
            <a:r>
              <a:rPr sz="800" b="1" dirty="0"/>
              <a:t>tor</a:t>
            </a:r>
            <a:r>
              <a:rPr lang="en-IN" sz="800" b="1" dirty="0"/>
              <a:t>age </a:t>
            </a:r>
            <a:r>
              <a:rPr dirty="0"/>
              <a:t>— </a:t>
            </a:r>
            <a:r>
              <a:rPr sz="800" dirty="0">
                <a:latin typeface="Arial MT"/>
              </a:rPr>
              <a:t>Raw </a:t>
            </a:r>
            <a:r>
              <a:rPr lang="en-IN" sz="800" dirty="0">
                <a:latin typeface="Arial MT"/>
              </a:rPr>
              <a:t>data is preserved</a:t>
            </a:r>
            <a:r>
              <a:rPr sz="800" dirty="0">
                <a:latin typeface="Arial MT"/>
              </a:rPr>
              <a:t> </a:t>
            </a:r>
            <a:r>
              <a:rPr lang="en-IN" sz="800" dirty="0">
                <a:latin typeface="Arial MT"/>
              </a:rPr>
              <a:t>as an immutable backup.</a:t>
            </a:r>
            <a:r>
              <a:rPr sz="800" dirty="0">
                <a:latin typeface="Arial MT"/>
              </a:rPr>
              <a:t> </a:t>
            </a:r>
            <a:r>
              <a:rPr lang="en-IN" sz="800" dirty="0">
                <a:latin typeface="Arial MT"/>
              </a:rPr>
              <a:t>C</a:t>
            </a:r>
            <a:r>
              <a:rPr sz="800" dirty="0">
                <a:latin typeface="Arial MT"/>
              </a:rPr>
              <a:t>lean</a:t>
            </a:r>
            <a:r>
              <a:rPr lang="en-IN" sz="800" dirty="0">
                <a:latin typeface="Arial MT"/>
              </a:rPr>
              <a:t>ed</a:t>
            </a:r>
            <a:r>
              <a:rPr sz="800" dirty="0">
                <a:latin typeface="Arial MT"/>
              </a:rPr>
              <a:t> data </a:t>
            </a:r>
            <a:r>
              <a:rPr lang="en-IN" sz="800" dirty="0">
                <a:latin typeface="Arial MT"/>
              </a:rPr>
              <a:t>is stored in the Database </a:t>
            </a:r>
            <a:r>
              <a:rPr sz="800" dirty="0">
                <a:latin typeface="Arial MT"/>
              </a:rPr>
              <a:t>with timestamps &amp; GPS</a:t>
            </a:r>
            <a:r>
              <a:rPr lang="en-IN" sz="800" dirty="0">
                <a:latin typeface="Arial MT"/>
              </a:rPr>
              <a:t> Coordinates </a:t>
            </a:r>
            <a:r>
              <a:rPr sz="800" dirty="0">
                <a:latin typeface="Arial MT"/>
              </a:rPr>
              <a:t>at each stage</a:t>
            </a:r>
            <a:r>
              <a:rPr lang="en-IN" sz="800" dirty="0">
                <a:latin typeface="Arial MT"/>
              </a:rPr>
              <a:t>.</a:t>
            </a:r>
            <a:endParaRPr sz="800" dirty="0">
              <a:latin typeface="Arial MT"/>
            </a:endParaRPr>
          </a:p>
          <a:p>
            <a:pPr marL="12700" marR="178435" algn="just">
              <a:lnSpc>
                <a:spcPct val="100000"/>
              </a:lnSpc>
              <a:spcBef>
                <a:spcPts val="484"/>
              </a:spcBef>
            </a:pPr>
            <a:r>
              <a:rPr sz="800" b="1" dirty="0"/>
              <a:t>Customer</a:t>
            </a:r>
            <a:r>
              <a:rPr lang="en-IN" sz="800" b="1" dirty="0"/>
              <a:t> Visibility </a:t>
            </a:r>
            <a:r>
              <a:rPr dirty="0"/>
              <a:t>— </a:t>
            </a:r>
            <a:r>
              <a:rPr sz="800" dirty="0">
                <a:latin typeface="Arial MT"/>
              </a:rPr>
              <a:t>Each shipment </a:t>
            </a:r>
            <a:r>
              <a:rPr lang="en-IN" sz="800" dirty="0">
                <a:latin typeface="Arial MT"/>
              </a:rPr>
              <a:t>is assigned</a:t>
            </a:r>
            <a:r>
              <a:rPr sz="800" dirty="0">
                <a:latin typeface="Arial MT"/>
              </a:rPr>
              <a:t> a QR code linking to a public page </a:t>
            </a:r>
            <a:r>
              <a:rPr lang="en-IN" sz="800" dirty="0">
                <a:latin typeface="Arial MT"/>
              </a:rPr>
              <a:t>displaying its journey- </a:t>
            </a:r>
            <a:r>
              <a:rPr sz="800" dirty="0">
                <a:latin typeface="Arial MT"/>
              </a:rPr>
              <a:t>map, timeline &amp; farmer </a:t>
            </a:r>
            <a:r>
              <a:rPr lang="en-IN" sz="800" dirty="0">
                <a:latin typeface="Arial MT"/>
              </a:rPr>
              <a:t>details.</a:t>
            </a:r>
            <a:endParaRPr sz="800" dirty="0">
              <a:latin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7786" y="1132073"/>
            <a:ext cx="114214" cy="11421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8675" y="1593867"/>
            <a:ext cx="114214" cy="11421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17092" y="1586582"/>
            <a:ext cx="66040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chemeClr val="bg1">
                    <a:lumMod val="95000"/>
                  </a:schemeClr>
                </a:solidFill>
                <a:latin typeface="Arial MT"/>
                <a:cs typeface="Arial MT"/>
              </a:rPr>
              <a:t>3</a:t>
            </a:r>
            <a:endParaRPr sz="600" dirty="0">
              <a:solidFill>
                <a:schemeClr val="bg1">
                  <a:lumMod val="95000"/>
                </a:schemeClr>
              </a:solidFill>
              <a:latin typeface="Arial MT"/>
              <a:cs typeface="Arial M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3005" y="2179604"/>
            <a:ext cx="114214" cy="11421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317092" y="2170686"/>
            <a:ext cx="66040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chemeClr val="bg1">
                    <a:lumMod val="95000"/>
                  </a:schemeClr>
                </a:solidFill>
                <a:latin typeface="Arial MT"/>
                <a:cs typeface="Arial MT"/>
              </a:rPr>
              <a:t>4</a:t>
            </a:r>
            <a:endParaRPr sz="600" dirty="0">
              <a:solidFill>
                <a:schemeClr val="bg1">
                  <a:lumMod val="95000"/>
                </a:schemeClr>
              </a:solidFill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4079" y="2794382"/>
            <a:ext cx="2561590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dirty="0">
                <a:solidFill>
                  <a:srgbClr val="333333"/>
                </a:solidFill>
                <a:latin typeface="Aptos Slab" panose="020B0004020202020204" pitchFamily="34" charset="0"/>
                <a:cs typeface="Times New Roman" panose="02020603050405020304" pitchFamily="18" charset="0"/>
              </a:rPr>
              <a:t>Data flows in → </a:t>
            </a:r>
            <a:r>
              <a:rPr lang="en-US" sz="800" i="1" dirty="0">
                <a:solidFill>
                  <a:srgbClr val="333333"/>
                </a:solidFill>
                <a:latin typeface="Aptos Slab" panose="020B0004020202020204" pitchFamily="34" charset="0"/>
                <a:cs typeface="Times New Roman" panose="02020603050405020304" pitchFamily="18" charset="0"/>
              </a:rPr>
              <a:t>V</a:t>
            </a:r>
            <a:r>
              <a:rPr sz="800" i="1" dirty="0">
                <a:solidFill>
                  <a:srgbClr val="333333"/>
                </a:solidFill>
                <a:latin typeface="Aptos Slab" panose="020B0004020202020204" pitchFamily="34" charset="0"/>
                <a:cs typeface="Times New Roman" panose="02020603050405020304" pitchFamily="18" charset="0"/>
              </a:rPr>
              <a:t>alidated → stor</a:t>
            </a:r>
            <a:r>
              <a:rPr lang="en-US" sz="800" i="1" dirty="0">
                <a:solidFill>
                  <a:srgbClr val="333333"/>
                </a:solidFill>
                <a:latin typeface="Aptos Slab" panose="020B0004020202020204" pitchFamily="34" charset="0"/>
                <a:cs typeface="Times New Roman" panose="02020603050405020304" pitchFamily="18" charset="0"/>
              </a:rPr>
              <a:t>ed</a:t>
            </a:r>
            <a:r>
              <a:rPr sz="800" i="1" dirty="0">
                <a:solidFill>
                  <a:srgbClr val="333333"/>
                </a:solidFill>
                <a:latin typeface="Aptos Slab" panose="020B0004020202020204" pitchFamily="34" charset="0"/>
                <a:cs typeface="Times New Roman" panose="02020603050405020304" pitchFamily="18" charset="0"/>
              </a:rPr>
              <a:t> → visible via QR.</a:t>
            </a:r>
            <a:endParaRPr sz="800" dirty="0">
              <a:latin typeface="Aptos Slab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352812" y="518782"/>
            <a:ext cx="158750" cy="114300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3340112" y="436891"/>
            <a:ext cx="1751330" cy="375744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17170">
              <a:lnSpc>
                <a:spcPct val="100000"/>
              </a:lnSpc>
              <a:spcBef>
                <a:spcPts val="470"/>
              </a:spcBef>
            </a:pPr>
            <a:r>
              <a:rPr sz="1000" b="1" dirty="0">
                <a:solidFill>
                  <a:srgbClr val="333333"/>
                </a:solidFill>
                <a:latin typeface="Aptos Slab" panose="020B0004020202020204" pitchFamily="34" charset="0"/>
                <a:cs typeface="Tahoma"/>
              </a:rPr>
              <a:t>Non-Technical Data Entry</a:t>
            </a:r>
            <a:endParaRPr sz="1000" dirty="0">
              <a:latin typeface="Aptos Slab" panose="020B0004020202020204" pitchFamily="34" charset="0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800" dirty="0">
                <a:solidFill>
                  <a:srgbClr val="333333"/>
                </a:solidFill>
                <a:latin typeface="Arial MT"/>
                <a:cs typeface="Arial MT"/>
              </a:rPr>
              <a:t>Designed for non-technical users:</a:t>
            </a:r>
            <a:endParaRPr sz="800" dirty="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301470" y="861207"/>
            <a:ext cx="2218690" cy="205740"/>
            <a:chOff x="3302012" y="934287"/>
            <a:chExt cx="2218690" cy="205740"/>
          </a:xfrm>
        </p:grpSpPr>
        <p:sp>
          <p:nvSpPr>
            <p:cNvPr id="18" name="object 18"/>
            <p:cNvSpPr/>
            <p:nvPr/>
          </p:nvSpPr>
          <p:spPr>
            <a:xfrm>
              <a:off x="3302012" y="934287"/>
              <a:ext cx="2218690" cy="205740"/>
            </a:xfrm>
            <a:custGeom>
              <a:avLst/>
              <a:gdLst/>
              <a:ahLst/>
              <a:cxnLst/>
              <a:rect l="l" t="t" r="r" b="b"/>
              <a:pathLst>
                <a:path w="2218690" h="205740">
                  <a:moveTo>
                    <a:pt x="2167618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5444"/>
                  </a:lnTo>
                  <a:lnTo>
                    <a:pt x="2218419" y="205444"/>
                  </a:lnTo>
                  <a:lnTo>
                    <a:pt x="2218419" y="50800"/>
                  </a:lnTo>
                  <a:lnTo>
                    <a:pt x="2214410" y="31075"/>
                  </a:lnTo>
                  <a:lnTo>
                    <a:pt x="2203496" y="14922"/>
                  </a:lnTo>
                  <a:lnTo>
                    <a:pt x="2187343" y="4008"/>
                  </a:lnTo>
                  <a:lnTo>
                    <a:pt x="2167618" y="0"/>
                  </a:lnTo>
                  <a:close/>
                </a:path>
              </a:pathLst>
            </a:custGeom>
            <a:solidFill>
              <a:srgbClr val="2D5A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52812" y="971626"/>
              <a:ext cx="133350" cy="133350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3510314" y="873121"/>
            <a:ext cx="67183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FFFFFF"/>
                </a:solidFill>
                <a:latin typeface="Aptos Slab" panose="020B0004020202020204" pitchFamily="34" charset="0"/>
                <a:cs typeface="Tahoma"/>
              </a:rPr>
              <a:t>Web Form</a:t>
            </a:r>
            <a:endParaRPr sz="1000" dirty="0">
              <a:latin typeface="Aptos Slab" panose="020B0004020202020204" pitchFamily="34" charset="0"/>
              <a:cs typeface="Tahom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301470" y="1085254"/>
            <a:ext cx="2218690" cy="154940"/>
            <a:chOff x="3302012" y="1127086"/>
            <a:chExt cx="2218690" cy="154940"/>
          </a:xfrm>
        </p:grpSpPr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02012" y="1127086"/>
              <a:ext cx="2218419" cy="5060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95357" y="1216736"/>
              <a:ext cx="65265" cy="65265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3617786" y="1114691"/>
            <a:ext cx="1842135" cy="41998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en-IN" sz="800" dirty="0">
                <a:solidFill>
                  <a:srgbClr val="333333"/>
                </a:solidFill>
                <a:latin typeface="Arial MT"/>
                <a:cs typeface="Tahoma"/>
              </a:rPr>
              <a:t>Input one</a:t>
            </a:r>
            <a:r>
              <a:rPr sz="800" dirty="0">
                <a:solidFill>
                  <a:srgbClr val="333333"/>
                </a:solidFill>
                <a:latin typeface="Arial MT"/>
                <a:cs typeface="Tahoma"/>
              </a:rPr>
              <a:t> shipment at a time via </a:t>
            </a:r>
            <a:r>
              <a:rPr lang="en-IN" sz="800" dirty="0">
                <a:solidFill>
                  <a:srgbClr val="333333"/>
                </a:solidFill>
                <a:latin typeface="Arial MT"/>
                <a:cs typeface="Tahoma"/>
              </a:rPr>
              <a:t>the </a:t>
            </a:r>
            <a:r>
              <a:rPr sz="800" dirty="0">
                <a:solidFill>
                  <a:srgbClr val="333333"/>
                </a:solidFill>
                <a:latin typeface="Arial MT"/>
                <a:cs typeface="Tahoma"/>
              </a:rPr>
              <a:t>admin dashboard</a:t>
            </a:r>
            <a:r>
              <a:rPr lang="en-US" sz="800" dirty="0">
                <a:solidFill>
                  <a:srgbClr val="333333"/>
                </a:solidFill>
                <a:latin typeface="Arial MT"/>
                <a:cs typeface="Tahoma"/>
              </a:rPr>
              <a:t>.</a:t>
            </a:r>
            <a:endParaRPr sz="800" dirty="0">
              <a:latin typeface="Arial MT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800" dirty="0">
                <a:solidFill>
                  <a:srgbClr val="333333"/>
                </a:solidFill>
                <a:latin typeface="Arial MT"/>
                <a:cs typeface="Tahoma"/>
              </a:rPr>
              <a:t>No </a:t>
            </a:r>
            <a:r>
              <a:rPr lang="en-IN" sz="800" dirty="0">
                <a:solidFill>
                  <a:srgbClr val="333333"/>
                </a:solidFill>
                <a:latin typeface="Arial MT"/>
                <a:cs typeface="Tahoma"/>
              </a:rPr>
              <a:t>technical knowledge </a:t>
            </a:r>
            <a:r>
              <a:rPr sz="800" dirty="0">
                <a:solidFill>
                  <a:srgbClr val="333333"/>
                </a:solidFill>
                <a:latin typeface="Arial MT"/>
                <a:cs typeface="Tahoma"/>
              </a:rPr>
              <a:t>needed</a:t>
            </a:r>
            <a:r>
              <a:rPr lang="en-US" sz="800" dirty="0">
                <a:solidFill>
                  <a:srgbClr val="333333"/>
                </a:solidFill>
                <a:latin typeface="Arial MT"/>
                <a:cs typeface="Tahoma"/>
              </a:rPr>
              <a:t>.</a:t>
            </a:r>
            <a:endParaRPr sz="800" dirty="0">
              <a:latin typeface="Arial MT"/>
              <a:cs typeface="Tahoma"/>
            </a:endParaRPr>
          </a:p>
        </p:txBody>
      </p:sp>
      <p:pic>
        <p:nvPicPr>
          <p:cNvPr id="25" name="object 2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485620" y="1445720"/>
            <a:ext cx="65265" cy="65265"/>
          </a:xfrm>
          <a:prstGeom prst="rect">
            <a:avLst/>
          </a:prstGeom>
        </p:spPr>
      </p:pic>
      <p:grpSp>
        <p:nvGrpSpPr>
          <p:cNvPr id="26" name="object 26"/>
          <p:cNvGrpSpPr/>
          <p:nvPr/>
        </p:nvGrpSpPr>
        <p:grpSpPr>
          <a:xfrm>
            <a:off x="3301470" y="1669271"/>
            <a:ext cx="2218690" cy="234315"/>
            <a:chOff x="3302012" y="1783752"/>
            <a:chExt cx="2218690" cy="234315"/>
          </a:xfrm>
        </p:grpSpPr>
        <p:sp>
          <p:nvSpPr>
            <p:cNvPr id="27" name="object 27"/>
            <p:cNvSpPr/>
            <p:nvPr/>
          </p:nvSpPr>
          <p:spPr>
            <a:xfrm>
              <a:off x="3302012" y="1783752"/>
              <a:ext cx="2218690" cy="234315"/>
            </a:xfrm>
            <a:custGeom>
              <a:avLst/>
              <a:gdLst/>
              <a:ahLst/>
              <a:cxnLst/>
              <a:rect l="l" t="t" r="r" b="b"/>
              <a:pathLst>
                <a:path w="2218690" h="234314">
                  <a:moveTo>
                    <a:pt x="2167618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34217"/>
                  </a:lnTo>
                  <a:lnTo>
                    <a:pt x="2218419" y="234217"/>
                  </a:lnTo>
                  <a:lnTo>
                    <a:pt x="2218419" y="50800"/>
                  </a:lnTo>
                  <a:lnTo>
                    <a:pt x="2214410" y="31075"/>
                  </a:lnTo>
                  <a:lnTo>
                    <a:pt x="2203496" y="14922"/>
                  </a:lnTo>
                  <a:lnTo>
                    <a:pt x="2187343" y="4008"/>
                  </a:lnTo>
                  <a:lnTo>
                    <a:pt x="2167618" y="0"/>
                  </a:lnTo>
                  <a:close/>
                </a:path>
              </a:pathLst>
            </a:custGeom>
            <a:solidFill>
              <a:srgbClr val="2D5A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352812" y="1821357"/>
              <a:ext cx="114300" cy="152400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3494815" y="1699262"/>
            <a:ext cx="136928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FFFFFF"/>
                </a:solidFill>
                <a:latin typeface="Aptos Slab" panose="020B0004020202020204" pitchFamily="34" charset="0"/>
                <a:cs typeface="Tahoma"/>
              </a:rPr>
              <a:t>CSV/Excel Upload</a:t>
            </a:r>
            <a:endParaRPr sz="1000" dirty="0">
              <a:latin typeface="Aptos Slab" panose="020B0004020202020204" pitchFamily="34" charset="0"/>
              <a:cs typeface="Tahom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301470" y="1924290"/>
            <a:ext cx="2218690" cy="154940"/>
            <a:chOff x="3302012" y="2005317"/>
            <a:chExt cx="2218690" cy="154940"/>
          </a:xfrm>
        </p:grpSpPr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302012" y="2005317"/>
              <a:ext cx="2218419" cy="5060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495357" y="2094979"/>
              <a:ext cx="65265" cy="65265"/>
            </a:xfrm>
            <a:prstGeom prst="rect">
              <a:avLst/>
            </a:prstGeom>
          </p:spPr>
        </p:pic>
      </p:grpSp>
      <p:pic>
        <p:nvPicPr>
          <p:cNvPr id="33" name="object 3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509175" y="2201605"/>
            <a:ext cx="65265" cy="65265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3352270" y="1949594"/>
            <a:ext cx="2218418" cy="9851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9560" marR="228600">
              <a:lnSpc>
                <a:spcPct val="124500"/>
              </a:lnSpc>
              <a:spcBef>
                <a:spcPts val="100"/>
              </a:spcBef>
            </a:pPr>
            <a:r>
              <a:rPr sz="800" dirty="0">
                <a:solidFill>
                  <a:srgbClr val="333333"/>
                </a:solidFill>
                <a:latin typeface="Arial MT"/>
                <a:cs typeface="Tahoma"/>
              </a:rPr>
              <a:t>Drag-and-drop bulk </a:t>
            </a:r>
            <a:r>
              <a:rPr lang="en-IN" sz="800" dirty="0">
                <a:solidFill>
                  <a:srgbClr val="333333"/>
                </a:solidFill>
                <a:latin typeface="Arial MT"/>
                <a:cs typeface="Tahoma"/>
              </a:rPr>
              <a:t>upload.</a:t>
            </a:r>
          </a:p>
          <a:p>
            <a:pPr marL="289560" marR="228600">
              <a:lnSpc>
                <a:spcPct val="124500"/>
              </a:lnSpc>
              <a:spcBef>
                <a:spcPts val="100"/>
              </a:spcBef>
            </a:pPr>
            <a:r>
              <a:rPr lang="en-IN" sz="800" dirty="0">
                <a:solidFill>
                  <a:srgbClr val="333333"/>
                </a:solidFill>
                <a:latin typeface="Arial MT"/>
                <a:cs typeface="Tahoma"/>
              </a:rPr>
              <a:t>Automatic row-level validation.</a:t>
            </a:r>
            <a:endParaRPr sz="800" dirty="0">
              <a:latin typeface="Arial MT"/>
              <a:cs typeface="Tahoma"/>
            </a:endParaRPr>
          </a:p>
          <a:p>
            <a:pPr marL="12700" marR="270510">
              <a:lnSpc>
                <a:spcPct val="124500"/>
              </a:lnSpc>
              <a:spcBef>
                <a:spcPts val="405"/>
              </a:spcBef>
            </a:pPr>
            <a:r>
              <a:rPr sz="800" i="1" dirty="0">
                <a:solidFill>
                  <a:srgbClr val="333333"/>
                </a:solidFill>
                <a:latin typeface="Arial MT"/>
                <a:cs typeface="Times New Roman" panose="02020603050405020304" pitchFamily="18" charset="0"/>
              </a:rPr>
              <a:t>Both</a:t>
            </a:r>
            <a:r>
              <a:rPr lang="en-IN" sz="800" i="1" dirty="0">
                <a:solidFill>
                  <a:srgbClr val="333333"/>
                </a:solidFill>
                <a:latin typeface="Arial MT"/>
                <a:cs typeface="Times New Roman" panose="02020603050405020304" pitchFamily="18" charset="0"/>
              </a:rPr>
              <a:t> methods</a:t>
            </a:r>
            <a:r>
              <a:rPr sz="800" i="1" dirty="0">
                <a:solidFill>
                  <a:srgbClr val="333333"/>
                </a:solidFill>
                <a:latin typeface="Arial MT"/>
                <a:cs typeface="Times New Roman" panose="02020603050405020304" pitchFamily="18" charset="0"/>
              </a:rPr>
              <a:t> feed the same pipeline</a:t>
            </a:r>
            <a:r>
              <a:rPr lang="en-IN" sz="800" i="1" dirty="0">
                <a:solidFill>
                  <a:srgbClr val="333333"/>
                </a:solidFill>
                <a:latin typeface="Arial MT"/>
                <a:cs typeface="Times New Roman" panose="02020603050405020304" pitchFamily="18" charset="0"/>
              </a:rPr>
              <a:t>, ensuring constant </a:t>
            </a:r>
            <a:r>
              <a:rPr sz="800" i="1" dirty="0">
                <a:solidFill>
                  <a:srgbClr val="333333"/>
                </a:solidFill>
                <a:latin typeface="Arial MT"/>
                <a:cs typeface="Times New Roman" panose="02020603050405020304" pitchFamily="18" charset="0"/>
              </a:rPr>
              <a:t>validation</a:t>
            </a:r>
            <a:r>
              <a:rPr lang="en-IN" sz="800" i="1" dirty="0">
                <a:solidFill>
                  <a:srgbClr val="333333"/>
                </a:solidFill>
                <a:latin typeface="Arial MT"/>
                <a:cs typeface="Times New Roman" panose="02020603050405020304" pitchFamily="18" charset="0"/>
              </a:rPr>
              <a:t> and storage.</a:t>
            </a:r>
            <a:br>
              <a:rPr lang="en-IN" sz="800" i="1" dirty="0">
                <a:solidFill>
                  <a:srgbClr val="333333"/>
                </a:solidFill>
                <a:latin typeface="Aptos Slab" panose="020B0004020202020204" pitchFamily="34" charset="0"/>
                <a:cs typeface="Times New Roman" panose="02020603050405020304" pitchFamily="18" charset="0"/>
              </a:rPr>
            </a:br>
            <a:r>
              <a:rPr sz="800" b="1" dirty="0">
                <a:solidFill>
                  <a:srgbClr val="333333"/>
                </a:solidFill>
                <a:latin typeface="Aptos Slab" panose="020B0004020202020204" pitchFamily="34" charset="0"/>
                <a:cs typeface="Tahoma"/>
              </a:rPr>
              <a:t>Access:</a:t>
            </a:r>
            <a:r>
              <a:rPr lang="en-IN" sz="800" b="1" dirty="0">
                <a:solidFill>
                  <a:srgbClr val="333333"/>
                </a:solidFill>
                <a:latin typeface="Aptos Slab" panose="020B0004020202020204" pitchFamily="34" charset="0"/>
                <a:cs typeface="Tahoma"/>
              </a:rPr>
              <a:t> </a:t>
            </a:r>
            <a:r>
              <a:rPr sz="800" dirty="0">
                <a:solidFill>
                  <a:srgbClr val="333333"/>
                </a:solidFill>
                <a:latin typeface="Arial MT"/>
                <a:cs typeface="Arial MT"/>
              </a:rPr>
              <a:t>Admins manage data, public users</a:t>
            </a:r>
            <a:r>
              <a:rPr lang="en-IN" sz="800" dirty="0">
                <a:solidFill>
                  <a:srgbClr val="333333"/>
                </a:solidFill>
                <a:latin typeface="Arial MT"/>
                <a:cs typeface="Arial MT"/>
              </a:rPr>
              <a:t> access</a:t>
            </a:r>
            <a:r>
              <a:rPr sz="80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lang="en-IN" sz="800" dirty="0">
                <a:solidFill>
                  <a:srgbClr val="333333"/>
                </a:solidFill>
                <a:latin typeface="Arial MT"/>
                <a:cs typeface="Arial MT"/>
              </a:rPr>
              <a:t>information </a:t>
            </a:r>
            <a:r>
              <a:rPr sz="800" dirty="0">
                <a:solidFill>
                  <a:srgbClr val="333333"/>
                </a:solidFill>
                <a:latin typeface="Arial MT"/>
                <a:cs typeface="Arial MT"/>
              </a:rPr>
              <a:t>via QR.</a:t>
            </a:r>
            <a:endParaRPr sz="800" dirty="0">
              <a:latin typeface="Arial MT"/>
              <a:cs typeface="Arial MT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0" y="3060001"/>
            <a:ext cx="5760085" cy="180340"/>
          </a:xfrm>
          <a:custGeom>
            <a:avLst/>
            <a:gdLst/>
            <a:ahLst/>
            <a:cxnLst/>
            <a:rect l="l" t="t" r="r" b="b"/>
            <a:pathLst>
              <a:path w="5760085" h="180339">
                <a:moveTo>
                  <a:pt x="5759996" y="0"/>
                </a:moveTo>
                <a:lnTo>
                  <a:pt x="0" y="0"/>
                </a:lnTo>
                <a:lnTo>
                  <a:pt x="0" y="179997"/>
                </a:lnTo>
                <a:lnTo>
                  <a:pt x="5759996" y="179997"/>
                </a:lnTo>
                <a:lnTo>
                  <a:pt x="5759996" y="0"/>
                </a:lnTo>
                <a:close/>
              </a:path>
            </a:pathLst>
          </a:custGeom>
          <a:solidFill>
            <a:srgbClr val="2D5A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65"/>
              </a:lnSpc>
            </a:pPr>
            <a:fld id="{81D60167-4931-47E6-BA6A-407CBD079E47}" type="slidenum">
              <a:rPr spc="-25" dirty="0"/>
              <a:t>2</a:t>
            </a:fld>
            <a:r>
              <a:rPr spc="-25" dirty="0"/>
              <a:t>/5</a:t>
            </a:r>
          </a:p>
        </p:txBody>
      </p:sp>
      <p:sp>
        <p:nvSpPr>
          <p:cNvPr id="38" name="object 14">
            <a:extLst>
              <a:ext uri="{FF2B5EF4-FFF2-40B4-BE49-F238E27FC236}">
                <a16:creationId xmlns:a16="http://schemas.microsoft.com/office/drawing/2014/main" id="{9AFD792A-4F54-1E80-F5D0-B81C07D23468}"/>
              </a:ext>
            </a:extLst>
          </p:cNvPr>
          <p:cNvSpPr txBox="1"/>
          <p:nvPr/>
        </p:nvSpPr>
        <p:spPr>
          <a:xfrm>
            <a:off x="294079" y="2611101"/>
            <a:ext cx="256159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sz="1000" b="1" dirty="0">
                <a:latin typeface="Aptos Slab" panose="020B0004020202020204" pitchFamily="34" charset="0"/>
                <a:cs typeface="Times New Roman" panose="02020603050405020304" pitchFamily="18" charset="0"/>
              </a:rPr>
              <a:t>FLOW:</a:t>
            </a:r>
            <a:endParaRPr sz="1000" b="1" dirty="0">
              <a:latin typeface="Aptos Slab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7" name="object 6">
            <a:extLst>
              <a:ext uri="{FF2B5EF4-FFF2-40B4-BE49-F238E27FC236}">
                <a16:creationId xmlns:a16="http://schemas.microsoft.com/office/drawing/2014/main" id="{EDB80BF7-43CF-9A82-A7FF-E6D7094014D0}"/>
              </a:ext>
            </a:extLst>
          </p:cNvPr>
          <p:cNvSpPr txBox="1"/>
          <p:nvPr/>
        </p:nvSpPr>
        <p:spPr>
          <a:xfrm>
            <a:off x="318674" y="1124578"/>
            <a:ext cx="66040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600" spc="-50" dirty="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endParaRPr sz="600" dirty="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7297" y="154111"/>
            <a:ext cx="2067560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Technology Choices + Bonus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7223" y="533323"/>
            <a:ext cx="146050" cy="14287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290398" y="729995"/>
            <a:ext cx="2536190" cy="0"/>
          </a:xfrm>
          <a:custGeom>
            <a:avLst/>
            <a:gdLst/>
            <a:ahLst/>
            <a:cxnLst/>
            <a:rect l="l" t="t" r="r" b="b"/>
            <a:pathLst>
              <a:path w="2536190">
                <a:moveTo>
                  <a:pt x="0" y="0"/>
                </a:moveTo>
                <a:lnTo>
                  <a:pt x="2535656" y="0"/>
                </a:lnTo>
              </a:path>
            </a:pathLst>
          </a:custGeom>
          <a:ln w="11087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38143" y="511832"/>
            <a:ext cx="2470595" cy="38087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5730">
              <a:lnSpc>
                <a:spcPct val="100000"/>
              </a:lnSpc>
              <a:spcBef>
                <a:spcPts val="90"/>
              </a:spcBef>
            </a:pPr>
            <a:r>
              <a:rPr sz="1100" b="1" dirty="0">
                <a:solidFill>
                  <a:srgbClr val="333333"/>
                </a:solidFill>
                <a:latin typeface="Aptos Slab" panose="020B0004020202020204" pitchFamily="34" charset="0"/>
                <a:cs typeface="Tahoma"/>
              </a:rPr>
              <a:t>Tech Stack &amp; Why</a:t>
            </a:r>
            <a:endParaRPr lang="en-IN" sz="1100" dirty="0">
              <a:latin typeface="Aptos Slab" panose="020B0004020202020204" pitchFamily="34" charset="0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lang="en-IN" sz="800" b="1" dirty="0">
                <a:solidFill>
                  <a:srgbClr val="333333"/>
                </a:solidFill>
                <a:latin typeface="Aptos Slab" panose="020B0004020202020204" pitchFamily="34" charset="0"/>
                <a:cs typeface="Tahoma"/>
              </a:rPr>
              <a:t>Component Choice &amp; Why</a:t>
            </a:r>
            <a:endParaRPr lang="en-IN" sz="800" dirty="0">
              <a:latin typeface="Aptos Slab" panose="020B0004020202020204" pitchFamily="34" charset="0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0398" y="923848"/>
            <a:ext cx="2536190" cy="0"/>
          </a:xfrm>
          <a:custGeom>
            <a:avLst/>
            <a:gdLst/>
            <a:ahLst/>
            <a:cxnLst/>
            <a:rect l="l" t="t" r="r" b="b"/>
            <a:pathLst>
              <a:path w="2536190">
                <a:moveTo>
                  <a:pt x="0" y="0"/>
                </a:moveTo>
                <a:lnTo>
                  <a:pt x="2535656" y="0"/>
                </a:lnTo>
              </a:path>
            </a:pathLst>
          </a:custGeom>
          <a:ln w="6921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53618" y="937550"/>
            <a:ext cx="2710257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668020" algn="l"/>
              </a:tabLst>
            </a:pPr>
            <a:r>
              <a:rPr sz="800" b="1" dirty="0">
                <a:solidFill>
                  <a:srgbClr val="333333"/>
                </a:solidFill>
                <a:latin typeface="Aptos Slab" panose="020B0004020202020204" pitchFamily="34" charset="0"/>
                <a:cs typeface="Tahoma"/>
              </a:rPr>
              <a:t>Cloud	GCP</a:t>
            </a:r>
            <a:r>
              <a:rPr lang="en-IN" sz="800" dirty="0">
                <a:solidFill>
                  <a:srgbClr val="333333"/>
                </a:solidFill>
                <a:latin typeface="Arial MT"/>
                <a:cs typeface="Arial MT"/>
              </a:rPr>
              <a:t>(</a:t>
            </a:r>
            <a:r>
              <a:rPr sz="800" dirty="0">
                <a:solidFill>
                  <a:srgbClr val="333333"/>
                </a:solidFill>
                <a:latin typeface="Arial MT"/>
                <a:cs typeface="Arial MT"/>
              </a:rPr>
              <a:t>London</a:t>
            </a:r>
            <a:r>
              <a:rPr lang="en-IN" sz="80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3333"/>
                </a:solidFill>
                <a:latin typeface="Arial MT"/>
                <a:cs typeface="Arial MT"/>
              </a:rPr>
              <a:t>europe-west2),</a:t>
            </a:r>
            <a:r>
              <a:rPr lang="en-US" sz="800" dirty="0">
                <a:solidFill>
                  <a:srgbClr val="333333"/>
                </a:solidFill>
                <a:latin typeface="Arial MT"/>
                <a:cs typeface="Arial MT"/>
              </a:rPr>
              <a:t> GDPR-	compliant, eligible for </a:t>
            </a:r>
            <a:r>
              <a:rPr lang="en-US" sz="800" b="1" dirty="0">
                <a:solidFill>
                  <a:srgbClr val="2D5A4A"/>
                </a:solidFill>
                <a:latin typeface="Microsoft Tai Le"/>
                <a:cs typeface="Microsoft Tai Le"/>
              </a:rPr>
              <a:t>$</a:t>
            </a:r>
            <a:r>
              <a:rPr lang="en-US" sz="800" b="1" dirty="0">
                <a:solidFill>
                  <a:srgbClr val="2D5A4A"/>
                </a:solidFill>
                <a:latin typeface="Aptos Slab" panose="020B0004020202020204" pitchFamily="34" charset="0"/>
                <a:cs typeface="Tahoma"/>
              </a:rPr>
              <a:t>200K startup 	credits</a:t>
            </a:r>
            <a:r>
              <a:rPr lang="en-US" sz="800" dirty="0">
                <a:solidFill>
                  <a:srgbClr val="333333"/>
                </a:solidFill>
                <a:latin typeface="Arial MT"/>
                <a:cs typeface="Arial MT"/>
              </a:rPr>
              <a:t>, scales to zero.</a:t>
            </a:r>
            <a:endParaRPr sz="800" dirty="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8974" y="1311561"/>
            <a:ext cx="467576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dirty="0">
                <a:solidFill>
                  <a:srgbClr val="333333"/>
                </a:solidFill>
                <a:latin typeface="Aptos Slab" panose="020B0004020202020204" pitchFamily="34" charset="0"/>
                <a:cs typeface="Tahoma"/>
              </a:rPr>
              <a:t>Backend</a:t>
            </a:r>
            <a:endParaRPr sz="800" dirty="0">
              <a:latin typeface="Aptos Slab" panose="020B0004020202020204" pitchFamily="34" charset="0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06088" y="1298154"/>
            <a:ext cx="2061378" cy="1735732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sz="800" b="1" dirty="0">
                <a:solidFill>
                  <a:srgbClr val="333333"/>
                </a:solidFill>
                <a:latin typeface="Aptos Slab" panose="020B0004020202020204" pitchFamily="34" charset="0"/>
                <a:cs typeface="Tahoma"/>
              </a:rPr>
              <a:t>Python + REST API </a:t>
            </a:r>
            <a:r>
              <a:rPr sz="800" dirty="0">
                <a:solidFill>
                  <a:srgbClr val="333333"/>
                </a:solidFill>
                <a:latin typeface="Arial MT"/>
                <a:cs typeface="Arial MT"/>
              </a:rPr>
              <a:t>on Cloud Run</a:t>
            </a:r>
            <a:r>
              <a:rPr lang="en-US" sz="80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lang="en-IN" sz="800" dirty="0">
                <a:solidFill>
                  <a:srgbClr val="333333"/>
                </a:solidFill>
                <a:latin typeface="Arial MT"/>
                <a:cs typeface="Arial MT"/>
              </a:rPr>
              <a:t>-</a:t>
            </a:r>
            <a:r>
              <a:rPr lang="en-IN" sz="800" dirty="0"/>
              <a:t> reliable</a:t>
            </a:r>
            <a:r>
              <a:rPr lang="en-US" sz="800" dirty="0">
                <a:solidFill>
                  <a:srgbClr val="333333"/>
                </a:solidFill>
                <a:latin typeface="Arial MT"/>
                <a:cs typeface="Arial MT"/>
              </a:rPr>
              <a:t>.</a:t>
            </a:r>
            <a:r>
              <a:rPr sz="80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lang="en-IN" sz="800" b="1" dirty="0">
                <a:solidFill>
                  <a:srgbClr val="333333"/>
                </a:solidFill>
                <a:latin typeface="Aptos Slab" panose="020B0004020202020204" pitchFamily="34" charset="0"/>
                <a:cs typeface="Tahoma"/>
              </a:rPr>
              <a:t>Next.js is </a:t>
            </a:r>
            <a:r>
              <a:rPr sz="800" dirty="0">
                <a:solidFill>
                  <a:srgbClr val="333333"/>
                </a:solidFill>
                <a:latin typeface="Arial MT"/>
                <a:cs typeface="Arial MT"/>
              </a:rPr>
              <a:t>widely </a:t>
            </a:r>
            <a:r>
              <a:rPr lang="en-IN" sz="800" dirty="0">
                <a:solidFill>
                  <a:srgbClr val="333333"/>
                </a:solidFill>
                <a:latin typeface="Arial MT"/>
                <a:cs typeface="Arial MT"/>
              </a:rPr>
              <a:t>adopted</a:t>
            </a:r>
            <a:r>
              <a:rPr sz="800" dirty="0">
                <a:solidFill>
                  <a:srgbClr val="333333"/>
                </a:solidFill>
                <a:latin typeface="Arial MT"/>
                <a:cs typeface="Arial MT"/>
              </a:rPr>
              <a:t>, easy to hire server-side rendering </a:t>
            </a:r>
            <a:r>
              <a:rPr lang="en-IN" sz="800" dirty="0">
                <a:solidFill>
                  <a:srgbClr val="333333"/>
                </a:solidFill>
                <a:latin typeface="Arial MT"/>
                <a:cs typeface="Arial MT"/>
              </a:rPr>
              <a:t>ensures fast</a:t>
            </a:r>
            <a:r>
              <a:rPr sz="800" dirty="0">
                <a:solidFill>
                  <a:srgbClr val="333333"/>
                </a:solidFill>
                <a:latin typeface="Arial MT"/>
                <a:cs typeface="Arial MT"/>
              </a:rPr>
              <a:t> QR</a:t>
            </a:r>
            <a:r>
              <a:rPr lang="en-IN" sz="80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3333"/>
                </a:solidFill>
                <a:latin typeface="Arial MT"/>
                <a:cs typeface="Arial MT"/>
              </a:rPr>
              <a:t>pages load</a:t>
            </a:r>
            <a:r>
              <a:rPr lang="en-US" sz="800" dirty="0">
                <a:solidFill>
                  <a:srgbClr val="333333"/>
                </a:solidFill>
                <a:latin typeface="Arial MT"/>
                <a:cs typeface="Arial MT"/>
              </a:rPr>
              <a:t>.</a:t>
            </a:r>
            <a:endParaRPr sz="800" dirty="0">
              <a:latin typeface="Arial MT"/>
              <a:cs typeface="Arial MT"/>
            </a:endParaRPr>
          </a:p>
          <a:p>
            <a:pPr marL="12700">
              <a:lnSpc>
                <a:spcPts val="900"/>
              </a:lnSpc>
            </a:pPr>
            <a:r>
              <a:rPr sz="800" b="1" dirty="0">
                <a:solidFill>
                  <a:srgbClr val="333333"/>
                </a:solidFill>
                <a:latin typeface="Aptos Slab" panose="020B0004020202020204" pitchFamily="34" charset="0"/>
                <a:cs typeface="Tahoma"/>
              </a:rPr>
              <a:t>Cloud SQL (Postgres) </a:t>
            </a:r>
            <a:r>
              <a:rPr sz="800" dirty="0">
                <a:solidFill>
                  <a:srgbClr val="333333"/>
                </a:solidFill>
                <a:latin typeface="Arial MT"/>
                <a:cs typeface="Arial MT"/>
              </a:rPr>
              <a:t>— reliable, free-</a:t>
            </a:r>
            <a:endParaRPr sz="800" dirty="0">
              <a:latin typeface="Arial MT"/>
              <a:cs typeface="Arial MT"/>
            </a:endParaRPr>
          </a:p>
          <a:p>
            <a:pPr marL="12700">
              <a:lnSpc>
                <a:spcPts val="944"/>
              </a:lnSpc>
            </a:pPr>
            <a:r>
              <a:rPr sz="800" dirty="0">
                <a:solidFill>
                  <a:srgbClr val="333333"/>
                </a:solidFill>
                <a:latin typeface="Arial MT"/>
                <a:cs typeface="Arial MT"/>
              </a:rPr>
              <a:t>tier, </a:t>
            </a:r>
            <a:r>
              <a:rPr lang="en-IN" sz="800" dirty="0">
                <a:solidFill>
                  <a:srgbClr val="333333"/>
                </a:solidFill>
                <a:latin typeface="Arial MT"/>
                <a:cs typeface="Arial MT"/>
              </a:rPr>
              <a:t>low latency.</a:t>
            </a:r>
            <a:endParaRPr sz="800" dirty="0">
              <a:latin typeface="Arial MT"/>
              <a:cs typeface="Arial MT"/>
            </a:endParaRPr>
          </a:p>
          <a:p>
            <a:pPr marL="12700" marR="5080">
              <a:lnSpc>
                <a:spcPts val="950"/>
              </a:lnSpc>
              <a:spcBef>
                <a:spcPts val="35"/>
              </a:spcBef>
            </a:pPr>
            <a:r>
              <a:rPr sz="800" b="1" dirty="0">
                <a:solidFill>
                  <a:srgbClr val="333333"/>
                </a:solidFill>
                <a:latin typeface="Aptos Slab" panose="020B0004020202020204" pitchFamily="34" charset="0"/>
                <a:cs typeface="Tahoma"/>
              </a:rPr>
              <a:t>Cloud Storage </a:t>
            </a:r>
            <a:r>
              <a:rPr sz="800" dirty="0">
                <a:solidFill>
                  <a:srgbClr val="333333"/>
                </a:solidFill>
                <a:latin typeface="Arial MT"/>
                <a:cs typeface="Arial MT"/>
              </a:rPr>
              <a:t>— </a:t>
            </a:r>
            <a:r>
              <a:rPr lang="en-IN" sz="800" dirty="0">
                <a:solidFill>
                  <a:srgbClr val="333333"/>
                </a:solidFill>
                <a:latin typeface="Arial MT"/>
                <a:cs typeface="Arial MT"/>
              </a:rPr>
              <a:t>cost-effective</a:t>
            </a:r>
            <a:r>
              <a:rPr sz="800" dirty="0">
                <a:solidFill>
                  <a:srgbClr val="333333"/>
                </a:solidFill>
                <a:latin typeface="Arial MT"/>
                <a:cs typeface="Arial MT"/>
              </a:rPr>
              <a:t>, immutable </a:t>
            </a:r>
            <a:r>
              <a:rPr lang="en-IN" sz="800" dirty="0">
                <a:solidFill>
                  <a:srgbClr val="333333"/>
                </a:solidFill>
                <a:latin typeface="Arial MT"/>
                <a:cs typeface="Arial MT"/>
              </a:rPr>
              <a:t>raw data </a:t>
            </a:r>
            <a:r>
              <a:rPr sz="800" dirty="0">
                <a:solidFill>
                  <a:srgbClr val="333333"/>
                </a:solidFill>
                <a:latin typeface="Arial MT"/>
                <a:cs typeface="Arial MT"/>
              </a:rPr>
              <a:t>backup</a:t>
            </a:r>
            <a:r>
              <a:rPr lang="en-US" sz="800" dirty="0">
                <a:solidFill>
                  <a:srgbClr val="333333"/>
                </a:solidFill>
                <a:latin typeface="Arial MT"/>
                <a:cs typeface="Arial MT"/>
              </a:rPr>
              <a:t>.</a:t>
            </a:r>
            <a:endParaRPr sz="800" dirty="0">
              <a:latin typeface="Arial MT"/>
              <a:cs typeface="Arial MT"/>
            </a:endParaRPr>
          </a:p>
          <a:p>
            <a:pPr marL="12700">
              <a:lnSpc>
                <a:spcPts val="905"/>
              </a:lnSpc>
            </a:pPr>
            <a:r>
              <a:rPr sz="800" b="1" dirty="0">
                <a:solidFill>
                  <a:srgbClr val="333333"/>
                </a:solidFill>
                <a:latin typeface="Aptos Slab" panose="020B0004020202020204" pitchFamily="34" charset="0"/>
                <a:cs typeface="Tahoma"/>
              </a:rPr>
              <a:t>Cloud Functions </a:t>
            </a:r>
            <a:r>
              <a:rPr sz="800" dirty="0">
                <a:solidFill>
                  <a:srgbClr val="333333"/>
                </a:solidFill>
                <a:latin typeface="Arial MT"/>
                <a:cs typeface="Arial MT"/>
              </a:rPr>
              <a:t>— </a:t>
            </a:r>
            <a:r>
              <a:rPr lang="en-IN" sz="800" dirty="0">
                <a:solidFill>
                  <a:srgbClr val="333333"/>
                </a:solidFill>
                <a:latin typeface="Arial MT"/>
                <a:cs typeface="Arial MT"/>
              </a:rPr>
              <a:t>event-driven</a:t>
            </a:r>
            <a:r>
              <a:rPr sz="800" dirty="0">
                <a:solidFill>
                  <a:srgbClr val="333333"/>
                </a:solidFill>
                <a:latin typeface="Arial MT"/>
                <a:cs typeface="Arial MT"/>
              </a:rPr>
              <a:t>, pay</a:t>
            </a:r>
            <a:r>
              <a:rPr lang="en-IN" sz="800" dirty="0">
                <a:solidFill>
                  <a:srgbClr val="333333"/>
                </a:solidFill>
                <a:latin typeface="Arial MT"/>
                <a:cs typeface="Arial MT"/>
              </a:rPr>
              <a:t>-</a:t>
            </a:r>
            <a:r>
              <a:rPr sz="800" dirty="0">
                <a:solidFill>
                  <a:srgbClr val="333333"/>
                </a:solidFill>
                <a:latin typeface="Arial MT"/>
                <a:cs typeface="Arial MT"/>
              </a:rPr>
              <a:t>per</a:t>
            </a:r>
            <a:r>
              <a:rPr lang="en-IN" sz="800" dirty="0">
                <a:solidFill>
                  <a:srgbClr val="333333"/>
                </a:solidFill>
                <a:latin typeface="Arial MT"/>
                <a:cs typeface="Arial MT"/>
              </a:rPr>
              <a:t>-</a:t>
            </a:r>
            <a:r>
              <a:rPr sz="800" dirty="0">
                <a:solidFill>
                  <a:srgbClr val="333333"/>
                </a:solidFill>
                <a:latin typeface="Arial MT"/>
                <a:cs typeface="Arial MT"/>
              </a:rPr>
              <a:t>use</a:t>
            </a:r>
            <a:r>
              <a:rPr lang="en-US" sz="800" dirty="0">
                <a:solidFill>
                  <a:srgbClr val="333333"/>
                </a:solidFill>
                <a:latin typeface="Arial MT"/>
                <a:cs typeface="Arial MT"/>
              </a:rPr>
              <a:t>.</a:t>
            </a:r>
            <a:endParaRPr sz="800" dirty="0">
              <a:latin typeface="Arial MT"/>
              <a:cs typeface="Arial MT"/>
            </a:endParaRPr>
          </a:p>
          <a:p>
            <a:pPr marL="12700" marR="5080" indent="-635">
              <a:lnSpc>
                <a:spcPts val="950"/>
              </a:lnSpc>
              <a:spcBef>
                <a:spcPts val="30"/>
              </a:spcBef>
            </a:pPr>
            <a:r>
              <a:rPr sz="800" b="1" dirty="0">
                <a:solidFill>
                  <a:srgbClr val="333333"/>
                </a:solidFill>
                <a:latin typeface="Aptos Slab" panose="020B0004020202020204" pitchFamily="34" charset="0"/>
                <a:cs typeface="Tahoma"/>
              </a:rPr>
              <a:t>Terraform + GitHub Actions </a:t>
            </a:r>
            <a:r>
              <a:rPr sz="800" dirty="0">
                <a:solidFill>
                  <a:srgbClr val="333333"/>
                </a:solidFill>
                <a:latin typeface="Arial MT"/>
                <a:cs typeface="Arial MT"/>
              </a:rPr>
              <a:t>— infra </a:t>
            </a:r>
            <a:r>
              <a:rPr lang="en-IN" sz="800" dirty="0">
                <a:solidFill>
                  <a:srgbClr val="333333"/>
                </a:solidFill>
                <a:latin typeface="Arial MT"/>
                <a:cs typeface="Arial MT"/>
              </a:rPr>
              <a:t>as</a:t>
            </a:r>
            <a:r>
              <a:rPr sz="800" dirty="0">
                <a:solidFill>
                  <a:srgbClr val="333333"/>
                </a:solidFill>
                <a:latin typeface="Arial MT"/>
                <a:cs typeface="Arial MT"/>
              </a:rPr>
              <a:t> code</a:t>
            </a:r>
            <a:r>
              <a:rPr lang="en-IN" sz="800" dirty="0">
                <a:solidFill>
                  <a:srgbClr val="333333"/>
                </a:solidFill>
                <a:latin typeface="Arial MT"/>
                <a:cs typeface="Arial MT"/>
              </a:rPr>
              <a:t> with automated deployment.</a:t>
            </a:r>
            <a:endParaRPr sz="800" dirty="0">
              <a:latin typeface="Arial MT"/>
              <a:cs typeface="Arial MT"/>
            </a:endParaRPr>
          </a:p>
          <a:p>
            <a:pPr marL="12700">
              <a:lnSpc>
                <a:spcPts val="905"/>
              </a:lnSpc>
            </a:pPr>
            <a:r>
              <a:rPr sz="800" b="1" dirty="0">
                <a:solidFill>
                  <a:srgbClr val="333333"/>
                </a:solidFill>
                <a:latin typeface="Aptos Slab" panose="020B0004020202020204" pitchFamily="34" charset="0"/>
                <a:cs typeface="Tahoma"/>
              </a:rPr>
              <a:t>Google Maps API </a:t>
            </a:r>
            <a:r>
              <a:rPr sz="800" dirty="0">
                <a:solidFill>
                  <a:srgbClr val="333333"/>
                </a:solidFill>
                <a:latin typeface="Arial MT"/>
                <a:cs typeface="Arial MT"/>
              </a:rPr>
              <a:t>— native </a:t>
            </a:r>
            <a:r>
              <a:rPr lang="en-IN" sz="800" dirty="0">
                <a:solidFill>
                  <a:srgbClr val="333333"/>
                </a:solidFill>
                <a:latin typeface="Arial MT"/>
                <a:cs typeface="Arial MT"/>
              </a:rPr>
              <a:t>integration with </a:t>
            </a:r>
            <a:r>
              <a:rPr sz="800" dirty="0">
                <a:solidFill>
                  <a:srgbClr val="333333"/>
                </a:solidFill>
                <a:latin typeface="Arial MT"/>
                <a:cs typeface="Arial MT"/>
              </a:rPr>
              <a:t>GCP</a:t>
            </a:r>
            <a:r>
              <a:rPr lang="en-IN" sz="800" dirty="0">
                <a:solidFill>
                  <a:srgbClr val="333333"/>
                </a:solidFill>
                <a:latin typeface="Arial MT"/>
                <a:cs typeface="Arial MT"/>
              </a:rPr>
              <a:t> for visualising.</a:t>
            </a:r>
            <a:endParaRPr sz="800" dirty="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8974" y="1438079"/>
            <a:ext cx="518159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dirty="0">
                <a:solidFill>
                  <a:srgbClr val="333333"/>
                </a:solidFill>
                <a:latin typeface="Aptos Slab" panose="020B0004020202020204" pitchFamily="34" charset="0"/>
                <a:cs typeface="Tahoma"/>
              </a:rPr>
              <a:t>Frontend</a:t>
            </a:r>
            <a:endParaRPr sz="800" dirty="0">
              <a:latin typeface="Aptos Slab" panose="020B0004020202020204" pitchFamily="34" charset="0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8974" y="1818813"/>
            <a:ext cx="518158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dirty="0">
                <a:solidFill>
                  <a:srgbClr val="333333"/>
                </a:solidFill>
                <a:latin typeface="Aptos Slab" panose="020B0004020202020204" pitchFamily="34" charset="0"/>
                <a:cs typeface="Tahoma"/>
              </a:rPr>
              <a:t>Database</a:t>
            </a:r>
            <a:endParaRPr sz="800" dirty="0">
              <a:latin typeface="Aptos Slab" panose="020B0004020202020204" pitchFamily="34" charset="0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3618" y="2047251"/>
            <a:ext cx="417830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dirty="0">
                <a:solidFill>
                  <a:srgbClr val="333333"/>
                </a:solidFill>
                <a:latin typeface="Aptos Slab" panose="020B0004020202020204" pitchFamily="34" charset="0"/>
                <a:cs typeface="Tahoma"/>
              </a:rPr>
              <a:t>Storage</a:t>
            </a:r>
            <a:endParaRPr sz="800" dirty="0">
              <a:latin typeface="Aptos Slab" panose="020B0004020202020204" pitchFamily="34" charset="0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48974" y="2292070"/>
            <a:ext cx="592128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dirty="0">
                <a:solidFill>
                  <a:srgbClr val="333333"/>
                </a:solidFill>
                <a:latin typeface="Aptos Slab" panose="020B0004020202020204" pitchFamily="34" charset="0"/>
                <a:cs typeface="Tahoma"/>
              </a:rPr>
              <a:t>Processing</a:t>
            </a:r>
            <a:endParaRPr sz="800" dirty="0">
              <a:latin typeface="Aptos Slab" panose="020B0004020202020204" pitchFamily="34" charset="0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3618" y="2540785"/>
            <a:ext cx="417830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dirty="0">
                <a:solidFill>
                  <a:srgbClr val="333333"/>
                </a:solidFill>
                <a:latin typeface="Aptos Slab" panose="020B0004020202020204" pitchFamily="34" charset="0"/>
                <a:cs typeface="Tahoma"/>
              </a:rPr>
              <a:t>IaC / CI</a:t>
            </a:r>
            <a:endParaRPr sz="800" dirty="0">
              <a:latin typeface="Aptos Slab" panose="020B0004020202020204" pitchFamily="34" charset="0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58701" y="2766691"/>
            <a:ext cx="319482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dirty="0">
                <a:solidFill>
                  <a:srgbClr val="333333"/>
                </a:solidFill>
                <a:latin typeface="Aptos Slab" panose="020B0004020202020204" pitchFamily="34" charset="0"/>
                <a:cs typeface="Tahoma"/>
              </a:rPr>
              <a:t>Maps</a:t>
            </a:r>
            <a:endParaRPr sz="800" dirty="0">
              <a:latin typeface="Aptos Slab" panose="020B0004020202020204" pitchFamily="34" charset="0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0" y="3035344"/>
            <a:ext cx="5760085" cy="205104"/>
            <a:chOff x="0" y="3035344"/>
            <a:chExt cx="5760085" cy="205104"/>
          </a:xfrm>
        </p:grpSpPr>
        <p:sp>
          <p:nvSpPr>
            <p:cNvPr id="18" name="object 18"/>
            <p:cNvSpPr/>
            <p:nvPr/>
          </p:nvSpPr>
          <p:spPr>
            <a:xfrm>
              <a:off x="290398" y="3040887"/>
              <a:ext cx="2536190" cy="0"/>
            </a:xfrm>
            <a:custGeom>
              <a:avLst/>
              <a:gdLst/>
              <a:ahLst/>
              <a:cxnLst/>
              <a:rect l="l" t="t" r="r" b="b"/>
              <a:pathLst>
                <a:path w="2536190">
                  <a:moveTo>
                    <a:pt x="0" y="0"/>
                  </a:moveTo>
                  <a:lnTo>
                    <a:pt x="2535656" y="0"/>
                  </a:lnTo>
                </a:path>
              </a:pathLst>
            </a:custGeom>
            <a:ln w="11087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0" y="3060001"/>
              <a:ext cx="5760085" cy="180340"/>
            </a:xfrm>
            <a:custGeom>
              <a:avLst/>
              <a:gdLst/>
              <a:ahLst/>
              <a:cxnLst/>
              <a:rect l="l" t="t" r="r" b="b"/>
              <a:pathLst>
                <a:path w="5760085" h="180339">
                  <a:moveTo>
                    <a:pt x="5759996" y="0"/>
                  </a:moveTo>
                  <a:lnTo>
                    <a:pt x="0" y="0"/>
                  </a:lnTo>
                  <a:lnTo>
                    <a:pt x="0" y="179997"/>
                  </a:lnTo>
                  <a:lnTo>
                    <a:pt x="5759996" y="17999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2D5A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3351062" y="540090"/>
            <a:ext cx="1971669" cy="469900"/>
            <a:chOff x="3349637" y="533247"/>
            <a:chExt cx="1803400" cy="469900"/>
          </a:xfrm>
        </p:grpSpPr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49637" y="533247"/>
              <a:ext cx="142875" cy="14287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352799" y="700896"/>
              <a:ext cx="1800225" cy="302260"/>
            </a:xfrm>
            <a:custGeom>
              <a:avLst/>
              <a:gdLst/>
              <a:ahLst/>
              <a:cxnLst/>
              <a:rect l="l" t="t" r="r" b="b"/>
              <a:pathLst>
                <a:path w="1800225" h="302259">
                  <a:moveTo>
                    <a:pt x="1749411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51216"/>
                  </a:lnTo>
                  <a:lnTo>
                    <a:pt x="3977" y="270917"/>
                  </a:lnTo>
                  <a:lnTo>
                    <a:pt x="14823" y="287004"/>
                  </a:lnTo>
                  <a:lnTo>
                    <a:pt x="30910" y="297850"/>
                  </a:lnTo>
                  <a:lnTo>
                    <a:pt x="50610" y="301827"/>
                  </a:lnTo>
                  <a:lnTo>
                    <a:pt x="1749411" y="301827"/>
                  </a:lnTo>
                  <a:lnTo>
                    <a:pt x="1769111" y="297850"/>
                  </a:lnTo>
                  <a:lnTo>
                    <a:pt x="1785199" y="287004"/>
                  </a:lnTo>
                  <a:lnTo>
                    <a:pt x="1796045" y="270917"/>
                  </a:lnTo>
                  <a:lnTo>
                    <a:pt x="1800022" y="251216"/>
                  </a:lnTo>
                  <a:lnTo>
                    <a:pt x="1800022" y="50610"/>
                  </a:lnTo>
                  <a:lnTo>
                    <a:pt x="1796045" y="30910"/>
                  </a:lnTo>
                  <a:lnTo>
                    <a:pt x="1785199" y="14823"/>
                  </a:lnTo>
                  <a:lnTo>
                    <a:pt x="1769111" y="3977"/>
                  </a:lnTo>
                  <a:lnTo>
                    <a:pt x="1749411" y="0"/>
                  </a:lnTo>
                  <a:close/>
                </a:path>
              </a:pathLst>
            </a:custGeom>
            <a:solidFill>
              <a:srgbClr val="A650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434080" y="447621"/>
            <a:ext cx="1887220" cy="506549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30"/>
              </a:spcBef>
            </a:pPr>
            <a:r>
              <a:rPr sz="1200" b="1" dirty="0">
                <a:solidFill>
                  <a:srgbClr val="333333"/>
                </a:solidFill>
                <a:latin typeface="Aptos Slab" panose="020B0004020202020204" pitchFamily="34" charset="0"/>
                <a:cs typeface="Tahoma"/>
              </a:rPr>
              <a:t>Medallion Architecture</a:t>
            </a:r>
            <a:endParaRPr lang="en-IN" sz="1200" dirty="0">
              <a:latin typeface="Aptos Slab" panose="020B0004020202020204" pitchFamily="34" charset="0"/>
              <a:cs typeface="Tahoma"/>
            </a:endParaRPr>
          </a:p>
          <a:p>
            <a:pPr marR="22860" algn="ctr">
              <a:lnSpc>
                <a:spcPct val="100000"/>
              </a:lnSpc>
              <a:spcBef>
                <a:spcPts val="240"/>
              </a:spcBef>
            </a:pPr>
            <a:r>
              <a:rPr lang="en-IN" sz="800" b="1" dirty="0">
                <a:solidFill>
                  <a:srgbClr val="FFFFFF"/>
                </a:solidFill>
                <a:latin typeface="Aptos Slab" panose="020B0004020202020204" pitchFamily="34" charset="0"/>
                <a:cs typeface="Tahoma"/>
              </a:rPr>
              <a:t>Bronze</a:t>
            </a:r>
            <a:endParaRPr lang="en-IN" sz="800" dirty="0">
              <a:latin typeface="Aptos Slab" panose="020B0004020202020204" pitchFamily="34" charset="0"/>
              <a:cs typeface="Tahoma"/>
            </a:endParaRPr>
          </a:p>
          <a:p>
            <a:pPr marR="22225" algn="ctr">
              <a:lnSpc>
                <a:spcPct val="100000"/>
              </a:lnSpc>
              <a:spcBef>
                <a:spcPts val="185"/>
              </a:spcBef>
            </a:pPr>
            <a:r>
              <a:rPr sz="600" b="1" dirty="0">
                <a:solidFill>
                  <a:srgbClr val="FFFFFF"/>
                </a:solidFill>
                <a:latin typeface="Aptos Slab" panose="020B0004020202020204" pitchFamily="34" charset="0"/>
                <a:cs typeface="Tahoma"/>
              </a:rPr>
              <a:t>Raw CSV/JSON </a:t>
            </a:r>
            <a:r>
              <a:rPr sz="600" b="1" dirty="0">
                <a:solidFill>
                  <a:srgbClr val="FFFFFF"/>
                </a:solidFill>
                <a:latin typeface="Aptos Slab" panose="020B0004020202020204" pitchFamily="34" charset="0"/>
                <a:cs typeface="Times New Roman" panose="02020603050405020304" pitchFamily="18" charset="0"/>
              </a:rPr>
              <a:t>→ </a:t>
            </a:r>
            <a:r>
              <a:rPr sz="600" b="1" dirty="0">
                <a:solidFill>
                  <a:srgbClr val="FFFFFF"/>
                </a:solidFill>
                <a:latin typeface="Aptos Slab" panose="020B0004020202020204" pitchFamily="34" charset="0"/>
                <a:cs typeface="Tahoma"/>
              </a:rPr>
              <a:t>Cloud Storage</a:t>
            </a:r>
            <a:endParaRPr sz="600" dirty="0">
              <a:latin typeface="Aptos Slab" panose="020B0004020202020204" pitchFamily="34" charset="0"/>
              <a:cs typeface="Tahom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352799" y="1027012"/>
            <a:ext cx="1968196" cy="297815"/>
          </a:xfrm>
          <a:custGeom>
            <a:avLst/>
            <a:gdLst/>
            <a:ahLst/>
            <a:cxnLst/>
            <a:rect l="l" t="t" r="r" b="b"/>
            <a:pathLst>
              <a:path w="1800225" h="297815">
                <a:moveTo>
                  <a:pt x="1749411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246999"/>
                </a:lnTo>
                <a:lnTo>
                  <a:pt x="3977" y="266699"/>
                </a:lnTo>
                <a:lnTo>
                  <a:pt x="14823" y="282786"/>
                </a:lnTo>
                <a:lnTo>
                  <a:pt x="30910" y="293632"/>
                </a:lnTo>
                <a:lnTo>
                  <a:pt x="50610" y="297610"/>
                </a:lnTo>
                <a:lnTo>
                  <a:pt x="1749411" y="297610"/>
                </a:lnTo>
                <a:lnTo>
                  <a:pt x="1769111" y="293632"/>
                </a:lnTo>
                <a:lnTo>
                  <a:pt x="1785199" y="282786"/>
                </a:lnTo>
                <a:lnTo>
                  <a:pt x="1796045" y="266699"/>
                </a:lnTo>
                <a:lnTo>
                  <a:pt x="1800022" y="246999"/>
                </a:lnTo>
                <a:lnTo>
                  <a:pt x="1800022" y="50610"/>
                </a:lnTo>
                <a:lnTo>
                  <a:pt x="1796045" y="30910"/>
                </a:lnTo>
                <a:lnTo>
                  <a:pt x="1785199" y="14823"/>
                </a:lnTo>
                <a:lnTo>
                  <a:pt x="1769111" y="3977"/>
                </a:lnTo>
                <a:lnTo>
                  <a:pt x="1749411" y="0"/>
                </a:lnTo>
                <a:close/>
              </a:path>
            </a:pathLst>
          </a:custGeom>
          <a:solidFill>
            <a:srgbClr val="1465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731875" y="987443"/>
            <a:ext cx="1204773" cy="285976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50"/>
              </a:spcBef>
            </a:pPr>
            <a:r>
              <a:rPr sz="800" b="1" dirty="0">
                <a:solidFill>
                  <a:srgbClr val="FFFFFF"/>
                </a:solidFill>
                <a:latin typeface="Aptos Slab" panose="020B0004020202020204" pitchFamily="34" charset="0"/>
                <a:cs typeface="Tahoma"/>
              </a:rPr>
              <a:t>Silver</a:t>
            </a:r>
            <a:endParaRPr sz="800" dirty="0">
              <a:latin typeface="Aptos Slab" panose="020B0004020202020204" pitchFamily="34" charset="0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85"/>
              </a:spcBef>
            </a:pPr>
            <a:r>
              <a:rPr sz="600" b="1" dirty="0">
                <a:solidFill>
                  <a:srgbClr val="FFFFFF"/>
                </a:solidFill>
                <a:latin typeface="Aptos Slab" panose="020B0004020202020204" pitchFamily="34" charset="0"/>
                <a:cs typeface="Tahoma"/>
              </a:rPr>
              <a:t>Clean</a:t>
            </a:r>
            <a:r>
              <a:rPr lang="en-IN" sz="600" b="1" dirty="0">
                <a:solidFill>
                  <a:srgbClr val="FFFFFF"/>
                </a:solidFill>
                <a:latin typeface="Aptos Slab" panose="020B0004020202020204" pitchFamily="34" charset="0"/>
                <a:cs typeface="Tahoma"/>
              </a:rPr>
              <a:t>ed</a:t>
            </a:r>
            <a:r>
              <a:rPr sz="600" b="1" dirty="0">
                <a:solidFill>
                  <a:srgbClr val="FFFFFF"/>
                </a:solidFill>
                <a:latin typeface="Aptos Slab" panose="020B0004020202020204" pitchFamily="34" charset="0"/>
                <a:cs typeface="Tahoma"/>
              </a:rPr>
              <a:t> data </a:t>
            </a:r>
            <a:r>
              <a:rPr sz="600" b="1" dirty="0">
                <a:solidFill>
                  <a:srgbClr val="FFFFFF"/>
                </a:solidFill>
                <a:latin typeface="Aptos Slab" panose="020B0004020202020204" pitchFamily="34" charset="0"/>
                <a:cs typeface="Times New Roman" panose="02020603050405020304" pitchFamily="18" charset="0"/>
              </a:rPr>
              <a:t>→ </a:t>
            </a:r>
            <a:r>
              <a:rPr sz="600" b="1" dirty="0">
                <a:solidFill>
                  <a:srgbClr val="FFFFFF"/>
                </a:solidFill>
                <a:latin typeface="Aptos Slab" panose="020B0004020202020204" pitchFamily="34" charset="0"/>
                <a:cs typeface="Tahoma"/>
              </a:rPr>
              <a:t>PostgreSQL</a:t>
            </a:r>
            <a:endParaRPr sz="600" dirty="0">
              <a:latin typeface="Aptos Slab" panose="020B0004020202020204" pitchFamily="34" charset="0"/>
              <a:cs typeface="Tahom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352799" y="1348905"/>
            <a:ext cx="1968196" cy="302260"/>
          </a:xfrm>
          <a:custGeom>
            <a:avLst/>
            <a:gdLst/>
            <a:ahLst/>
            <a:cxnLst/>
            <a:rect l="l" t="t" r="r" b="b"/>
            <a:pathLst>
              <a:path w="1800225" h="302260">
                <a:moveTo>
                  <a:pt x="1749411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251216"/>
                </a:lnTo>
                <a:lnTo>
                  <a:pt x="3977" y="270916"/>
                </a:lnTo>
                <a:lnTo>
                  <a:pt x="14823" y="287003"/>
                </a:lnTo>
                <a:lnTo>
                  <a:pt x="30910" y="297850"/>
                </a:lnTo>
                <a:lnTo>
                  <a:pt x="50610" y="301827"/>
                </a:lnTo>
                <a:lnTo>
                  <a:pt x="1749411" y="301827"/>
                </a:lnTo>
                <a:lnTo>
                  <a:pt x="1769111" y="297850"/>
                </a:lnTo>
                <a:lnTo>
                  <a:pt x="1785199" y="287003"/>
                </a:lnTo>
                <a:lnTo>
                  <a:pt x="1796045" y="270916"/>
                </a:lnTo>
                <a:lnTo>
                  <a:pt x="1800022" y="251216"/>
                </a:lnTo>
                <a:lnTo>
                  <a:pt x="1800022" y="50610"/>
                </a:lnTo>
                <a:lnTo>
                  <a:pt x="1796045" y="30910"/>
                </a:lnTo>
                <a:lnTo>
                  <a:pt x="1785199" y="14823"/>
                </a:lnTo>
                <a:lnTo>
                  <a:pt x="1769111" y="3977"/>
                </a:lnTo>
                <a:lnTo>
                  <a:pt x="1749411" y="0"/>
                </a:lnTo>
                <a:close/>
              </a:path>
            </a:pathLst>
          </a:custGeom>
          <a:solidFill>
            <a:srgbClr val="C586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3731875" y="1323425"/>
            <a:ext cx="1285279" cy="285976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50"/>
              </a:spcBef>
            </a:pPr>
            <a:r>
              <a:rPr sz="800" b="1" dirty="0">
                <a:solidFill>
                  <a:srgbClr val="FFFFFF"/>
                </a:solidFill>
                <a:latin typeface="Aptos Slab" panose="020B0004020202020204" pitchFamily="34" charset="0"/>
                <a:cs typeface="Tahoma"/>
              </a:rPr>
              <a:t>Gold</a:t>
            </a:r>
            <a:r>
              <a:rPr lang="en-IN" sz="800" b="1" dirty="0">
                <a:solidFill>
                  <a:srgbClr val="FFFFFF"/>
                </a:solidFill>
                <a:latin typeface="Aptos Slab" panose="020B0004020202020204" pitchFamily="34" charset="0"/>
                <a:cs typeface="Tahoma"/>
              </a:rPr>
              <a:t> (future)</a:t>
            </a:r>
            <a:endParaRPr sz="800" dirty="0">
              <a:latin typeface="Aptos Slab" panose="020B0004020202020204" pitchFamily="34" charset="0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85"/>
              </a:spcBef>
            </a:pPr>
            <a:r>
              <a:rPr sz="600" b="1" dirty="0">
                <a:solidFill>
                  <a:srgbClr val="FFFFFF"/>
                </a:solidFill>
                <a:latin typeface="Aptos Slab" panose="020B0004020202020204" pitchFamily="34" charset="0"/>
                <a:cs typeface="Tahoma"/>
              </a:rPr>
              <a:t>QR Pages + BigQuery </a:t>
            </a:r>
            <a:r>
              <a:rPr lang="en-IN" sz="600" b="1" dirty="0">
                <a:solidFill>
                  <a:srgbClr val="FFFFFF"/>
                </a:solidFill>
                <a:latin typeface="Aptos Slab" panose="020B0004020202020204" pitchFamily="34" charset="0"/>
                <a:cs typeface="Tahoma"/>
              </a:rPr>
              <a:t>Analytics</a:t>
            </a:r>
            <a:endParaRPr sz="600" dirty="0">
              <a:latin typeface="Aptos Slab" panose="020B0004020202020204" pitchFamily="34" charset="0"/>
              <a:cs typeface="Tahom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222445" y="991712"/>
            <a:ext cx="60960" cy="354965"/>
            <a:chOff x="4222445" y="991712"/>
            <a:chExt cx="60960" cy="354965"/>
          </a:xfrm>
        </p:grpSpPr>
        <p:sp>
          <p:nvSpPr>
            <p:cNvPr id="29" name="object 29"/>
            <p:cNvSpPr/>
            <p:nvPr/>
          </p:nvSpPr>
          <p:spPr>
            <a:xfrm>
              <a:off x="4252811" y="1005254"/>
              <a:ext cx="0" cy="10795"/>
            </a:xfrm>
            <a:custGeom>
              <a:avLst/>
              <a:gdLst/>
              <a:ahLst/>
              <a:cxnLst/>
              <a:rect l="l" t="t" r="r" b="b"/>
              <a:pathLst>
                <a:path h="10794">
                  <a:moveTo>
                    <a:pt x="0" y="0"/>
                  </a:moveTo>
                  <a:lnTo>
                    <a:pt x="0" y="10244"/>
                  </a:lnTo>
                </a:path>
              </a:pathLst>
            </a:custGeom>
            <a:ln w="10122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226494" y="995760"/>
              <a:ext cx="52705" cy="24765"/>
            </a:xfrm>
            <a:custGeom>
              <a:avLst/>
              <a:gdLst/>
              <a:ahLst/>
              <a:cxnLst/>
              <a:rect l="l" t="t" r="r" b="b"/>
              <a:pathLst>
                <a:path w="52704" h="24765">
                  <a:moveTo>
                    <a:pt x="52633" y="0"/>
                  </a:moveTo>
                  <a:lnTo>
                    <a:pt x="44589" y="3855"/>
                  </a:lnTo>
                  <a:lnTo>
                    <a:pt x="36391" y="11102"/>
                  </a:lnTo>
                  <a:lnTo>
                    <a:pt x="29734" y="18966"/>
                  </a:lnTo>
                  <a:lnTo>
                    <a:pt x="26316" y="24671"/>
                  </a:lnTo>
                  <a:lnTo>
                    <a:pt x="22898" y="18966"/>
                  </a:lnTo>
                  <a:lnTo>
                    <a:pt x="16242" y="11102"/>
                  </a:lnTo>
                  <a:lnTo>
                    <a:pt x="8044" y="3855"/>
                  </a:lnTo>
                  <a:lnTo>
                    <a:pt x="0" y="0"/>
                  </a:lnTo>
                </a:path>
              </a:pathLst>
            </a:custGeom>
            <a:ln w="8097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252811" y="1327152"/>
              <a:ext cx="0" cy="10795"/>
            </a:xfrm>
            <a:custGeom>
              <a:avLst/>
              <a:gdLst/>
              <a:ahLst/>
              <a:cxnLst/>
              <a:rect l="l" t="t" r="r" b="b"/>
              <a:pathLst>
                <a:path h="10794">
                  <a:moveTo>
                    <a:pt x="0" y="0"/>
                  </a:moveTo>
                  <a:lnTo>
                    <a:pt x="0" y="10238"/>
                  </a:lnTo>
                </a:path>
              </a:pathLst>
            </a:custGeom>
            <a:ln w="10122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226494" y="1317653"/>
              <a:ext cx="52705" cy="24765"/>
            </a:xfrm>
            <a:custGeom>
              <a:avLst/>
              <a:gdLst/>
              <a:ahLst/>
              <a:cxnLst/>
              <a:rect l="l" t="t" r="r" b="b"/>
              <a:pathLst>
                <a:path w="52704" h="24765">
                  <a:moveTo>
                    <a:pt x="52633" y="0"/>
                  </a:moveTo>
                  <a:lnTo>
                    <a:pt x="44589" y="3855"/>
                  </a:lnTo>
                  <a:lnTo>
                    <a:pt x="36391" y="11102"/>
                  </a:lnTo>
                  <a:lnTo>
                    <a:pt x="29734" y="18966"/>
                  </a:lnTo>
                  <a:lnTo>
                    <a:pt x="26316" y="24671"/>
                  </a:lnTo>
                  <a:lnTo>
                    <a:pt x="22898" y="18966"/>
                  </a:lnTo>
                  <a:lnTo>
                    <a:pt x="16242" y="11102"/>
                  </a:lnTo>
                  <a:lnTo>
                    <a:pt x="8044" y="3855"/>
                  </a:lnTo>
                  <a:lnTo>
                    <a:pt x="0" y="0"/>
                  </a:lnTo>
                </a:path>
              </a:pathLst>
            </a:custGeom>
            <a:ln w="8097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3" name="object 3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49637" y="1726691"/>
            <a:ext cx="177800" cy="142875"/>
          </a:xfrm>
          <a:prstGeom prst="rect">
            <a:avLst/>
          </a:prstGeom>
        </p:spPr>
      </p:pic>
      <p:sp>
        <p:nvSpPr>
          <p:cNvPr id="34" name="object 34"/>
          <p:cNvSpPr/>
          <p:nvPr/>
        </p:nvSpPr>
        <p:spPr>
          <a:xfrm>
            <a:off x="3558501" y="2065985"/>
            <a:ext cx="20320" cy="0"/>
          </a:xfrm>
          <a:custGeom>
            <a:avLst/>
            <a:gdLst/>
            <a:ahLst/>
            <a:cxnLst/>
            <a:rect l="l" t="t" r="r" b="b"/>
            <a:pathLst>
              <a:path w="20320">
                <a:moveTo>
                  <a:pt x="0" y="0"/>
                </a:moveTo>
                <a:lnTo>
                  <a:pt x="20167" y="0"/>
                </a:lnTo>
              </a:path>
            </a:pathLst>
          </a:custGeom>
          <a:ln w="5054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995407" y="2288184"/>
            <a:ext cx="20320" cy="0"/>
          </a:xfrm>
          <a:custGeom>
            <a:avLst/>
            <a:gdLst/>
            <a:ahLst/>
            <a:cxnLst/>
            <a:rect l="l" t="t" r="r" b="b"/>
            <a:pathLst>
              <a:path w="20320">
                <a:moveTo>
                  <a:pt x="0" y="0"/>
                </a:moveTo>
                <a:lnTo>
                  <a:pt x="20167" y="0"/>
                </a:lnTo>
              </a:path>
            </a:pathLst>
          </a:custGeom>
          <a:ln w="5054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625710" y="2357780"/>
            <a:ext cx="20320" cy="0"/>
          </a:xfrm>
          <a:custGeom>
            <a:avLst/>
            <a:gdLst/>
            <a:ahLst/>
            <a:cxnLst/>
            <a:rect l="l" t="t" r="r" b="b"/>
            <a:pathLst>
              <a:path w="20320">
                <a:moveTo>
                  <a:pt x="0" y="0"/>
                </a:moveTo>
                <a:lnTo>
                  <a:pt x="20167" y="0"/>
                </a:lnTo>
              </a:path>
            </a:pathLst>
          </a:custGeom>
          <a:ln w="5054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625710" y="2427363"/>
            <a:ext cx="20320" cy="0"/>
          </a:xfrm>
          <a:custGeom>
            <a:avLst/>
            <a:gdLst/>
            <a:ahLst/>
            <a:cxnLst/>
            <a:rect l="l" t="t" r="r" b="b"/>
            <a:pathLst>
              <a:path w="20320">
                <a:moveTo>
                  <a:pt x="0" y="0"/>
                </a:moveTo>
                <a:lnTo>
                  <a:pt x="20167" y="0"/>
                </a:lnTo>
              </a:path>
            </a:pathLst>
          </a:custGeom>
          <a:ln w="5054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659327" y="2496959"/>
            <a:ext cx="20320" cy="0"/>
          </a:xfrm>
          <a:custGeom>
            <a:avLst/>
            <a:gdLst/>
            <a:ahLst/>
            <a:cxnLst/>
            <a:rect l="l" t="t" r="r" b="b"/>
            <a:pathLst>
              <a:path w="20320">
                <a:moveTo>
                  <a:pt x="0" y="0"/>
                </a:moveTo>
                <a:lnTo>
                  <a:pt x="20167" y="0"/>
                </a:lnTo>
              </a:path>
            </a:pathLst>
          </a:custGeom>
          <a:ln w="5054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062628" y="2579992"/>
            <a:ext cx="20320" cy="0"/>
          </a:xfrm>
          <a:custGeom>
            <a:avLst/>
            <a:gdLst/>
            <a:ahLst/>
            <a:cxnLst/>
            <a:rect l="l" t="t" r="r" b="b"/>
            <a:pathLst>
              <a:path w="20320">
                <a:moveTo>
                  <a:pt x="0" y="0"/>
                </a:moveTo>
                <a:lnTo>
                  <a:pt x="20167" y="0"/>
                </a:lnTo>
              </a:path>
            </a:pathLst>
          </a:custGeom>
          <a:ln w="5054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096232" y="2649575"/>
            <a:ext cx="20320" cy="0"/>
          </a:xfrm>
          <a:custGeom>
            <a:avLst/>
            <a:gdLst/>
            <a:ahLst/>
            <a:cxnLst/>
            <a:rect l="l" t="t" r="r" b="b"/>
            <a:pathLst>
              <a:path w="20320">
                <a:moveTo>
                  <a:pt x="0" y="0"/>
                </a:moveTo>
                <a:lnTo>
                  <a:pt x="20167" y="0"/>
                </a:lnTo>
              </a:path>
            </a:pathLst>
          </a:custGeom>
          <a:ln w="5054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3340112" y="1699271"/>
            <a:ext cx="1887220" cy="115377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36220">
              <a:lnSpc>
                <a:spcPts val="1270"/>
              </a:lnSpc>
              <a:spcBef>
                <a:spcPts val="90"/>
              </a:spcBef>
            </a:pPr>
            <a:r>
              <a:rPr sz="1000" b="1" dirty="0">
                <a:solidFill>
                  <a:srgbClr val="333333"/>
                </a:solidFill>
                <a:latin typeface="Aptos Slab" panose="020B0004020202020204" pitchFamily="34" charset="0"/>
                <a:cs typeface="Tahoma"/>
              </a:rPr>
              <a:t>Bonus: Database Schema</a:t>
            </a:r>
            <a:endParaRPr sz="1000" dirty="0">
              <a:latin typeface="Aptos Slab" panose="020B0004020202020204" pitchFamily="34" charset="0"/>
              <a:cs typeface="Tahoma"/>
            </a:endParaRPr>
          </a:p>
          <a:p>
            <a:pPr marL="12700">
              <a:lnSpc>
                <a:spcPts val="525"/>
              </a:lnSpc>
            </a:pPr>
            <a:r>
              <a:rPr sz="500" dirty="0">
                <a:solidFill>
                  <a:srgbClr val="2D5A4A"/>
                </a:solidFill>
                <a:latin typeface="Calibri"/>
                <a:cs typeface="Calibri"/>
              </a:rPr>
              <a:t>CREATE TABLE </a:t>
            </a:r>
            <a:r>
              <a:rPr sz="500" dirty="0">
                <a:solidFill>
                  <a:srgbClr val="333333"/>
                </a:solidFill>
                <a:latin typeface="Calibri"/>
                <a:cs typeface="Calibri"/>
              </a:rPr>
              <a:t>farmers (</a:t>
            </a:r>
            <a:endParaRPr sz="500" dirty="0">
              <a:latin typeface="Calibri"/>
              <a:cs typeface="Calibri"/>
            </a:endParaRPr>
          </a:p>
          <a:p>
            <a:pPr marL="79375" marR="421005">
              <a:lnSpc>
                <a:spcPts val="550"/>
              </a:lnSpc>
              <a:spcBef>
                <a:spcPts val="35"/>
              </a:spcBef>
            </a:pPr>
            <a:r>
              <a:rPr sz="500" dirty="0">
                <a:solidFill>
                  <a:srgbClr val="333333"/>
                </a:solidFill>
                <a:latin typeface="Calibri"/>
                <a:cs typeface="Calibri"/>
              </a:rPr>
              <a:t>id UUID PK, name VARCHAR, region VARCHAR, farm size DECIMAL, lat/lon DECIMAL(9,6), cooperative VARCHAR );</a:t>
            </a:r>
            <a:endParaRPr sz="500" dirty="0">
              <a:latin typeface="Calibri"/>
              <a:cs typeface="Calibri"/>
            </a:endParaRPr>
          </a:p>
          <a:p>
            <a:pPr marL="12700">
              <a:lnSpc>
                <a:spcPts val="575"/>
              </a:lnSpc>
              <a:spcBef>
                <a:spcPts val="40"/>
              </a:spcBef>
            </a:pPr>
            <a:r>
              <a:rPr sz="500" dirty="0">
                <a:solidFill>
                  <a:srgbClr val="2D5A4A"/>
                </a:solidFill>
                <a:latin typeface="Calibri"/>
                <a:cs typeface="Calibri"/>
              </a:rPr>
              <a:t>CREATE TABLE </a:t>
            </a:r>
            <a:r>
              <a:rPr sz="500" dirty="0">
                <a:solidFill>
                  <a:srgbClr val="333333"/>
                </a:solidFill>
                <a:latin typeface="Calibri"/>
                <a:cs typeface="Calibri"/>
              </a:rPr>
              <a:t>shipments (</a:t>
            </a:r>
            <a:endParaRPr sz="500" dirty="0">
              <a:latin typeface="Calibri"/>
              <a:cs typeface="Calibri"/>
            </a:endParaRPr>
          </a:p>
          <a:p>
            <a:pPr marL="79375" marR="430530">
              <a:lnSpc>
                <a:spcPts val="550"/>
              </a:lnSpc>
              <a:spcBef>
                <a:spcPts val="30"/>
              </a:spcBef>
            </a:pPr>
            <a:r>
              <a:rPr sz="500" dirty="0">
                <a:solidFill>
                  <a:srgbClr val="333333"/>
                </a:solidFill>
                <a:latin typeface="Calibri"/>
                <a:cs typeface="Calibri"/>
              </a:rPr>
              <a:t>id UUID PK, batch id VARCHAR UNIQUE, farmer id UUID FK</a:t>
            </a:r>
            <a:r>
              <a:rPr sz="500" dirty="0">
                <a:solidFill>
                  <a:srgbClr val="333333"/>
                </a:solidFill>
                <a:latin typeface="Lucida Sans Unicode"/>
                <a:cs typeface="Lucida Sans Unicode"/>
              </a:rPr>
              <a:t>→</a:t>
            </a:r>
            <a:r>
              <a:rPr sz="500" dirty="0">
                <a:solidFill>
                  <a:srgbClr val="333333"/>
                </a:solidFill>
                <a:latin typeface="Calibri"/>
                <a:cs typeface="Calibri"/>
              </a:rPr>
              <a:t>farmers, grade VARCHAR, weight kg DECIMAL, status VARCHAR,  created at TIMESTAMP DEFAULT NOW() );</a:t>
            </a:r>
            <a:endParaRPr sz="500" dirty="0">
              <a:latin typeface="Calibri"/>
              <a:cs typeface="Calibri"/>
            </a:endParaRPr>
          </a:p>
          <a:p>
            <a:pPr marL="12700">
              <a:lnSpc>
                <a:spcPts val="575"/>
              </a:lnSpc>
              <a:spcBef>
                <a:spcPts val="40"/>
              </a:spcBef>
            </a:pPr>
            <a:r>
              <a:rPr sz="500" dirty="0">
                <a:solidFill>
                  <a:srgbClr val="2D5A4A"/>
                </a:solidFill>
                <a:latin typeface="Calibri"/>
                <a:cs typeface="Calibri"/>
              </a:rPr>
              <a:t>CREATE TABLE </a:t>
            </a:r>
            <a:r>
              <a:rPr sz="500" dirty="0">
                <a:solidFill>
                  <a:srgbClr val="333333"/>
                </a:solidFill>
                <a:latin typeface="Calibri"/>
                <a:cs typeface="Calibri"/>
              </a:rPr>
              <a:t>shipment stages (</a:t>
            </a:r>
            <a:endParaRPr sz="500" dirty="0">
              <a:latin typeface="Calibri"/>
              <a:cs typeface="Calibri"/>
            </a:endParaRPr>
          </a:p>
          <a:p>
            <a:pPr marL="79375" marR="396875">
              <a:lnSpc>
                <a:spcPts val="550"/>
              </a:lnSpc>
              <a:spcBef>
                <a:spcPts val="35"/>
              </a:spcBef>
            </a:pPr>
            <a:r>
              <a:rPr sz="500" dirty="0">
                <a:solidFill>
                  <a:srgbClr val="333333"/>
                </a:solidFill>
                <a:latin typeface="Calibri"/>
                <a:cs typeface="Calibri"/>
              </a:rPr>
              <a:t>id UUID PK, shipment id UUID FK</a:t>
            </a:r>
            <a:r>
              <a:rPr sz="500" dirty="0">
                <a:solidFill>
                  <a:srgbClr val="333333"/>
                </a:solidFill>
                <a:latin typeface="Lucida Sans Unicode"/>
                <a:cs typeface="Lucida Sans Unicode"/>
              </a:rPr>
              <a:t>→</a:t>
            </a:r>
            <a:r>
              <a:rPr sz="500" dirty="0">
                <a:solidFill>
                  <a:srgbClr val="333333"/>
                </a:solidFill>
                <a:latin typeface="Calibri"/>
                <a:cs typeface="Calibri"/>
              </a:rPr>
              <a:t>shipments, stage VARCHAR, location VARCHAR,</a:t>
            </a:r>
            <a:endParaRPr sz="500" dirty="0">
              <a:latin typeface="Calibri"/>
              <a:cs typeface="Calibri"/>
            </a:endParaRPr>
          </a:p>
          <a:p>
            <a:pPr marL="79375">
              <a:lnSpc>
                <a:spcPts val="535"/>
              </a:lnSpc>
            </a:pPr>
            <a:r>
              <a:rPr sz="500" dirty="0">
                <a:solidFill>
                  <a:srgbClr val="333333"/>
                </a:solidFill>
                <a:latin typeface="Calibri"/>
                <a:cs typeface="Calibri"/>
              </a:rPr>
              <a:t>timestamp TIMESTAMP, notes TEXT );</a:t>
            </a:r>
            <a:endParaRPr sz="500" dirty="0">
              <a:latin typeface="Calibri"/>
              <a:cs typeface="Calibri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65"/>
              </a:lnSpc>
            </a:pPr>
            <a:fld id="{81D60167-4931-47E6-BA6A-407CBD079E47}" type="slidenum">
              <a:rPr spc="-25" dirty="0"/>
              <a:t>3</a:t>
            </a:fld>
            <a:r>
              <a:rPr spc="-25" dirty="0"/>
              <a:t>/5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7297" y="154111"/>
            <a:ext cx="1801203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dirty="0">
                <a:solidFill>
                  <a:srgbClr val="FFFFFF"/>
                </a:solidFill>
                <a:latin typeface="Aptos Slab" panose="020B0004020202020204" pitchFamily="34" charset="0"/>
                <a:cs typeface="Tahoma"/>
              </a:rPr>
              <a:t>System Architecture</a:t>
            </a:r>
            <a:endParaRPr sz="1200" dirty="0">
              <a:latin typeface="Aptos Slab" panose="020B0004020202020204" pitchFamily="34" charset="0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53644" y="411307"/>
            <a:ext cx="5046345" cy="2623820"/>
            <a:chOff x="353644" y="411307"/>
            <a:chExt cx="5046345" cy="26238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994" y="411307"/>
              <a:ext cx="5039909" cy="246514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3644" y="2911233"/>
              <a:ext cx="123825" cy="123825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500226" y="2889435"/>
            <a:ext cx="2427605" cy="2891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rgbClr val="4185F3"/>
                </a:solidFill>
                <a:latin typeface="Arial MT"/>
                <a:cs typeface="Arial MT"/>
                <a:hlinkClick r:id="rId4"/>
              </a:rPr>
              <a:t>Click here for full-resolution architecture diagram</a:t>
            </a:r>
            <a:endParaRPr sz="900" dirty="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060001"/>
            <a:ext cx="5760085" cy="180340"/>
          </a:xfrm>
          <a:custGeom>
            <a:avLst/>
            <a:gdLst/>
            <a:ahLst/>
            <a:cxnLst/>
            <a:rect l="l" t="t" r="r" b="b"/>
            <a:pathLst>
              <a:path w="5760085" h="180339">
                <a:moveTo>
                  <a:pt x="5759996" y="0"/>
                </a:moveTo>
                <a:lnTo>
                  <a:pt x="0" y="0"/>
                </a:lnTo>
                <a:lnTo>
                  <a:pt x="0" y="179997"/>
                </a:lnTo>
                <a:lnTo>
                  <a:pt x="5759996" y="179997"/>
                </a:lnTo>
                <a:lnTo>
                  <a:pt x="5759996" y="0"/>
                </a:lnTo>
                <a:close/>
              </a:path>
            </a:pathLst>
          </a:custGeom>
          <a:solidFill>
            <a:srgbClr val="2D5A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65"/>
              </a:lnSpc>
            </a:pPr>
            <a:fld id="{81D60167-4931-47E6-BA6A-407CBD079E47}" type="slidenum">
              <a:rPr spc="-25" dirty="0"/>
              <a:t>4</a:t>
            </a:fld>
            <a:r>
              <a:rPr spc="-25" dirty="0"/>
              <a:t>/5</a:t>
            </a: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7297" y="154111"/>
            <a:ext cx="3128010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Why These Choices Work for Kahawa Roots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7314" y="492546"/>
            <a:ext cx="63500" cy="889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5009" y="677026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4822" y="980822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8907" y="1267780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29481" y="1678269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1687" y="1961312"/>
            <a:ext cx="107949" cy="10795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33231" y="2145086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23084" y="2428183"/>
            <a:ext cx="65265" cy="6526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40814" y="414756"/>
            <a:ext cx="2343150" cy="2259849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lang="en-IN" sz="800" b="1" dirty="0">
                <a:solidFill>
                  <a:srgbClr val="333333"/>
                </a:solidFill>
                <a:latin typeface="Aptos Slab" panose="020B0004020202020204" pitchFamily="34" charset="0"/>
                <a:cs typeface="Tahoma"/>
              </a:rPr>
              <a:t>Cost effective</a:t>
            </a:r>
            <a:r>
              <a:rPr sz="800" b="1" dirty="0">
                <a:solidFill>
                  <a:srgbClr val="333333"/>
                </a:solidFill>
                <a:latin typeface="Aptos Slab" panose="020B0004020202020204" pitchFamily="34" charset="0"/>
                <a:cs typeface="Tahoma"/>
              </a:rPr>
              <a:t> at Small Scale</a:t>
            </a:r>
            <a:endParaRPr sz="800" dirty="0">
              <a:latin typeface="Aptos Slab" panose="020B0004020202020204" pitchFamily="34" charset="0"/>
              <a:cs typeface="Tahoma"/>
            </a:endParaRPr>
          </a:p>
          <a:p>
            <a:pPr marL="189230" marR="5080">
              <a:lnSpc>
                <a:spcPts val="950"/>
              </a:lnSpc>
              <a:spcBef>
                <a:spcPts val="409"/>
              </a:spcBef>
            </a:pPr>
            <a:r>
              <a:rPr sz="800" b="1" dirty="0">
                <a:solidFill>
                  <a:srgbClr val="654320"/>
                </a:solidFill>
                <a:latin typeface="Aptos Slab" panose="020B0004020202020204" pitchFamily="34" charset="0"/>
                <a:cs typeface="Tahoma"/>
              </a:rPr>
              <a:t>Cloud Run </a:t>
            </a:r>
            <a:r>
              <a:rPr sz="800" dirty="0">
                <a:solidFill>
                  <a:srgbClr val="333333"/>
                </a:solidFill>
                <a:latin typeface="Arial MT"/>
                <a:cs typeface="Arial MT"/>
              </a:rPr>
              <a:t>scales to zero — </a:t>
            </a:r>
            <a:r>
              <a:rPr lang="en-US" sz="800" dirty="0">
                <a:solidFill>
                  <a:srgbClr val="333333"/>
                </a:solidFill>
                <a:latin typeface="Arial MT"/>
                <a:cs typeface="Arial MT"/>
              </a:rPr>
              <a:t>Pay only for run, no cost when idle.</a:t>
            </a:r>
            <a:endParaRPr lang="en-US" sz="800" dirty="0">
              <a:latin typeface="Arial MT"/>
              <a:cs typeface="Arial MT"/>
            </a:endParaRPr>
          </a:p>
          <a:p>
            <a:pPr marL="189230" marR="27305">
              <a:lnSpc>
                <a:spcPts val="950"/>
              </a:lnSpc>
              <a:spcBef>
                <a:spcPts val="285"/>
              </a:spcBef>
            </a:pPr>
            <a:r>
              <a:rPr lang="en-US" sz="800" b="1" dirty="0">
                <a:solidFill>
                  <a:srgbClr val="654320"/>
                </a:solidFill>
                <a:latin typeface="Aptos Slab" panose="020B0004020202020204" pitchFamily="34" charset="0"/>
                <a:cs typeface="Tahoma"/>
              </a:rPr>
              <a:t>Cloud Functions </a:t>
            </a:r>
            <a:r>
              <a:rPr lang="en-US" sz="800" dirty="0">
                <a:solidFill>
                  <a:srgbClr val="333333"/>
                </a:solidFill>
                <a:latin typeface="Arial MT"/>
                <a:cs typeface="Arial MT"/>
              </a:rPr>
              <a:t>run only on demand — a few pence per execution, not a monthly server bill.</a:t>
            </a:r>
            <a:endParaRPr lang="en-US" sz="800" dirty="0">
              <a:latin typeface="Arial MT"/>
              <a:cs typeface="Arial MT"/>
            </a:endParaRPr>
          </a:p>
          <a:p>
            <a:pPr marL="189230">
              <a:lnSpc>
                <a:spcPts val="955"/>
              </a:lnSpc>
              <a:spcBef>
                <a:spcPts val="250"/>
              </a:spcBef>
            </a:pPr>
            <a:r>
              <a:rPr sz="800" b="1" dirty="0">
                <a:solidFill>
                  <a:srgbClr val="654320"/>
                </a:solidFill>
                <a:latin typeface="Aptos Slab" panose="020B0004020202020204" pitchFamily="34" charset="0"/>
                <a:cs typeface="Tahoma"/>
              </a:rPr>
              <a:t>GCP </a:t>
            </a:r>
            <a:r>
              <a:rPr sz="800" dirty="0">
                <a:solidFill>
                  <a:srgbClr val="333333"/>
                </a:solidFill>
                <a:latin typeface="Arial MT"/>
                <a:cs typeface="Arial MT"/>
              </a:rPr>
              <a:t>— eligible for startup credits (up to</a:t>
            </a:r>
            <a:endParaRPr sz="800" dirty="0">
              <a:latin typeface="Arial MT"/>
              <a:cs typeface="Arial MT"/>
            </a:endParaRPr>
          </a:p>
          <a:p>
            <a:pPr marL="189230" marR="178435">
              <a:lnSpc>
                <a:spcPts val="950"/>
              </a:lnSpc>
              <a:spcBef>
                <a:spcPts val="35"/>
              </a:spcBef>
            </a:pPr>
            <a:r>
              <a:rPr sz="800" dirty="0">
                <a:solidFill>
                  <a:srgbClr val="333333"/>
                </a:solidFill>
                <a:latin typeface="Segoe UI"/>
                <a:cs typeface="Segoe UI"/>
              </a:rPr>
              <a:t>$</a:t>
            </a:r>
            <a:r>
              <a:rPr sz="800" dirty="0">
                <a:solidFill>
                  <a:srgbClr val="333333"/>
                </a:solidFill>
                <a:latin typeface="Arial MT"/>
                <a:cs typeface="Arial MT"/>
              </a:rPr>
              <a:t>200K). </a:t>
            </a:r>
            <a:r>
              <a:rPr lang="en-US" sz="800" dirty="0">
                <a:solidFill>
                  <a:srgbClr val="333333"/>
                </a:solidFill>
                <a:latin typeface="Arial MT"/>
                <a:cs typeface="Arial MT"/>
              </a:rPr>
              <a:t>The platform could run for months before costing anything.</a:t>
            </a:r>
            <a:endParaRPr sz="800" dirty="0">
              <a:latin typeface="Arial MT"/>
              <a:cs typeface="Arial MT"/>
            </a:endParaRPr>
          </a:p>
          <a:p>
            <a:pPr marL="189230" marR="59690">
              <a:lnSpc>
                <a:spcPts val="950"/>
              </a:lnSpc>
              <a:spcBef>
                <a:spcPts val="290"/>
              </a:spcBef>
            </a:pPr>
            <a:r>
              <a:rPr sz="800" b="1" dirty="0">
                <a:solidFill>
                  <a:srgbClr val="654320"/>
                </a:solidFill>
                <a:latin typeface="Aptos Slab" panose="020B0004020202020204" pitchFamily="34" charset="0"/>
                <a:cs typeface="Tahoma"/>
              </a:rPr>
              <a:t>PostgreSQL </a:t>
            </a:r>
            <a:r>
              <a:rPr sz="800" dirty="0">
                <a:solidFill>
                  <a:srgbClr val="333333"/>
                </a:solidFill>
                <a:latin typeface="Arial MT"/>
                <a:cs typeface="Arial MT"/>
              </a:rPr>
              <a:t>— </a:t>
            </a:r>
            <a:r>
              <a:rPr lang="en-IN" sz="800" dirty="0">
                <a:solidFill>
                  <a:srgbClr val="333333"/>
                </a:solidFill>
                <a:latin typeface="Arial MT"/>
                <a:cs typeface="Arial MT"/>
              </a:rPr>
              <a:t>offers a robust, </a:t>
            </a:r>
            <a:r>
              <a:rPr sz="800" dirty="0">
                <a:solidFill>
                  <a:srgbClr val="333333"/>
                </a:solidFill>
                <a:latin typeface="Arial MT"/>
                <a:cs typeface="Arial MT"/>
              </a:rPr>
              <a:t>free-tier</a:t>
            </a:r>
            <a:r>
              <a:rPr lang="en-IN" sz="800" dirty="0">
                <a:solidFill>
                  <a:srgbClr val="333333"/>
                </a:solidFill>
                <a:latin typeface="Arial MT"/>
                <a:cs typeface="Arial MT"/>
              </a:rPr>
              <a:t>-friendly solution</a:t>
            </a:r>
            <a:r>
              <a:rPr sz="800" dirty="0">
                <a:solidFill>
                  <a:srgbClr val="333333"/>
                </a:solidFill>
                <a:latin typeface="Arial MT"/>
                <a:cs typeface="Arial MT"/>
              </a:rPr>
              <a:t>, no licensing fees.</a:t>
            </a:r>
            <a:endParaRPr sz="800" dirty="0">
              <a:latin typeface="Arial MT"/>
              <a:cs typeface="Arial MT"/>
            </a:endParaRPr>
          </a:p>
          <a:p>
            <a:pPr marL="50165">
              <a:lnSpc>
                <a:spcPct val="100000"/>
              </a:lnSpc>
              <a:spcBef>
                <a:spcPts val="335"/>
              </a:spcBef>
            </a:pPr>
            <a:r>
              <a:rPr sz="800" b="1" dirty="0">
                <a:solidFill>
                  <a:srgbClr val="333333"/>
                </a:solidFill>
                <a:latin typeface="Aptos Slab" panose="020B0004020202020204" pitchFamily="34" charset="0"/>
                <a:cs typeface="Tahoma"/>
              </a:rPr>
              <a:t>Easy to Maintain</a:t>
            </a:r>
            <a:endParaRPr sz="800" dirty="0">
              <a:latin typeface="Aptos Slab" panose="020B0004020202020204" pitchFamily="34" charset="0"/>
              <a:cs typeface="Tahoma"/>
            </a:endParaRPr>
          </a:p>
          <a:p>
            <a:pPr marL="189230" marR="42545">
              <a:lnSpc>
                <a:spcPts val="950"/>
              </a:lnSpc>
              <a:spcBef>
                <a:spcPts val="409"/>
              </a:spcBef>
            </a:pPr>
            <a:r>
              <a:rPr lang="en-IN" sz="800" b="1" dirty="0">
                <a:solidFill>
                  <a:srgbClr val="654320"/>
                </a:solidFill>
                <a:latin typeface="Aptos Slab" panose="020B0004020202020204" pitchFamily="34" charset="0"/>
                <a:cs typeface="Tahoma"/>
              </a:rPr>
              <a:t>Modular design: </a:t>
            </a:r>
            <a:r>
              <a:rPr lang="en-IN" sz="800" dirty="0">
                <a:solidFill>
                  <a:srgbClr val="333333"/>
                </a:solidFill>
                <a:latin typeface="Arial MT"/>
                <a:cs typeface="Arial MT"/>
              </a:rPr>
              <a:t>3 small apps instead </a:t>
            </a:r>
            <a:r>
              <a:rPr sz="800" dirty="0">
                <a:solidFill>
                  <a:srgbClr val="333333"/>
                </a:solidFill>
                <a:latin typeface="Arial MT"/>
                <a:cs typeface="Arial MT"/>
              </a:rPr>
              <a:t>of </a:t>
            </a:r>
            <a:r>
              <a:rPr lang="en-IN" sz="800" dirty="0">
                <a:solidFill>
                  <a:srgbClr val="333333"/>
                </a:solidFill>
                <a:latin typeface="Arial MT"/>
                <a:cs typeface="Arial MT"/>
              </a:rPr>
              <a:t>one monolith</a:t>
            </a:r>
            <a:r>
              <a:rPr sz="800" dirty="0">
                <a:solidFill>
                  <a:srgbClr val="333333"/>
                </a:solidFill>
                <a:latin typeface="Arial MT"/>
                <a:cs typeface="Arial MT"/>
              </a:rPr>
              <a:t>.</a:t>
            </a:r>
            <a:endParaRPr sz="800" dirty="0">
              <a:latin typeface="Arial MT"/>
              <a:cs typeface="Arial MT"/>
            </a:endParaRPr>
          </a:p>
          <a:p>
            <a:pPr marL="189230" marR="19050">
              <a:lnSpc>
                <a:spcPts val="950"/>
              </a:lnSpc>
              <a:spcBef>
                <a:spcPts val="290"/>
              </a:spcBef>
            </a:pPr>
            <a:r>
              <a:rPr sz="800" b="1" dirty="0">
                <a:solidFill>
                  <a:srgbClr val="654320"/>
                </a:solidFill>
                <a:latin typeface="Aptos Slab" panose="020B0004020202020204" pitchFamily="34" charset="0"/>
                <a:cs typeface="Tahoma"/>
              </a:rPr>
              <a:t>Infra</a:t>
            </a:r>
            <a:r>
              <a:rPr lang="en-IN" sz="800" b="1" dirty="0">
                <a:solidFill>
                  <a:srgbClr val="654320"/>
                </a:solidFill>
                <a:latin typeface="Aptos Slab" panose="020B0004020202020204" pitchFamily="34" charset="0"/>
                <a:cs typeface="Tahoma"/>
              </a:rPr>
              <a:t>structure</a:t>
            </a:r>
            <a:r>
              <a:rPr sz="800" b="1" dirty="0">
                <a:solidFill>
                  <a:srgbClr val="654320"/>
                </a:solidFill>
                <a:latin typeface="Aptos Slab" panose="020B0004020202020204" pitchFamily="34" charset="0"/>
                <a:cs typeface="Tahoma"/>
              </a:rPr>
              <a:t> as code </a:t>
            </a:r>
            <a:r>
              <a:rPr sz="800" dirty="0">
                <a:solidFill>
                  <a:srgbClr val="333333"/>
                </a:solidFill>
                <a:latin typeface="Arial MT"/>
                <a:cs typeface="Arial MT"/>
              </a:rPr>
              <a:t>—</a:t>
            </a:r>
            <a:r>
              <a:rPr lang="en-US" sz="80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lang="en-IN" sz="800" dirty="0">
                <a:solidFill>
                  <a:srgbClr val="333333"/>
                </a:solidFill>
                <a:latin typeface="Arial MT"/>
                <a:cs typeface="Arial MT"/>
              </a:rPr>
              <a:t>Full system reproducible via configuration.</a:t>
            </a:r>
          </a:p>
        </p:txBody>
      </p:sp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029937" y="467333"/>
            <a:ext cx="88900" cy="10160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179656" y="676985"/>
            <a:ext cx="65265" cy="6526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175287" y="1230171"/>
            <a:ext cx="65265" cy="6526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179657" y="1645637"/>
            <a:ext cx="65265" cy="65265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014751" y="2488432"/>
            <a:ext cx="101600" cy="7620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171147" y="2667928"/>
            <a:ext cx="65265" cy="65265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179657" y="2964124"/>
            <a:ext cx="65265" cy="65265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3116351" y="414756"/>
            <a:ext cx="2555674" cy="2648161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800" b="1" dirty="0">
                <a:solidFill>
                  <a:srgbClr val="333333"/>
                </a:solidFill>
                <a:latin typeface="Aptos Slab" panose="020B0004020202020204" pitchFamily="34" charset="0"/>
                <a:cs typeface="Tahoma"/>
              </a:rPr>
              <a:t>Safe &amp; Reliable</a:t>
            </a:r>
            <a:endParaRPr sz="800" dirty="0">
              <a:latin typeface="Aptos Slab" panose="020B0004020202020204" pitchFamily="34" charset="0"/>
              <a:cs typeface="Tahoma"/>
            </a:endParaRPr>
          </a:p>
          <a:p>
            <a:pPr marL="163830" marR="99695">
              <a:lnSpc>
                <a:spcPts val="950"/>
              </a:lnSpc>
              <a:spcBef>
                <a:spcPts val="409"/>
              </a:spcBef>
            </a:pPr>
            <a:r>
              <a:rPr sz="800" b="1" dirty="0">
                <a:solidFill>
                  <a:srgbClr val="654320"/>
                </a:solidFill>
                <a:latin typeface="Aptos Slab" panose="020B0004020202020204" pitchFamily="34" charset="0"/>
                <a:cs typeface="Tahoma"/>
              </a:rPr>
              <a:t>Raw data is never deleted </a:t>
            </a:r>
            <a:r>
              <a:rPr sz="800" dirty="0">
                <a:solidFill>
                  <a:srgbClr val="333333"/>
                </a:solidFill>
                <a:latin typeface="Arial MT"/>
                <a:cs typeface="Arial MT"/>
              </a:rPr>
              <a:t>— every CSV and form submission is backed up untouched. If anything goes wrong, the original data is</a:t>
            </a:r>
            <a:r>
              <a:rPr lang="en-IN" sz="800" dirty="0">
                <a:solidFill>
                  <a:srgbClr val="333333"/>
                </a:solidFill>
                <a:latin typeface="Arial MT"/>
                <a:cs typeface="Arial MT"/>
              </a:rPr>
              <a:t> present as backup</a:t>
            </a:r>
            <a:r>
              <a:rPr sz="800" dirty="0">
                <a:solidFill>
                  <a:srgbClr val="333333"/>
                </a:solidFill>
                <a:latin typeface="Arial MT"/>
                <a:cs typeface="Arial MT"/>
              </a:rPr>
              <a:t>.</a:t>
            </a:r>
            <a:endParaRPr sz="800" dirty="0">
              <a:latin typeface="Arial MT"/>
              <a:cs typeface="Arial MT"/>
            </a:endParaRPr>
          </a:p>
          <a:p>
            <a:pPr marL="163830" marR="5080">
              <a:lnSpc>
                <a:spcPts val="950"/>
              </a:lnSpc>
              <a:spcBef>
                <a:spcPts val="285"/>
              </a:spcBef>
            </a:pPr>
            <a:r>
              <a:rPr sz="800" b="1" dirty="0">
                <a:solidFill>
                  <a:srgbClr val="654320"/>
                </a:solidFill>
                <a:latin typeface="Aptos Slab" panose="020B0004020202020204" pitchFamily="34" charset="0"/>
                <a:cs typeface="Tahoma"/>
              </a:rPr>
              <a:t>Two-step validation </a:t>
            </a:r>
            <a:r>
              <a:rPr sz="800" dirty="0">
                <a:solidFill>
                  <a:srgbClr val="333333"/>
                </a:solidFill>
                <a:latin typeface="Arial MT"/>
                <a:cs typeface="Arial MT"/>
              </a:rPr>
              <a:t>— data is checked at entry </a:t>
            </a:r>
            <a:r>
              <a:rPr sz="800" i="1" dirty="0">
                <a:solidFill>
                  <a:srgbClr val="333333"/>
                </a:solidFill>
                <a:latin typeface="Aptos Slab" panose="020B0004020202020204" pitchFamily="34" charset="0"/>
                <a:cs typeface="Times New Roman" panose="02020603050405020304" pitchFamily="18" charset="0"/>
              </a:rPr>
              <a:t>and </a:t>
            </a:r>
            <a:r>
              <a:rPr sz="800" dirty="0">
                <a:solidFill>
                  <a:srgbClr val="333333"/>
                </a:solidFill>
                <a:latin typeface="Arial MT"/>
                <a:cs typeface="Arial MT"/>
              </a:rPr>
              <a:t>again </a:t>
            </a:r>
            <a:r>
              <a:rPr lang="en-IN" sz="800" dirty="0">
                <a:solidFill>
                  <a:srgbClr val="333333"/>
                </a:solidFill>
                <a:latin typeface="Arial MT"/>
                <a:cs typeface="Arial MT"/>
              </a:rPr>
              <a:t>before it is stored in </a:t>
            </a:r>
            <a:r>
              <a:rPr sz="800" dirty="0">
                <a:solidFill>
                  <a:srgbClr val="333333"/>
                </a:solidFill>
                <a:latin typeface="Arial MT"/>
                <a:cs typeface="Arial MT"/>
              </a:rPr>
              <a:t>the database. </a:t>
            </a:r>
            <a:r>
              <a:rPr lang="en-US" sz="800" dirty="0">
                <a:solidFill>
                  <a:srgbClr val="333333"/>
                </a:solidFill>
                <a:latin typeface="Arial MT"/>
                <a:cs typeface="Arial MT"/>
              </a:rPr>
              <a:t>Bad rows are rejected with </a:t>
            </a:r>
            <a:r>
              <a:rPr lang="en-IN" sz="800" dirty="0">
                <a:solidFill>
                  <a:srgbClr val="333333"/>
                </a:solidFill>
                <a:latin typeface="Arial MT"/>
                <a:cs typeface="Arial MT"/>
              </a:rPr>
              <a:t>clear</a:t>
            </a:r>
            <a:r>
              <a:rPr sz="800" dirty="0">
                <a:solidFill>
                  <a:srgbClr val="333333"/>
                </a:solidFill>
                <a:latin typeface="Arial MT"/>
                <a:cs typeface="Arial MT"/>
              </a:rPr>
              <a:t> error messages.</a:t>
            </a:r>
            <a:endParaRPr sz="800" dirty="0">
              <a:latin typeface="Arial MT"/>
              <a:cs typeface="Arial MT"/>
            </a:endParaRPr>
          </a:p>
          <a:p>
            <a:pPr marL="163830" marR="94615">
              <a:lnSpc>
                <a:spcPts val="950"/>
              </a:lnSpc>
              <a:spcBef>
                <a:spcPts val="285"/>
              </a:spcBef>
            </a:pPr>
            <a:r>
              <a:rPr sz="800" b="1" dirty="0">
                <a:solidFill>
                  <a:srgbClr val="654320"/>
                </a:solidFill>
                <a:latin typeface="Aptos Slab" panose="020B0004020202020204" pitchFamily="34" charset="0"/>
                <a:cs typeface="Tahoma"/>
              </a:rPr>
              <a:t>Passwords stored securely </a:t>
            </a:r>
            <a:r>
              <a:rPr sz="800" dirty="0">
                <a:solidFill>
                  <a:srgbClr val="333333"/>
                </a:solidFill>
                <a:latin typeface="Arial MT"/>
                <a:cs typeface="Arial MT"/>
              </a:rPr>
              <a:t>— database credentials and API keys </a:t>
            </a:r>
            <a:r>
              <a:rPr lang="en-IN" sz="800" dirty="0">
                <a:solidFill>
                  <a:srgbClr val="333333"/>
                </a:solidFill>
                <a:latin typeface="Arial MT"/>
                <a:cs typeface="Arial MT"/>
              </a:rPr>
              <a:t>stored securely </a:t>
            </a:r>
            <a:r>
              <a:rPr sz="800" dirty="0">
                <a:solidFill>
                  <a:srgbClr val="333333"/>
                </a:solidFill>
                <a:latin typeface="Arial MT"/>
                <a:cs typeface="Arial MT"/>
              </a:rPr>
              <a:t>in </a:t>
            </a:r>
            <a:r>
              <a:rPr lang="en-IN" sz="800" dirty="0">
                <a:solidFill>
                  <a:srgbClr val="333333"/>
                </a:solidFill>
                <a:latin typeface="Arial MT"/>
                <a:cs typeface="Arial MT"/>
              </a:rPr>
              <a:t>the </a:t>
            </a:r>
            <a:r>
              <a:rPr sz="800" dirty="0">
                <a:solidFill>
                  <a:srgbClr val="333333"/>
                </a:solidFill>
                <a:latin typeface="Arial MT"/>
                <a:cs typeface="Arial MT"/>
              </a:rPr>
              <a:t>vault, </a:t>
            </a:r>
            <a:r>
              <a:rPr lang="en-IN" sz="800" dirty="0">
                <a:solidFill>
                  <a:srgbClr val="333333"/>
                </a:solidFill>
                <a:latin typeface="Arial MT"/>
                <a:cs typeface="Arial MT"/>
              </a:rPr>
              <a:t>and not in code.</a:t>
            </a:r>
            <a:endParaRPr sz="800" dirty="0">
              <a:latin typeface="Arial MT"/>
              <a:cs typeface="Arial MT"/>
            </a:endParaRPr>
          </a:p>
          <a:p>
            <a:pPr marL="163830" marR="75565">
              <a:lnSpc>
                <a:spcPts val="950"/>
              </a:lnSpc>
              <a:spcBef>
                <a:spcPts val="290"/>
              </a:spcBef>
            </a:pPr>
            <a:r>
              <a:rPr sz="800" b="1" dirty="0">
                <a:solidFill>
                  <a:srgbClr val="654320"/>
                </a:solidFill>
                <a:latin typeface="Aptos Slab" panose="020B0004020202020204" pitchFamily="34" charset="0"/>
                <a:cs typeface="Tahoma"/>
              </a:rPr>
              <a:t>UK data </a:t>
            </a:r>
            <a:r>
              <a:rPr lang="en-IN" sz="800" b="1" dirty="0">
                <a:solidFill>
                  <a:srgbClr val="654320"/>
                </a:solidFill>
                <a:latin typeface="Aptos Slab" panose="020B0004020202020204" pitchFamily="34" charset="0"/>
                <a:cs typeface="Tahoma"/>
              </a:rPr>
              <a:t>centre </a:t>
            </a:r>
            <a:r>
              <a:rPr sz="800" dirty="0">
                <a:solidFill>
                  <a:srgbClr val="333333"/>
                </a:solidFill>
                <a:latin typeface="Arial MT"/>
                <a:cs typeface="Arial MT"/>
              </a:rPr>
              <a:t>—</a:t>
            </a:r>
            <a:r>
              <a:rPr lang="en-US" sz="80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3333"/>
                </a:solidFill>
                <a:latin typeface="Arial MT"/>
                <a:cs typeface="Arial MT"/>
              </a:rPr>
              <a:t>runs in London</a:t>
            </a:r>
            <a:r>
              <a:rPr lang="en-IN" sz="800" dirty="0">
                <a:solidFill>
                  <a:srgbClr val="333333"/>
                </a:solidFill>
                <a:latin typeface="Arial MT"/>
                <a:cs typeface="Arial MT"/>
              </a:rPr>
              <a:t> region</a:t>
            </a:r>
            <a:r>
              <a:rPr sz="800" dirty="0">
                <a:solidFill>
                  <a:srgbClr val="333333"/>
                </a:solidFill>
                <a:latin typeface="Arial MT"/>
                <a:cs typeface="Arial MT"/>
              </a:rPr>
              <a:t> (europe-west2). Data stays in the UK</a:t>
            </a:r>
            <a:r>
              <a:rPr sz="800">
                <a:solidFill>
                  <a:srgbClr val="333333"/>
                </a:solidFill>
                <a:latin typeface="Arial MT"/>
                <a:cs typeface="Arial MT"/>
              </a:rPr>
              <a:t>,</a:t>
            </a:r>
            <a:r>
              <a:rPr lang="en-US" sz="800">
                <a:latin typeface="Arial MT"/>
                <a:cs typeface="Arial MT"/>
              </a:rPr>
              <a:t> </a:t>
            </a:r>
            <a:r>
              <a:rPr sz="800">
                <a:solidFill>
                  <a:srgbClr val="333333"/>
                </a:solidFill>
                <a:latin typeface="Arial MT"/>
                <a:cs typeface="Arial MT"/>
              </a:rPr>
              <a:t>G</a:t>
            </a:r>
            <a:r>
              <a:rPr lang="en-US" sz="800">
                <a:solidFill>
                  <a:srgbClr val="333333"/>
                </a:solidFill>
                <a:latin typeface="Arial MT"/>
                <a:cs typeface="Arial MT"/>
              </a:rPr>
              <a:t>π</a:t>
            </a:r>
            <a:r>
              <a:rPr sz="800">
                <a:solidFill>
                  <a:srgbClr val="333333"/>
                </a:solidFill>
                <a:latin typeface="Arial MT"/>
                <a:cs typeface="Arial MT"/>
              </a:rPr>
              <a:t>DPR</a:t>
            </a:r>
            <a:r>
              <a:rPr lang="en-IN" sz="800" dirty="0">
                <a:solidFill>
                  <a:srgbClr val="333333"/>
                </a:solidFill>
                <a:latin typeface="Arial MT"/>
                <a:cs typeface="Arial MT"/>
              </a:rPr>
              <a:t>-compliant data handling</a:t>
            </a:r>
            <a:r>
              <a:rPr lang="en-US" sz="800" dirty="0">
                <a:solidFill>
                  <a:srgbClr val="333333"/>
                </a:solidFill>
                <a:latin typeface="Arial MT"/>
                <a:cs typeface="Arial MT"/>
              </a:rPr>
              <a:t>.</a:t>
            </a:r>
            <a:endParaRPr lang="en-US" sz="800" dirty="0">
              <a:latin typeface="Arial MT"/>
              <a:cs typeface="Arial MT"/>
            </a:endParaRPr>
          </a:p>
          <a:p>
            <a:pPr marL="24765">
              <a:lnSpc>
                <a:spcPct val="100000"/>
              </a:lnSpc>
              <a:spcBef>
                <a:spcPts val="370"/>
              </a:spcBef>
            </a:pPr>
            <a:r>
              <a:rPr lang="en-US" sz="800" b="1" dirty="0">
                <a:solidFill>
                  <a:srgbClr val="333333"/>
                </a:solidFill>
                <a:latin typeface="Aptos Slab" panose="020B0004020202020204" pitchFamily="34" charset="0"/>
                <a:cs typeface="Tahoma"/>
              </a:rPr>
              <a:t>Scales When You’re Ready</a:t>
            </a:r>
            <a:endParaRPr lang="en-US" sz="800" dirty="0">
              <a:latin typeface="Aptos Slab" panose="020B0004020202020204" pitchFamily="34" charset="0"/>
              <a:cs typeface="Tahoma"/>
            </a:endParaRPr>
          </a:p>
          <a:p>
            <a:pPr marL="163830" marR="70485">
              <a:lnSpc>
                <a:spcPts val="950"/>
              </a:lnSpc>
              <a:spcBef>
                <a:spcPts val="409"/>
              </a:spcBef>
            </a:pPr>
            <a:r>
              <a:rPr sz="800" b="1" dirty="0">
                <a:solidFill>
                  <a:srgbClr val="654320"/>
                </a:solidFill>
                <a:latin typeface="Aptos Slab" panose="020B0004020202020204" pitchFamily="34" charset="0"/>
                <a:cs typeface="Tahoma"/>
              </a:rPr>
              <a:t>BigQuery </a:t>
            </a:r>
            <a:r>
              <a:rPr sz="800" dirty="0">
                <a:solidFill>
                  <a:srgbClr val="333333"/>
                </a:solidFill>
                <a:latin typeface="Arial MT"/>
                <a:cs typeface="Arial MT"/>
              </a:rPr>
              <a:t>ready — when there’s enough data, plug in analytics without rebuilding anything.</a:t>
            </a:r>
            <a:endParaRPr lang="en-IN" sz="800" dirty="0">
              <a:latin typeface="Arial MT"/>
              <a:cs typeface="Arial MT"/>
            </a:endParaRPr>
          </a:p>
          <a:p>
            <a:pPr marL="163830">
              <a:lnSpc>
                <a:spcPct val="100000"/>
              </a:lnSpc>
              <a:spcBef>
                <a:spcPts val="250"/>
              </a:spcBef>
            </a:pPr>
            <a:r>
              <a:rPr lang="en-IN" sz="800" b="1" dirty="0">
                <a:solidFill>
                  <a:srgbClr val="654320"/>
                </a:solidFill>
                <a:latin typeface="Aptos Slab" panose="020B0004020202020204" pitchFamily="34" charset="0"/>
                <a:cs typeface="Tahoma"/>
              </a:rPr>
              <a:t>Dashboard </a:t>
            </a:r>
            <a:r>
              <a:rPr lang="en-IN" sz="800" dirty="0">
                <a:solidFill>
                  <a:srgbClr val="333333"/>
                </a:solidFill>
                <a:latin typeface="Arial MT"/>
                <a:cs typeface="Arial MT"/>
              </a:rPr>
              <a:t>— Looker Studio for business insights</a:t>
            </a:r>
            <a:endParaRPr lang="en-IN" sz="800" dirty="0">
              <a:latin typeface="Arial MT"/>
              <a:cs typeface="Arial MT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0" y="3060001"/>
            <a:ext cx="5760085" cy="180340"/>
          </a:xfrm>
          <a:custGeom>
            <a:avLst/>
            <a:gdLst/>
            <a:ahLst/>
            <a:cxnLst/>
            <a:rect l="l" t="t" r="r" b="b"/>
            <a:pathLst>
              <a:path w="5760085" h="180339">
                <a:moveTo>
                  <a:pt x="5759996" y="0"/>
                </a:moveTo>
                <a:lnTo>
                  <a:pt x="0" y="0"/>
                </a:lnTo>
                <a:lnTo>
                  <a:pt x="0" y="179997"/>
                </a:lnTo>
                <a:lnTo>
                  <a:pt x="5759996" y="179997"/>
                </a:lnTo>
                <a:lnTo>
                  <a:pt x="5759996" y="0"/>
                </a:lnTo>
                <a:close/>
              </a:path>
            </a:pathLst>
          </a:custGeom>
          <a:solidFill>
            <a:srgbClr val="2D5A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29832" y="2692219"/>
            <a:ext cx="2234374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90"/>
              </a:lnSpc>
            </a:pPr>
            <a:r>
              <a:rPr sz="800" b="1" dirty="0">
                <a:solidFill>
                  <a:srgbClr val="654320"/>
                </a:solidFill>
                <a:latin typeface="Aptos Slab" panose="020B0004020202020204" pitchFamily="34" charset="0"/>
                <a:cs typeface="Tahoma"/>
              </a:rPr>
              <a:t>Auto-deploy</a:t>
            </a:r>
            <a:r>
              <a:rPr lang="en-IN" sz="800" b="1" dirty="0">
                <a:solidFill>
                  <a:srgbClr val="333333"/>
                </a:solidFill>
                <a:latin typeface="Arial MT"/>
                <a:cs typeface="Tahoma"/>
              </a:rPr>
              <a:t>: </a:t>
            </a:r>
            <a:r>
              <a:rPr sz="800" dirty="0">
                <a:solidFill>
                  <a:srgbClr val="333333"/>
                </a:solidFill>
                <a:latin typeface="Arial MT"/>
                <a:cs typeface="Arial MT"/>
              </a:rPr>
              <a:t>push code </a:t>
            </a:r>
            <a:r>
              <a:rPr lang="en-IN" sz="800" dirty="0">
                <a:solidFill>
                  <a:srgbClr val="333333"/>
                </a:solidFill>
                <a:latin typeface="Arial MT"/>
                <a:cs typeface="Arial MT"/>
              </a:rPr>
              <a:t>tested and deployed instantly.</a:t>
            </a:r>
            <a:endParaRPr sz="800" dirty="0">
              <a:latin typeface="Arial MT"/>
              <a:cs typeface="Arial MT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65"/>
              </a:lnSpc>
            </a:pPr>
            <a:fld id="{81D60167-4931-47E6-BA6A-407CBD079E47}" type="slidenum">
              <a:rPr spc="-25" dirty="0"/>
              <a:t>5</a:t>
            </a:fld>
            <a:r>
              <a:rPr spc="-25" dirty="0"/>
              <a:t>/5</a:t>
            </a:r>
          </a:p>
        </p:txBody>
      </p:sp>
      <p:pic>
        <p:nvPicPr>
          <p:cNvPr id="26" name="object 25">
            <a:extLst>
              <a:ext uri="{FF2B5EF4-FFF2-40B4-BE49-F238E27FC236}">
                <a16:creationId xmlns:a16="http://schemas.microsoft.com/office/drawing/2014/main" id="{EB7AC4BC-18D5-81F7-9D22-3A4736E14B8E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29481" y="2720835"/>
            <a:ext cx="65265" cy="65265"/>
          </a:xfrm>
          <a:prstGeom prst="rect">
            <a:avLst/>
          </a:prstGeom>
        </p:spPr>
      </p:pic>
      <p:pic>
        <p:nvPicPr>
          <p:cNvPr id="23" name="object 15">
            <a:extLst>
              <a:ext uri="{FF2B5EF4-FFF2-40B4-BE49-F238E27FC236}">
                <a16:creationId xmlns:a16="http://schemas.microsoft.com/office/drawing/2014/main" id="{F5DC7532-93AD-70A2-BEA3-4B4410CAD303}"/>
              </a:ext>
            </a:extLst>
          </p:cNvPr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171147" y="2060831"/>
            <a:ext cx="65265" cy="6526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185F3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3613</TotalTime>
  <Words>795</Words>
  <Application>Microsoft Macintosh PowerPoint</Application>
  <PresentationFormat>Custom</PresentationFormat>
  <Paragraphs>92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Aptos Slab</vt:lpstr>
      <vt:lpstr>Arial Black</vt:lpstr>
      <vt:lpstr>Arial MT</vt:lpstr>
      <vt:lpstr>Calibri</vt:lpstr>
      <vt:lpstr>Lucida Sans Unicode</vt:lpstr>
      <vt:lpstr>Microsoft Tai Le</vt:lpstr>
      <vt:lpstr>Segoe UI</vt:lpstr>
      <vt:lpstr>Tahoma</vt:lpstr>
      <vt:lpstr>Office Theme</vt:lpstr>
      <vt:lpstr>Kahawa Roots</vt:lpstr>
      <vt:lpstr>How Kahawa Roots Tracks Coffee, End to End</vt:lpstr>
      <vt:lpstr>Technology Choices + Bonus</vt:lpstr>
      <vt:lpstr>PowerPoint Presentation</vt:lpstr>
      <vt:lpstr>Why These Choices Work for Kahawa Roots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Kahawa Roots   Traceability Platform — Pre-Interview Task - Tracking Coffee from Kenya's Farms to the UK</dc:title>
  <dc:creator>Shree Hari Anbazhagan</dc:creator>
  <cp:lastModifiedBy>Shree Anbazhagan (MSc Da Sc &amp; Ar In (Bham+) FT)</cp:lastModifiedBy>
  <cp:revision>11</cp:revision>
  <dcterms:created xsi:type="dcterms:W3CDTF">2026-04-11T05:20:51Z</dcterms:created>
  <dcterms:modified xsi:type="dcterms:W3CDTF">2026-04-23T16:49:10Z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2026-04-11T00:00:00Z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2026-04-11T00:00:00Z</vt:filetime>
  </property>
  <property fmtid="{D5CDD505-2E9C-101B-9397-08002B2CF9AE}" pid="5" name="PTEX.Fullbanner">
    <vt:lpwstr>This is pdfTeX, Version 3.141592653-2.6-1.40.27 (TeX Live 2025) kpathsea version 6.4.1</vt:lpwstr>
  </property>
  <property fmtid="{D5CDD505-2E9C-101B-9397-08002B2CF9AE}" pid="6" name="Producer">
    <vt:lpwstr>pdfTeX-1.40.27</vt:lpwstr>
  </property>
</Properties>
</file>