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>
      <p:cViewPr varScale="1">
        <p:scale>
          <a:sx n="256" d="100"/>
          <a:sy n="256" d="100"/>
        </p:scale>
        <p:origin x="384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432435" y="1005903"/>
            <a:ext cx="4900930" cy="681418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66649"/>
            <a:ext cx="5760085" cy="324485"/>
          </a:xfrm>
          <a:custGeom>
            <a:avLst/>
            <a:gdLst/>
            <a:ahLst/>
            <a:cxnLst/>
            <a:rect l="l" t="t" r="r" b="b"/>
            <a:pathLst>
              <a:path w="5760085" h="324485">
                <a:moveTo>
                  <a:pt x="5759996" y="0"/>
                </a:moveTo>
                <a:lnTo>
                  <a:pt x="0" y="0"/>
                </a:lnTo>
                <a:lnTo>
                  <a:pt x="0" y="324002"/>
                </a:lnTo>
                <a:lnTo>
                  <a:pt x="5759996" y="324002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67297" y="154111"/>
            <a:ext cx="2561590" cy="2076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88290" y="746315"/>
            <a:ext cx="5189220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16575" y="3096269"/>
            <a:ext cx="212725" cy="12826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‹#›</a:t>
            </a:fld>
            <a:r>
              <a:rPr spc="-25" dirty="0"/>
              <a:t>/5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deltaed-frontend-93684845515.europe-west2.run.app/" TargetMode="External"/><Relationship Id="rId3" Type="http://schemas.openxmlformats.org/officeDocument/2006/relationships/image" Target="../media/image2.png"/><Relationship Id="rId7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11" Type="http://schemas.openxmlformats.org/officeDocument/2006/relationships/image" Target="../media/image8.png"/><Relationship Id="rId5" Type="http://schemas.openxmlformats.org/officeDocument/2006/relationships/image" Target="../media/image3.png"/><Relationship Id="rId10" Type="http://schemas.openxmlformats.org/officeDocument/2006/relationships/image" Target="../media/image7.png"/><Relationship Id="rId4" Type="http://schemas.openxmlformats.org/officeDocument/2006/relationships/hyperlink" Target="mailto:shreeharianbazhagan@gmail.com" TargetMode="External"/><Relationship Id="rId9" Type="http://schemas.openxmlformats.org/officeDocument/2006/relationships/image" Target="../media/image6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20.png"/><Relationship Id="rId18" Type="http://schemas.openxmlformats.org/officeDocument/2006/relationships/image" Target="../media/image2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12" Type="http://schemas.openxmlformats.org/officeDocument/2006/relationships/image" Target="../media/image19.png"/><Relationship Id="rId17" Type="http://schemas.openxmlformats.org/officeDocument/2006/relationships/image" Target="../media/image24.png"/><Relationship Id="rId2" Type="http://schemas.openxmlformats.org/officeDocument/2006/relationships/image" Target="../media/image9.png"/><Relationship Id="rId16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12.png"/><Relationship Id="rId15" Type="http://schemas.openxmlformats.org/officeDocument/2006/relationships/image" Target="../media/image22.png"/><Relationship Id="rId10" Type="http://schemas.openxmlformats.org/officeDocument/2006/relationships/image" Target="../media/image17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Relationship Id="rId14" Type="http://schemas.openxmlformats.org/officeDocument/2006/relationships/image" Target="../media/image2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5.xml"/><Relationship Id="rId4" Type="http://schemas.openxmlformats.org/officeDocument/2006/relationships/hyperlink" Target="https://github.com/ShreehariA/Kahawa-Roots-Pre-Interview-Task/blob/main/kahawa-roots-architecture.png" TargetMode="Externa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.png"/><Relationship Id="rId13" Type="http://schemas.openxmlformats.org/officeDocument/2006/relationships/image" Target="../media/image42.png"/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12" Type="http://schemas.openxmlformats.org/officeDocument/2006/relationships/image" Target="../media/image41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11" Type="http://schemas.openxmlformats.org/officeDocument/2006/relationships/image" Target="../media/image40.png"/><Relationship Id="rId5" Type="http://schemas.openxmlformats.org/officeDocument/2006/relationships/image" Target="../media/image34.png"/><Relationship Id="rId15" Type="http://schemas.openxmlformats.org/officeDocument/2006/relationships/image" Target="../media/image44.png"/><Relationship Id="rId10" Type="http://schemas.openxmlformats.org/officeDocument/2006/relationships/image" Target="../media/image39.png"/><Relationship Id="rId4" Type="http://schemas.openxmlformats.org/officeDocument/2006/relationships/image" Target="../media/image33.png"/><Relationship Id="rId9" Type="http://schemas.openxmlformats.org/officeDocument/2006/relationships/image" Target="../media/image38.png"/><Relationship Id="rId14" Type="http://schemas.openxmlformats.org/officeDocument/2006/relationships/image" Target="../media/image4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277698" y="491713"/>
            <a:ext cx="147066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85" dirty="0">
                <a:solidFill>
                  <a:srgbClr val="654320"/>
                </a:solidFill>
              </a:rPr>
              <a:t>Kahawa</a:t>
            </a:r>
            <a:r>
              <a:rPr sz="1700" spc="-40" dirty="0">
                <a:solidFill>
                  <a:srgbClr val="654320"/>
                </a:solidFill>
              </a:rPr>
              <a:t> </a:t>
            </a:r>
            <a:r>
              <a:rPr sz="1700" spc="-60" dirty="0">
                <a:solidFill>
                  <a:srgbClr val="654320"/>
                </a:solidFill>
              </a:rPr>
              <a:t>Roots</a:t>
            </a:r>
            <a:endParaRPr sz="1700"/>
          </a:p>
        </p:txBody>
      </p:sp>
      <p:sp>
        <p:nvSpPr>
          <p:cNvPr id="3" name="object 3"/>
          <p:cNvSpPr txBox="1"/>
          <p:nvPr/>
        </p:nvSpPr>
        <p:spPr>
          <a:xfrm>
            <a:off x="277698" y="737312"/>
            <a:ext cx="2530475" cy="423545"/>
          </a:xfrm>
          <a:prstGeom prst="rect">
            <a:avLst/>
          </a:prstGeom>
        </p:spPr>
        <p:txBody>
          <a:bodyPr vert="horz" wrap="square" lIns="0" tIns="469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370"/>
              </a:spcBef>
            </a:pPr>
            <a:r>
              <a:rPr sz="1200" spc="-40" dirty="0">
                <a:solidFill>
                  <a:srgbClr val="333333"/>
                </a:solidFill>
                <a:latin typeface="Tahoma"/>
                <a:cs typeface="Tahoma"/>
              </a:rPr>
              <a:t>Traceability</a:t>
            </a:r>
            <a:r>
              <a:rPr sz="120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200" spc="-10" dirty="0">
                <a:solidFill>
                  <a:srgbClr val="333333"/>
                </a:solidFill>
                <a:latin typeface="Tahoma"/>
                <a:cs typeface="Tahoma"/>
              </a:rPr>
              <a:t>Platform</a:t>
            </a:r>
            <a:endParaRPr sz="12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20"/>
              </a:spcBef>
            </a:pPr>
            <a:r>
              <a:rPr sz="1000" i="1" spc="-25" dirty="0">
                <a:solidFill>
                  <a:srgbClr val="333333"/>
                </a:solidFill>
                <a:latin typeface="Arial"/>
                <a:cs typeface="Arial"/>
              </a:rPr>
              <a:t>Tracking</a:t>
            </a:r>
            <a:r>
              <a:rPr sz="1000" i="1" spc="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000" i="1" spc="-55" dirty="0">
                <a:solidFill>
                  <a:srgbClr val="333333"/>
                </a:solidFill>
                <a:latin typeface="Arial"/>
                <a:cs typeface="Arial"/>
              </a:rPr>
              <a:t>Coffee</a:t>
            </a:r>
            <a:r>
              <a:rPr sz="1000" i="1" spc="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333333"/>
                </a:solidFill>
                <a:latin typeface="Arial"/>
                <a:cs typeface="Arial"/>
              </a:rPr>
              <a:t>from</a:t>
            </a:r>
            <a:r>
              <a:rPr sz="1000" i="1" spc="1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000" i="1" spc="-40" dirty="0">
                <a:solidFill>
                  <a:srgbClr val="333333"/>
                </a:solidFill>
                <a:latin typeface="Arial"/>
                <a:cs typeface="Arial"/>
              </a:rPr>
              <a:t>Kenya’s</a:t>
            </a:r>
            <a:r>
              <a:rPr sz="1000" i="1" spc="1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000" i="1" spc="-65" dirty="0">
                <a:solidFill>
                  <a:srgbClr val="333333"/>
                </a:solidFill>
                <a:latin typeface="Arial"/>
                <a:cs typeface="Arial"/>
              </a:rPr>
              <a:t>Farms</a:t>
            </a:r>
            <a:r>
              <a:rPr sz="1000" i="1" spc="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333333"/>
                </a:solidFill>
                <a:latin typeface="Arial"/>
                <a:cs typeface="Arial"/>
              </a:rPr>
              <a:t>to</a:t>
            </a:r>
            <a:r>
              <a:rPr sz="1000" i="1" spc="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000" i="1" dirty="0">
                <a:solidFill>
                  <a:srgbClr val="333333"/>
                </a:solidFill>
                <a:latin typeface="Arial"/>
                <a:cs typeface="Arial"/>
              </a:rPr>
              <a:t>the</a:t>
            </a:r>
            <a:r>
              <a:rPr sz="1000" i="1" spc="1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000" i="1" spc="-25" dirty="0">
                <a:solidFill>
                  <a:srgbClr val="333333"/>
                </a:solidFill>
                <a:latin typeface="Arial"/>
                <a:cs typeface="Arial"/>
              </a:rPr>
              <a:t>UK</a:t>
            </a:r>
            <a:endParaRPr sz="100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398" y="1627047"/>
            <a:ext cx="139700" cy="10477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87223" y="1780920"/>
            <a:ext cx="142875" cy="142875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277698" y="1288209"/>
            <a:ext cx="2191385" cy="657225"/>
          </a:xfrm>
          <a:prstGeom prst="rect">
            <a:avLst/>
          </a:prstGeom>
        </p:spPr>
        <p:txBody>
          <a:bodyPr vert="horz" wrap="square" lIns="0" tIns="742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1100" b="1" spc="-65" dirty="0">
                <a:solidFill>
                  <a:srgbClr val="333333"/>
                </a:solidFill>
                <a:latin typeface="Tahoma"/>
                <a:cs typeface="Tahoma"/>
              </a:rPr>
              <a:t>Shree</a:t>
            </a:r>
            <a:r>
              <a:rPr sz="1100" b="1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100" b="1" spc="-35" dirty="0">
                <a:solidFill>
                  <a:srgbClr val="333333"/>
                </a:solidFill>
                <a:latin typeface="Tahoma"/>
                <a:cs typeface="Tahoma"/>
              </a:rPr>
              <a:t>Hari</a:t>
            </a:r>
            <a:r>
              <a:rPr sz="1100" b="1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333333"/>
                </a:solidFill>
                <a:latin typeface="Tahoma"/>
                <a:cs typeface="Tahoma"/>
              </a:rPr>
              <a:t>Anbazhagan</a:t>
            </a:r>
            <a:endParaRPr sz="1100">
              <a:latin typeface="Tahoma"/>
              <a:cs typeface="Tahoma"/>
            </a:endParaRPr>
          </a:p>
          <a:p>
            <a:pPr marL="302895" marR="5080">
              <a:lnSpc>
                <a:spcPct val="103200"/>
              </a:lnSpc>
              <a:spcBef>
                <a:spcPts val="445"/>
              </a:spcBef>
            </a:pPr>
            <a:r>
              <a:rPr sz="1100" spc="-65" dirty="0">
                <a:solidFill>
                  <a:srgbClr val="4185F3"/>
                </a:solidFill>
                <a:latin typeface="Tahoma"/>
                <a:cs typeface="Tahoma"/>
                <a:hlinkClick r:id="rId4"/>
              </a:rPr>
              <a:t>shreeharianbazhagan@gmail.com</a:t>
            </a:r>
            <a:r>
              <a:rPr sz="1100" spc="-65" dirty="0">
                <a:solidFill>
                  <a:srgbClr val="4185F3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33333"/>
                </a:solidFill>
                <a:latin typeface="Tahoma"/>
                <a:cs typeface="Tahoma"/>
              </a:rPr>
              <a:t>07721046613</a:t>
            </a:r>
            <a:endParaRPr sz="1100">
              <a:latin typeface="Tahoma"/>
              <a:cs typeface="Tahoma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3302012" y="659828"/>
            <a:ext cx="2218690" cy="215900"/>
            <a:chOff x="3302012" y="659828"/>
            <a:chExt cx="2218690" cy="215900"/>
          </a:xfrm>
        </p:grpSpPr>
        <p:sp>
          <p:nvSpPr>
            <p:cNvPr id="8" name="object 8"/>
            <p:cNvSpPr/>
            <p:nvPr/>
          </p:nvSpPr>
          <p:spPr>
            <a:xfrm>
              <a:off x="3302012" y="659828"/>
              <a:ext cx="2218690" cy="215900"/>
            </a:xfrm>
            <a:custGeom>
              <a:avLst/>
              <a:gdLst/>
              <a:ahLst/>
              <a:cxnLst/>
              <a:rect l="l" t="t" r="r" b="b"/>
              <a:pathLst>
                <a:path w="2218690" h="215900">
                  <a:moveTo>
                    <a:pt x="2167618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15314"/>
                  </a:lnTo>
                  <a:lnTo>
                    <a:pt x="2218419" y="215314"/>
                  </a:lnTo>
                  <a:lnTo>
                    <a:pt x="2218419" y="50800"/>
                  </a:lnTo>
                  <a:lnTo>
                    <a:pt x="2214410" y="31075"/>
                  </a:lnTo>
                  <a:lnTo>
                    <a:pt x="2203496" y="14922"/>
                  </a:lnTo>
                  <a:lnTo>
                    <a:pt x="2187343" y="4008"/>
                  </a:lnTo>
                  <a:lnTo>
                    <a:pt x="2167618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9" name="object 9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352812" y="697509"/>
              <a:ext cx="152400" cy="152400"/>
            </a:xfrm>
            <a:prstGeom prst="rect">
              <a:avLst/>
            </a:prstGeom>
          </p:spPr>
        </p:pic>
      </p:grpSp>
      <p:sp>
        <p:nvSpPr>
          <p:cNvPr id="10" name="object 10"/>
          <p:cNvSpPr txBox="1"/>
          <p:nvPr/>
        </p:nvSpPr>
        <p:spPr>
          <a:xfrm>
            <a:off x="3541440" y="666328"/>
            <a:ext cx="1805939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10" dirty="0">
                <a:solidFill>
                  <a:srgbClr val="FFFFFF"/>
                </a:solidFill>
                <a:latin typeface="Tahoma"/>
                <a:cs typeface="Tahoma"/>
              </a:rPr>
              <a:t>Proof:</a:t>
            </a:r>
            <a:r>
              <a:rPr sz="1200" spc="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Tahoma"/>
                <a:cs typeface="Tahoma"/>
              </a:rPr>
              <a:t>I’ve</a:t>
            </a:r>
            <a:r>
              <a:rPr sz="1200" spc="-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FFFFFF"/>
                </a:solidFill>
                <a:latin typeface="Tahoma"/>
                <a:cs typeface="Tahoma"/>
              </a:rPr>
              <a:t>Built</a:t>
            </a:r>
            <a:r>
              <a:rPr sz="1200" spc="-5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FFFFFF"/>
                </a:solidFill>
                <a:latin typeface="Tahoma"/>
                <a:cs typeface="Tahoma"/>
              </a:rPr>
              <a:t>This</a:t>
            </a:r>
            <a:r>
              <a:rPr sz="1200" spc="-4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Tahoma"/>
                <a:cs typeface="Tahoma"/>
              </a:rPr>
              <a:t>Before</a:t>
            </a:r>
            <a:endParaRPr sz="1200">
              <a:latin typeface="Tahoma"/>
              <a:cs typeface="Tahoma"/>
            </a:endParaRPr>
          </a:p>
        </p:txBody>
      </p:sp>
      <p:pic>
        <p:nvPicPr>
          <p:cNvPr id="11" name="object 11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3302012" y="862495"/>
            <a:ext cx="2218419" cy="50609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3340112" y="880724"/>
            <a:ext cx="2052955" cy="3295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 marR="5080">
              <a:lnSpc>
                <a:spcPct val="100000"/>
              </a:lnSpc>
              <a:spcBef>
                <a:spcPts val="95"/>
              </a:spcBef>
            </a:pP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My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live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full-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stack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project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on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the </a:t>
            </a:r>
            <a:r>
              <a:rPr sz="1000" b="1" spc="-90" dirty="0">
                <a:solidFill>
                  <a:srgbClr val="333333"/>
                </a:solidFill>
                <a:latin typeface="Tahoma"/>
                <a:cs typeface="Tahoma"/>
              </a:rPr>
              <a:t>same</a:t>
            </a:r>
            <a:r>
              <a:rPr sz="1000" b="1" dirty="0">
                <a:solidFill>
                  <a:srgbClr val="333333"/>
                </a:solidFill>
                <a:latin typeface="Tahoma"/>
                <a:cs typeface="Tahoma"/>
              </a:rPr>
              <a:t> GCP</a:t>
            </a:r>
            <a:r>
              <a:rPr sz="1000" b="1" spc="5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65" dirty="0">
                <a:solidFill>
                  <a:srgbClr val="333333"/>
                </a:solidFill>
                <a:latin typeface="Tahoma"/>
                <a:cs typeface="Tahoma"/>
              </a:rPr>
              <a:t>infrastructure</a:t>
            </a:r>
            <a:r>
              <a:rPr sz="1000" b="1" spc="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I’m 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proposing:</a:t>
            </a:r>
            <a:endParaRPr sz="1000">
              <a:latin typeface="Tahoma"/>
              <a:cs typeface="Tahoma"/>
            </a:endParaRPr>
          </a:p>
        </p:txBody>
      </p:sp>
      <p:pic>
        <p:nvPicPr>
          <p:cNvPr id="13" name="object 13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3438156" y="1320469"/>
            <a:ext cx="123825" cy="123825"/>
          </a:xfrm>
          <a:prstGeom prst="rect">
            <a:avLst/>
          </a:prstGeom>
        </p:spPr>
      </p:pic>
      <p:sp>
        <p:nvSpPr>
          <p:cNvPr id="14" name="object 14"/>
          <p:cNvSpPr txBox="1"/>
          <p:nvPr/>
        </p:nvSpPr>
        <p:spPr>
          <a:xfrm>
            <a:off x="3617167" y="1317674"/>
            <a:ext cx="165036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DeltaEd</a:t>
            </a:r>
            <a:r>
              <a:rPr sz="800" spc="50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 </a:t>
            </a:r>
            <a:r>
              <a:rPr sz="800" spc="114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—</a:t>
            </a:r>
            <a:r>
              <a:rPr sz="800" spc="55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 </a:t>
            </a:r>
            <a:r>
              <a:rPr sz="800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Live</a:t>
            </a:r>
            <a:r>
              <a:rPr sz="800" spc="50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 </a:t>
            </a:r>
            <a:r>
              <a:rPr sz="800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on</a:t>
            </a:r>
            <a:r>
              <a:rPr sz="800" spc="55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 </a:t>
            </a:r>
            <a:r>
              <a:rPr sz="800" spc="60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GCP</a:t>
            </a:r>
            <a:r>
              <a:rPr sz="800" spc="50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 </a:t>
            </a:r>
            <a:r>
              <a:rPr sz="800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Cloud</a:t>
            </a:r>
            <a:r>
              <a:rPr sz="800" spc="55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 </a:t>
            </a:r>
            <a:r>
              <a:rPr sz="800" spc="-25" dirty="0">
                <a:solidFill>
                  <a:srgbClr val="4185F3"/>
                </a:solidFill>
                <a:latin typeface="Tahoma"/>
                <a:cs typeface="Tahoma"/>
                <a:hlinkClick r:id="rId8"/>
              </a:rPr>
              <a:t>Run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5" name="object 15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434105" y="1545158"/>
            <a:ext cx="127000" cy="88900"/>
          </a:xfrm>
          <a:prstGeom prst="rect">
            <a:avLst/>
          </a:prstGeom>
        </p:spPr>
      </p:pic>
      <p:sp>
        <p:nvSpPr>
          <p:cNvPr id="16" name="object 16"/>
          <p:cNvSpPr txBox="1"/>
          <p:nvPr/>
        </p:nvSpPr>
        <p:spPr>
          <a:xfrm>
            <a:off x="3617165" y="1513787"/>
            <a:ext cx="1457325" cy="2673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955"/>
              </a:lnSpc>
              <a:spcBef>
                <a:spcPts val="95"/>
              </a:spcBef>
            </a:pPr>
            <a:r>
              <a:rPr sz="800" spc="60" dirty="0">
                <a:solidFill>
                  <a:srgbClr val="333333"/>
                </a:solidFill>
                <a:latin typeface="Tahoma"/>
                <a:cs typeface="Tahoma"/>
              </a:rPr>
              <a:t>GCP</a:t>
            </a:r>
            <a:r>
              <a:rPr sz="800" spc="1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sz="800" spc="1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Run,</a:t>
            </a:r>
            <a:r>
              <a:rPr sz="800" spc="1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Calibri"/>
                <a:cs typeface="Calibri"/>
              </a:rPr>
              <a:t>europe-</a:t>
            </a:r>
            <a:r>
              <a:rPr sz="800" spc="-10" dirty="0">
                <a:solidFill>
                  <a:srgbClr val="333333"/>
                </a:solidFill>
                <a:latin typeface="Calibri"/>
                <a:cs typeface="Calibri"/>
              </a:rPr>
              <a:t>west2</a:t>
            </a:r>
            <a:endParaRPr sz="800">
              <a:latin typeface="Calibri"/>
              <a:cs typeface="Calibri"/>
            </a:endParaRPr>
          </a:p>
          <a:p>
            <a:pPr marL="12700">
              <a:lnSpc>
                <a:spcPts val="955"/>
              </a:lnSpc>
            </a:pP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(London)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7" name="object 17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3430930" y="1861464"/>
            <a:ext cx="130175" cy="88900"/>
          </a:xfrm>
          <a:prstGeom prst="rect">
            <a:avLst/>
          </a:prstGeom>
        </p:spPr>
      </p:pic>
      <p:pic>
        <p:nvPicPr>
          <p:cNvPr id="18" name="object 18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430930" y="2051227"/>
            <a:ext cx="130175" cy="104775"/>
          </a:xfrm>
          <a:prstGeom prst="rect">
            <a:avLst/>
          </a:prstGeom>
        </p:spPr>
      </p:pic>
      <p:sp>
        <p:nvSpPr>
          <p:cNvPr id="19" name="object 19"/>
          <p:cNvSpPr txBox="1"/>
          <p:nvPr/>
        </p:nvSpPr>
        <p:spPr>
          <a:xfrm>
            <a:off x="3617165" y="1830094"/>
            <a:ext cx="1334770" cy="3435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Dockerized,</a:t>
            </a:r>
            <a:r>
              <a:rPr sz="800" spc="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full</a:t>
            </a:r>
            <a:r>
              <a:rPr sz="800" spc="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stack</a:t>
            </a:r>
            <a:endParaRPr sz="8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85"/>
              </a:spcBef>
            </a:pP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React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70" dirty="0">
                <a:solidFill>
                  <a:srgbClr val="333333"/>
                </a:solidFill>
                <a:latin typeface="Tahoma"/>
                <a:cs typeface="Tahoma"/>
              </a:rPr>
              <a:t>+</a:t>
            </a:r>
            <a:r>
              <a:rPr sz="800" spc="5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Python</a:t>
            </a:r>
            <a:r>
              <a:rPr sz="800" spc="5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70" dirty="0">
                <a:solidFill>
                  <a:srgbClr val="333333"/>
                </a:solidFill>
                <a:latin typeface="Tahoma"/>
                <a:cs typeface="Tahoma"/>
              </a:rPr>
              <a:t>+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BigQuery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277698" y="2129340"/>
            <a:ext cx="4938395" cy="3981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055"/>
              </a:lnSpc>
              <a:spcBef>
                <a:spcPts val="95"/>
              </a:spcBef>
            </a:pPr>
            <a:r>
              <a:rPr sz="900" spc="-25" dirty="0">
                <a:solidFill>
                  <a:srgbClr val="7F7F7F"/>
                </a:solidFill>
                <a:latin typeface="Arial MT"/>
                <a:cs typeface="Arial MT"/>
              </a:rPr>
              <a:t>Pre-</a:t>
            </a:r>
            <a:r>
              <a:rPr sz="900" spc="-10" dirty="0">
                <a:solidFill>
                  <a:srgbClr val="7F7F7F"/>
                </a:solidFill>
                <a:latin typeface="Arial MT"/>
                <a:cs typeface="Arial MT"/>
              </a:rPr>
              <a:t>Interview</a:t>
            </a:r>
            <a:r>
              <a:rPr sz="900" spc="30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spc="-25" dirty="0">
                <a:solidFill>
                  <a:srgbClr val="7F7F7F"/>
                </a:solidFill>
                <a:latin typeface="Arial MT"/>
                <a:cs typeface="Arial MT"/>
              </a:rPr>
              <a:t>Task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7F7F7F"/>
                </a:solidFill>
                <a:latin typeface="Arial MT"/>
                <a:cs typeface="Arial MT"/>
              </a:rPr>
              <a:t>—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spc="-30" dirty="0">
                <a:solidFill>
                  <a:srgbClr val="7F7F7F"/>
                </a:solidFill>
                <a:latin typeface="Arial MT"/>
                <a:cs typeface="Arial MT"/>
              </a:rPr>
              <a:t>Developer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7F7F7F"/>
                </a:solidFill>
                <a:latin typeface="Arial MT"/>
                <a:cs typeface="Arial MT"/>
              </a:rPr>
              <a:t>Intern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7F7F7F"/>
                </a:solidFill>
                <a:latin typeface="Arial MT"/>
                <a:cs typeface="Arial MT"/>
              </a:rPr>
              <a:t>—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dirty="0">
                <a:solidFill>
                  <a:srgbClr val="7F7F7F"/>
                </a:solidFill>
                <a:latin typeface="Arial MT"/>
                <a:cs typeface="Arial MT"/>
              </a:rPr>
              <a:t>April</a:t>
            </a:r>
            <a:r>
              <a:rPr sz="900" spc="35" dirty="0">
                <a:solidFill>
                  <a:srgbClr val="7F7F7F"/>
                </a:solidFill>
                <a:latin typeface="Arial MT"/>
                <a:cs typeface="Arial MT"/>
              </a:rPr>
              <a:t> </a:t>
            </a:r>
            <a:r>
              <a:rPr sz="900" spc="-20" dirty="0">
                <a:solidFill>
                  <a:srgbClr val="7F7F7F"/>
                </a:solidFill>
                <a:latin typeface="Arial MT"/>
                <a:cs typeface="Arial MT"/>
              </a:rPr>
              <a:t>2026</a:t>
            </a:r>
            <a:endParaRPr sz="900">
              <a:latin typeface="Arial MT"/>
              <a:cs typeface="Arial MT"/>
            </a:endParaRPr>
          </a:p>
          <a:p>
            <a:pPr marL="3074670" marR="5080">
              <a:lnSpc>
                <a:spcPts val="950"/>
              </a:lnSpc>
              <a:spcBef>
                <a:spcPts val="15"/>
              </a:spcBef>
            </a:pPr>
            <a:r>
              <a:rPr sz="800" i="1" spc="-10" dirty="0">
                <a:solidFill>
                  <a:srgbClr val="333333"/>
                </a:solidFill>
                <a:latin typeface="Arial"/>
                <a:cs typeface="Arial"/>
              </a:rPr>
              <a:t>happy</a:t>
            </a:r>
            <a:r>
              <a:rPr sz="800" i="1" spc="3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to</a:t>
            </a:r>
            <a:r>
              <a:rPr sz="800" i="1" spc="3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walk</a:t>
            </a:r>
            <a:r>
              <a:rPr sz="800" i="1" spc="3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through</a:t>
            </a:r>
            <a:r>
              <a:rPr sz="800" i="1" spc="3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the</a:t>
            </a:r>
            <a:r>
              <a:rPr sz="800" i="1" spc="3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architecture</a:t>
            </a:r>
            <a:r>
              <a:rPr sz="800" i="1" spc="3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spc="-25" dirty="0">
                <a:solidFill>
                  <a:srgbClr val="333333"/>
                </a:solidFill>
                <a:latin typeface="Arial"/>
                <a:cs typeface="Arial"/>
              </a:rPr>
              <a:t>if</a:t>
            </a:r>
            <a:r>
              <a:rPr sz="800" i="1" spc="-10" dirty="0">
                <a:solidFill>
                  <a:srgbClr val="333333"/>
                </a:solidFill>
                <a:latin typeface="Arial"/>
                <a:cs typeface="Arial"/>
              </a:rPr>
              <a:t> interested.</a:t>
            </a:r>
            <a:endParaRPr sz="800">
              <a:latin typeface="Arial"/>
              <a:cs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1</a:t>
            </a:fld>
            <a:r>
              <a:rPr spc="-25" dirty="0"/>
              <a:t>/5</a:t>
            </a: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55" dirty="0"/>
              <a:t>How</a:t>
            </a:r>
            <a:r>
              <a:rPr spc="-35" dirty="0"/>
              <a:t> I’d</a:t>
            </a:r>
            <a:r>
              <a:rPr spc="-30" dirty="0"/>
              <a:t> </a:t>
            </a:r>
            <a:r>
              <a:rPr spc="-25" dirty="0"/>
              <a:t>Build</a:t>
            </a:r>
            <a:r>
              <a:rPr spc="-35" dirty="0"/>
              <a:t> </a:t>
            </a:r>
            <a:r>
              <a:rPr spc="-20" dirty="0"/>
              <a:t>This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0398" y="520090"/>
            <a:ext cx="111125" cy="12700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32943" y="715238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32943" y="1069517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32943" y="1423784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32943" y="1778063"/>
            <a:ext cx="65265" cy="65265"/>
          </a:xfrm>
          <a:prstGeom prst="rect">
            <a:avLst/>
          </a:prstGeom>
        </p:spPr>
      </p:pic>
      <p:sp>
        <p:nvSpPr>
          <p:cNvPr id="8" name="object 8"/>
          <p:cNvSpPr/>
          <p:nvPr/>
        </p:nvSpPr>
        <p:spPr>
          <a:xfrm>
            <a:off x="1106868" y="2146985"/>
            <a:ext cx="40005" cy="0"/>
          </a:xfrm>
          <a:custGeom>
            <a:avLst/>
            <a:gdLst/>
            <a:ahLst/>
            <a:cxnLst/>
            <a:rect l="l" t="t" r="r" b="b"/>
            <a:pathLst>
              <a:path w="40005">
                <a:moveTo>
                  <a:pt x="0" y="0"/>
                </a:moveTo>
                <a:lnTo>
                  <a:pt x="39852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9" name="object 9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32943" y="2284158"/>
            <a:ext cx="65265" cy="65265"/>
          </a:xfrm>
          <a:prstGeom prst="rect">
            <a:avLst/>
          </a:prstGeom>
        </p:spPr>
      </p:pic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290398" y="2604630"/>
            <a:ext cx="111125" cy="111125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432943" y="2790266"/>
            <a:ext cx="65265" cy="65265"/>
          </a:xfrm>
          <a:prstGeom prst="rect">
            <a:avLst/>
          </a:prstGeom>
        </p:spPr>
      </p:pic>
      <p:sp>
        <p:nvSpPr>
          <p:cNvPr id="12" name="object 12"/>
          <p:cNvSpPr txBox="1"/>
          <p:nvPr/>
        </p:nvSpPr>
        <p:spPr>
          <a:xfrm>
            <a:off x="434842" y="491990"/>
            <a:ext cx="2641600" cy="255651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ts val="1200"/>
              </a:lnSpc>
              <a:spcBef>
                <a:spcPts val="95"/>
              </a:spcBef>
            </a:pPr>
            <a:r>
              <a:rPr sz="1000" b="1" spc="-50" dirty="0">
                <a:solidFill>
                  <a:srgbClr val="333333"/>
                </a:solidFill>
                <a:latin typeface="Tahoma"/>
                <a:cs typeface="Tahoma"/>
              </a:rPr>
              <a:t>How</a:t>
            </a:r>
            <a:r>
              <a:rPr sz="1000" b="1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10" dirty="0">
                <a:solidFill>
                  <a:srgbClr val="333333"/>
                </a:solidFill>
                <a:latin typeface="Tahoma"/>
                <a:cs typeface="Tahoma"/>
              </a:rPr>
              <a:t>Data</a:t>
            </a:r>
            <a:r>
              <a:rPr sz="1000" b="1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20" dirty="0">
                <a:solidFill>
                  <a:srgbClr val="333333"/>
                </a:solidFill>
                <a:latin typeface="Tahoma"/>
                <a:cs typeface="Tahoma"/>
              </a:rPr>
              <a:t>is</a:t>
            </a:r>
            <a:r>
              <a:rPr sz="1000" b="1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50" dirty="0">
                <a:solidFill>
                  <a:srgbClr val="333333"/>
                </a:solidFill>
                <a:latin typeface="Tahoma"/>
                <a:cs typeface="Tahoma"/>
              </a:rPr>
              <a:t>Stored</a:t>
            </a:r>
            <a:r>
              <a:rPr sz="1000" b="1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dirty="0">
                <a:solidFill>
                  <a:srgbClr val="333333"/>
                </a:solidFill>
                <a:latin typeface="Tahoma"/>
                <a:cs typeface="Tahoma"/>
              </a:rPr>
              <a:t>&amp; </a:t>
            </a:r>
            <a:r>
              <a:rPr sz="1000" b="1" spc="-10" dirty="0">
                <a:solidFill>
                  <a:srgbClr val="333333"/>
                </a:solidFill>
                <a:latin typeface="Tahoma"/>
                <a:cs typeface="Tahoma"/>
              </a:rPr>
              <a:t>Recorded</a:t>
            </a:r>
            <a:endParaRPr sz="1000">
              <a:latin typeface="Tahoma"/>
              <a:cs typeface="Tahoma"/>
            </a:endParaRPr>
          </a:p>
          <a:p>
            <a:pPr marL="132080" marR="228600">
              <a:lnSpc>
                <a:spcPts val="1200"/>
              </a:lnSpc>
              <a:spcBef>
                <a:spcPts val="40"/>
              </a:spcBef>
            </a:pPr>
            <a:r>
              <a:rPr sz="1000" spc="-55" dirty="0">
                <a:solidFill>
                  <a:srgbClr val="333333"/>
                </a:solidFill>
                <a:latin typeface="Tahoma"/>
                <a:cs typeface="Tahoma"/>
              </a:rPr>
              <a:t>every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35" dirty="0">
                <a:solidFill>
                  <a:srgbClr val="333333"/>
                </a:solidFill>
                <a:latin typeface="Tahoma"/>
                <a:cs typeface="Tahoma"/>
              </a:rPr>
              <a:t>shipment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40" dirty="0">
                <a:solidFill>
                  <a:srgbClr val="333333"/>
                </a:solidFill>
                <a:latin typeface="Tahoma"/>
                <a:cs typeface="Tahoma"/>
              </a:rPr>
              <a:t>gets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a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unique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ID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55" dirty="0">
                <a:solidFill>
                  <a:srgbClr val="333333"/>
                </a:solidFill>
                <a:latin typeface="Tahoma"/>
                <a:cs typeface="Tahoma"/>
              </a:rPr>
              <a:t>when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 first recorded</a:t>
            </a:r>
            <a:endParaRPr sz="1000">
              <a:latin typeface="Tahoma"/>
              <a:cs typeface="Tahoma"/>
            </a:endParaRPr>
          </a:p>
          <a:p>
            <a:pPr marL="132080" marR="173355">
              <a:lnSpc>
                <a:spcPct val="100000"/>
              </a:lnSpc>
              <a:spcBef>
                <a:spcPts val="345"/>
              </a:spcBef>
            </a:pPr>
            <a:r>
              <a:rPr sz="1000" spc="-40" dirty="0">
                <a:solidFill>
                  <a:srgbClr val="333333"/>
                </a:solidFill>
                <a:latin typeface="Tahoma"/>
                <a:cs typeface="Tahoma"/>
              </a:rPr>
              <a:t>raw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data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(form/CSV)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55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1000" spc="-20" dirty="0">
                <a:solidFill>
                  <a:srgbClr val="333333"/>
                </a:solidFill>
                <a:latin typeface="Lucida Sans Unicode"/>
                <a:cs typeface="Lucida Sans Unicode"/>
              </a:rPr>
              <a:t> </a:t>
            </a:r>
            <a:r>
              <a:rPr sz="1000" b="1" spc="-30" dirty="0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sz="1000" b="1" spc="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60" dirty="0">
                <a:solidFill>
                  <a:srgbClr val="333333"/>
                </a:solidFill>
                <a:latin typeface="Tahoma"/>
                <a:cs typeface="Tahoma"/>
              </a:rPr>
              <a:t>Storage</a:t>
            </a:r>
            <a:r>
              <a:rPr sz="1000" b="1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as </a:t>
            </a: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immutable</a:t>
            </a:r>
            <a:r>
              <a:rPr sz="10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backup</a:t>
            </a:r>
            <a:endParaRPr sz="1000">
              <a:latin typeface="Tahoma"/>
              <a:cs typeface="Tahoma"/>
            </a:endParaRPr>
          </a:p>
          <a:p>
            <a:pPr marL="132080" marR="373380">
              <a:lnSpc>
                <a:spcPct val="100000"/>
              </a:lnSpc>
              <a:spcBef>
                <a:spcPts val="390"/>
              </a:spcBef>
            </a:pPr>
            <a:r>
              <a:rPr sz="1000" b="1" spc="-30" dirty="0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sz="1000" b="1" spc="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45" dirty="0">
                <a:solidFill>
                  <a:srgbClr val="333333"/>
                </a:solidFill>
                <a:latin typeface="Tahoma"/>
                <a:cs typeface="Tahoma"/>
              </a:rPr>
              <a:t>Function</a:t>
            </a:r>
            <a:r>
              <a:rPr sz="1000" b="1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auto-</a:t>
            </a: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triggers,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40" dirty="0">
                <a:solidFill>
                  <a:srgbClr val="333333"/>
                </a:solidFill>
                <a:latin typeface="Tahoma"/>
                <a:cs typeface="Tahoma"/>
              </a:rPr>
              <a:t>cleans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20" dirty="0">
                <a:solidFill>
                  <a:srgbClr val="333333"/>
                </a:solidFill>
                <a:latin typeface="Tahoma"/>
                <a:cs typeface="Tahoma"/>
              </a:rPr>
              <a:t>&amp; 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validates</a:t>
            </a:r>
            <a:endParaRPr sz="1000">
              <a:latin typeface="Tahoma"/>
              <a:cs typeface="Tahoma"/>
            </a:endParaRPr>
          </a:p>
          <a:p>
            <a:pPr marL="132080" marR="5080">
              <a:lnSpc>
                <a:spcPct val="100000"/>
              </a:lnSpc>
              <a:spcBef>
                <a:spcPts val="390"/>
              </a:spcBef>
            </a:pPr>
            <a:r>
              <a:rPr sz="1000" spc="-40" dirty="0">
                <a:solidFill>
                  <a:srgbClr val="333333"/>
                </a:solidFill>
                <a:latin typeface="Tahoma"/>
                <a:cs typeface="Tahoma"/>
              </a:rPr>
              <a:t>clean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data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55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1000" spc="-15" dirty="0">
                <a:solidFill>
                  <a:srgbClr val="333333"/>
                </a:solidFill>
                <a:latin typeface="Lucida Sans Unicode"/>
                <a:cs typeface="Lucida Sans Unicode"/>
              </a:rPr>
              <a:t> </a:t>
            </a:r>
            <a:r>
              <a:rPr sz="1000" b="1" spc="-30" dirty="0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sz="1000" b="1" spc="4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dirty="0">
                <a:solidFill>
                  <a:srgbClr val="333333"/>
                </a:solidFill>
                <a:latin typeface="Tahoma"/>
                <a:cs typeface="Tahoma"/>
              </a:rPr>
              <a:t>SQL</a:t>
            </a:r>
            <a:r>
              <a:rPr sz="1000" b="1" spc="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40" dirty="0">
                <a:solidFill>
                  <a:srgbClr val="333333"/>
                </a:solidFill>
                <a:latin typeface="Tahoma"/>
                <a:cs typeface="Tahoma"/>
              </a:rPr>
              <a:t>(PostgreSQL)</a:t>
            </a:r>
            <a:r>
              <a:rPr sz="1000" b="1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80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50" dirty="0">
                <a:solidFill>
                  <a:srgbClr val="333333"/>
                </a:solidFill>
                <a:latin typeface="Tahoma"/>
                <a:cs typeface="Tahoma"/>
              </a:rPr>
              <a:t>3 </a:t>
            </a: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tables:</a:t>
            </a:r>
            <a:r>
              <a:rPr sz="1000" spc="8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55" dirty="0">
                <a:solidFill>
                  <a:srgbClr val="333333"/>
                </a:solidFill>
                <a:latin typeface="Calibri"/>
                <a:cs typeface="Calibri"/>
              </a:rPr>
              <a:t>farmers</a:t>
            </a:r>
            <a:r>
              <a:rPr sz="1000" spc="55" dirty="0">
                <a:solidFill>
                  <a:srgbClr val="333333"/>
                </a:solidFill>
                <a:latin typeface="Tahoma"/>
                <a:cs typeface="Tahoma"/>
              </a:rPr>
              <a:t>,</a:t>
            </a:r>
            <a:r>
              <a:rPr sz="10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33333"/>
                </a:solidFill>
                <a:latin typeface="Calibri"/>
                <a:cs typeface="Calibri"/>
              </a:rPr>
              <a:t>shipments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,</a:t>
            </a:r>
            <a:endParaRPr sz="1000">
              <a:latin typeface="Tahoma"/>
              <a:cs typeface="Tahoma"/>
            </a:endParaRPr>
          </a:p>
          <a:p>
            <a:pPr marL="132080">
              <a:lnSpc>
                <a:spcPts val="1190"/>
              </a:lnSpc>
            </a:pPr>
            <a:r>
              <a:rPr sz="1000" dirty="0">
                <a:solidFill>
                  <a:srgbClr val="333333"/>
                </a:solidFill>
                <a:latin typeface="Calibri"/>
                <a:cs typeface="Calibri"/>
              </a:rPr>
              <a:t>shipment</a:t>
            </a:r>
            <a:r>
              <a:rPr sz="1000" spc="48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1000" spc="80" dirty="0">
                <a:solidFill>
                  <a:srgbClr val="333333"/>
                </a:solidFill>
                <a:latin typeface="Calibri"/>
                <a:cs typeface="Calibri"/>
              </a:rPr>
              <a:t>stages</a:t>
            </a:r>
            <a:endParaRPr sz="1000">
              <a:latin typeface="Calibri"/>
              <a:cs typeface="Calibri"/>
            </a:endParaRPr>
          </a:p>
          <a:p>
            <a:pPr marL="132080">
              <a:lnSpc>
                <a:spcPts val="1200"/>
              </a:lnSpc>
              <a:spcBef>
                <a:spcPts val="395"/>
              </a:spcBef>
            </a:pP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each</a:t>
            </a:r>
            <a:r>
              <a:rPr sz="10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stage</a:t>
            </a:r>
            <a:r>
              <a:rPr sz="10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(farm</a:t>
            </a:r>
            <a:r>
              <a:rPr sz="10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55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1000" spc="-10" dirty="0">
                <a:solidFill>
                  <a:srgbClr val="333333"/>
                </a:solidFill>
                <a:latin typeface="Lucida Sans Unicode"/>
                <a:cs typeface="Lucida Sans Unicode"/>
              </a:rPr>
              <a:t> 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processing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55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1000" spc="-5" dirty="0">
                <a:solidFill>
                  <a:srgbClr val="333333"/>
                </a:solidFill>
                <a:latin typeface="Lucida Sans Unicode"/>
                <a:cs typeface="Lucida Sans Unicode"/>
              </a:rPr>
              <a:t> </a:t>
            </a: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export</a:t>
            </a:r>
            <a:r>
              <a:rPr sz="10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5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endParaRPr sz="1000">
              <a:latin typeface="Lucida Sans Unicode"/>
              <a:cs typeface="Lucida Sans Unicode"/>
            </a:endParaRPr>
          </a:p>
          <a:p>
            <a:pPr marL="132080">
              <a:lnSpc>
                <a:spcPts val="1200"/>
              </a:lnSpc>
            </a:pP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UK)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is</a:t>
            </a:r>
            <a:r>
              <a:rPr sz="10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a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35" dirty="0">
                <a:solidFill>
                  <a:srgbClr val="333333"/>
                </a:solidFill>
                <a:latin typeface="Tahoma"/>
                <a:cs typeface="Tahoma"/>
              </a:rPr>
              <a:t>row</a:t>
            </a:r>
            <a:r>
              <a:rPr sz="10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with</a:t>
            </a:r>
            <a:r>
              <a:rPr sz="10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35" dirty="0">
                <a:solidFill>
                  <a:srgbClr val="333333"/>
                </a:solidFill>
                <a:latin typeface="Tahoma"/>
                <a:cs typeface="Tahoma"/>
              </a:rPr>
              <a:t>timestamps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and</a:t>
            </a:r>
            <a:r>
              <a:rPr sz="10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GPS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ts val="1200"/>
              </a:lnSpc>
              <a:spcBef>
                <a:spcPts val="395"/>
              </a:spcBef>
            </a:pPr>
            <a:r>
              <a:rPr sz="1000" b="1" dirty="0">
                <a:solidFill>
                  <a:srgbClr val="333333"/>
                </a:solidFill>
                <a:latin typeface="Tahoma"/>
                <a:cs typeface="Tahoma"/>
              </a:rPr>
              <a:t>QR</a:t>
            </a:r>
            <a:r>
              <a:rPr sz="1000" b="1" spc="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20" dirty="0">
                <a:solidFill>
                  <a:srgbClr val="333333"/>
                </a:solidFill>
                <a:latin typeface="Tahoma"/>
                <a:cs typeface="Tahoma"/>
              </a:rPr>
              <a:t>Code</a:t>
            </a:r>
            <a:r>
              <a:rPr sz="1000" b="1" spc="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90" dirty="0">
                <a:solidFill>
                  <a:srgbClr val="333333"/>
                </a:solidFill>
                <a:latin typeface="Arial"/>
                <a:cs typeface="Arial"/>
              </a:rPr>
              <a:t>→</a:t>
            </a:r>
            <a:r>
              <a:rPr sz="1000" b="1" spc="5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333333"/>
                </a:solidFill>
                <a:latin typeface="Tahoma"/>
                <a:cs typeface="Tahoma"/>
              </a:rPr>
              <a:t>Webpage</a:t>
            </a:r>
            <a:endParaRPr sz="1000">
              <a:latin typeface="Tahoma"/>
              <a:cs typeface="Tahoma"/>
            </a:endParaRPr>
          </a:p>
          <a:p>
            <a:pPr marL="132080">
              <a:lnSpc>
                <a:spcPts val="1195"/>
              </a:lnSpc>
            </a:pP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QR</a:t>
            </a:r>
            <a:r>
              <a:rPr sz="10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generated</a:t>
            </a:r>
            <a:r>
              <a:rPr sz="10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per</a:t>
            </a:r>
            <a:r>
              <a:rPr sz="10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35" dirty="0">
                <a:solidFill>
                  <a:srgbClr val="333333"/>
                </a:solidFill>
                <a:latin typeface="Tahoma"/>
                <a:cs typeface="Tahoma"/>
              </a:rPr>
              <a:t>shipment,</a:t>
            </a:r>
            <a:r>
              <a:rPr sz="1000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50" dirty="0">
                <a:solidFill>
                  <a:srgbClr val="333333"/>
                </a:solidFill>
                <a:latin typeface="Tahoma"/>
                <a:cs typeface="Tahoma"/>
              </a:rPr>
              <a:t>encodes</a:t>
            </a:r>
            <a:r>
              <a:rPr sz="10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URL</a:t>
            </a:r>
            <a:r>
              <a:rPr sz="10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like</a:t>
            </a:r>
            <a:endParaRPr sz="1000">
              <a:latin typeface="Tahoma"/>
              <a:cs typeface="Tahoma"/>
            </a:endParaRPr>
          </a:p>
          <a:p>
            <a:pPr marL="132080">
              <a:lnSpc>
                <a:spcPts val="1200"/>
              </a:lnSpc>
            </a:pPr>
            <a:r>
              <a:rPr sz="1000" spc="60" dirty="0">
                <a:solidFill>
                  <a:srgbClr val="333333"/>
                </a:solidFill>
                <a:latin typeface="Calibri"/>
                <a:cs typeface="Calibri"/>
              </a:rPr>
              <a:t>/trace/SH-</a:t>
            </a:r>
            <a:r>
              <a:rPr sz="1000" spc="70" dirty="0">
                <a:solidFill>
                  <a:srgbClr val="333333"/>
                </a:solidFill>
                <a:latin typeface="Calibri"/>
                <a:cs typeface="Calibri"/>
              </a:rPr>
              <a:t>2026-</a:t>
            </a:r>
            <a:r>
              <a:rPr sz="1000" spc="50" dirty="0">
                <a:solidFill>
                  <a:srgbClr val="333333"/>
                </a:solidFill>
                <a:latin typeface="Calibri"/>
                <a:cs typeface="Calibri"/>
              </a:rPr>
              <a:t>001</a:t>
            </a:r>
            <a:endParaRPr sz="1000">
              <a:latin typeface="Calibri"/>
              <a:cs typeface="Calibri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567486" y="3098326"/>
            <a:ext cx="2407920" cy="15494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ts val="1100"/>
              </a:lnSpc>
            </a:pPr>
            <a:r>
              <a:rPr sz="1000" spc="-35" dirty="0">
                <a:solidFill>
                  <a:srgbClr val="333333"/>
                </a:solidFill>
                <a:latin typeface="Tahoma"/>
                <a:cs typeface="Tahoma"/>
              </a:rPr>
              <a:t>scan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40" dirty="0">
                <a:solidFill>
                  <a:srgbClr val="333333"/>
                </a:solidFill>
                <a:latin typeface="Tahoma"/>
                <a:cs typeface="Tahoma"/>
              </a:rPr>
              <a:t>opens</a:t>
            </a:r>
            <a:r>
              <a:rPr sz="1000" spc="-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public</a:t>
            </a: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35" dirty="0">
                <a:solidFill>
                  <a:srgbClr val="333333"/>
                </a:solidFill>
                <a:latin typeface="Tahoma"/>
                <a:cs typeface="Tahoma"/>
              </a:rPr>
              <a:t>page:</a:t>
            </a:r>
            <a:r>
              <a:rPr sz="1000" spc="7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75" dirty="0">
                <a:solidFill>
                  <a:srgbClr val="333333"/>
                </a:solidFill>
                <a:latin typeface="Tahoma"/>
                <a:cs typeface="Tahoma"/>
              </a:rPr>
              <a:t>map</a:t>
            </a:r>
            <a:r>
              <a:rPr sz="1000" b="1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(Kenya</a:t>
            </a: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55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1000" spc="-35" dirty="0">
                <a:solidFill>
                  <a:srgbClr val="333333"/>
                </a:solidFill>
                <a:latin typeface="Lucida Sans Unicode"/>
                <a:cs typeface="Lucida Sans Unicode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UK)</a:t>
            </a:r>
            <a:endParaRPr sz="1000">
              <a:latin typeface="Tahoma"/>
              <a:cs typeface="Tahoma"/>
            </a:endParaRPr>
          </a:p>
        </p:txBody>
      </p:sp>
      <p:pic>
        <p:nvPicPr>
          <p:cNvPr id="14" name="object 14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3352812" y="518782"/>
            <a:ext cx="158750" cy="114300"/>
          </a:xfrm>
          <a:prstGeom prst="rect">
            <a:avLst/>
          </a:prstGeom>
        </p:spPr>
      </p:pic>
      <p:sp>
        <p:nvSpPr>
          <p:cNvPr id="15" name="object 15"/>
          <p:cNvSpPr txBox="1"/>
          <p:nvPr/>
        </p:nvSpPr>
        <p:spPr>
          <a:xfrm>
            <a:off x="3544703" y="484332"/>
            <a:ext cx="15468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000" b="1" spc="-25" dirty="0">
                <a:solidFill>
                  <a:srgbClr val="333333"/>
                </a:solidFill>
                <a:latin typeface="Tahoma"/>
                <a:cs typeface="Tahoma"/>
              </a:rPr>
              <a:t>Non-</a:t>
            </a:r>
            <a:r>
              <a:rPr sz="1000" b="1" spc="-60" dirty="0">
                <a:solidFill>
                  <a:srgbClr val="333333"/>
                </a:solidFill>
                <a:latin typeface="Tahoma"/>
                <a:cs typeface="Tahoma"/>
              </a:rPr>
              <a:t>Technical</a:t>
            </a:r>
            <a:r>
              <a:rPr sz="1000" b="1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10" dirty="0">
                <a:solidFill>
                  <a:srgbClr val="333333"/>
                </a:solidFill>
                <a:latin typeface="Tahoma"/>
                <a:cs typeface="Tahoma"/>
              </a:rPr>
              <a:t>Data</a:t>
            </a:r>
            <a:r>
              <a:rPr sz="1000" b="1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b="1" spc="-25" dirty="0">
                <a:solidFill>
                  <a:srgbClr val="333333"/>
                </a:solidFill>
                <a:latin typeface="Tahoma"/>
                <a:cs typeface="Tahoma"/>
              </a:rPr>
              <a:t>Entry</a:t>
            </a:r>
            <a:endParaRPr sz="1000">
              <a:latin typeface="Tahoma"/>
              <a:cs typeface="Tahoma"/>
            </a:endParaRPr>
          </a:p>
        </p:txBody>
      </p:sp>
      <p:grpSp>
        <p:nvGrpSpPr>
          <p:cNvPr id="16" name="object 16"/>
          <p:cNvGrpSpPr/>
          <p:nvPr/>
        </p:nvGrpSpPr>
        <p:grpSpPr>
          <a:xfrm>
            <a:off x="3302012" y="787386"/>
            <a:ext cx="2218690" cy="216535"/>
            <a:chOff x="3302012" y="787386"/>
            <a:chExt cx="2218690" cy="216535"/>
          </a:xfrm>
        </p:grpSpPr>
        <p:sp>
          <p:nvSpPr>
            <p:cNvPr id="17" name="object 17"/>
            <p:cNvSpPr/>
            <p:nvPr/>
          </p:nvSpPr>
          <p:spPr>
            <a:xfrm>
              <a:off x="3302012" y="787386"/>
              <a:ext cx="2218690" cy="216535"/>
            </a:xfrm>
            <a:custGeom>
              <a:avLst/>
              <a:gdLst/>
              <a:ahLst/>
              <a:cxnLst/>
              <a:rect l="l" t="t" r="r" b="b"/>
              <a:pathLst>
                <a:path w="2218690" h="216534">
                  <a:moveTo>
                    <a:pt x="2167618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15988"/>
                  </a:lnTo>
                  <a:lnTo>
                    <a:pt x="2218419" y="215988"/>
                  </a:lnTo>
                  <a:lnTo>
                    <a:pt x="2218419" y="50800"/>
                  </a:lnTo>
                  <a:lnTo>
                    <a:pt x="2214410" y="31075"/>
                  </a:lnTo>
                  <a:lnTo>
                    <a:pt x="2203496" y="14922"/>
                  </a:lnTo>
                  <a:lnTo>
                    <a:pt x="2187343" y="4008"/>
                  </a:lnTo>
                  <a:lnTo>
                    <a:pt x="2167618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18" name="object 18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3352812" y="824712"/>
              <a:ext cx="133350" cy="133350"/>
            </a:xfrm>
            <a:prstGeom prst="rect">
              <a:avLst/>
            </a:prstGeom>
          </p:spPr>
        </p:pic>
      </p:grpSp>
      <p:sp>
        <p:nvSpPr>
          <p:cNvPr id="19" name="object 19"/>
          <p:cNvSpPr txBox="1"/>
          <p:nvPr/>
        </p:nvSpPr>
        <p:spPr>
          <a:xfrm>
            <a:off x="3522461" y="784006"/>
            <a:ext cx="132778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20" dirty="0">
                <a:solidFill>
                  <a:srgbClr val="FFFFFF"/>
                </a:solidFill>
                <a:latin typeface="Tahoma"/>
                <a:cs typeface="Tahoma"/>
              </a:rPr>
              <a:t>Option</a:t>
            </a:r>
            <a:r>
              <a:rPr sz="1200" spc="-7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FFFFFF"/>
                </a:solidFill>
                <a:latin typeface="Tahoma"/>
                <a:cs typeface="Tahoma"/>
              </a:rPr>
              <a:t>1:</a:t>
            </a:r>
            <a:r>
              <a:rPr sz="1200" spc="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spc="-55" dirty="0">
                <a:solidFill>
                  <a:srgbClr val="FFFFFF"/>
                </a:solidFill>
                <a:latin typeface="Tahoma"/>
                <a:cs typeface="Tahoma"/>
              </a:rPr>
              <a:t>Web</a:t>
            </a:r>
            <a:r>
              <a:rPr sz="1200" spc="-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spc="-40" dirty="0">
                <a:solidFill>
                  <a:srgbClr val="FFFFFF"/>
                </a:solidFill>
                <a:latin typeface="Tahoma"/>
                <a:cs typeface="Tahoma"/>
              </a:rPr>
              <a:t>Form</a:t>
            </a:r>
            <a:endParaRPr sz="1200">
              <a:latin typeface="Tahoma"/>
              <a:cs typeface="Tahoma"/>
            </a:endParaRPr>
          </a:p>
        </p:txBody>
      </p:sp>
      <p:pic>
        <p:nvPicPr>
          <p:cNvPr id="20" name="object 20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302012" y="990714"/>
            <a:ext cx="2218419" cy="116967"/>
          </a:xfrm>
          <a:prstGeom prst="rect">
            <a:avLst/>
          </a:prstGeom>
        </p:spPr>
      </p:pic>
      <p:sp>
        <p:nvSpPr>
          <p:cNvPr id="21" name="object 21"/>
          <p:cNvSpPr txBox="1"/>
          <p:nvPr/>
        </p:nvSpPr>
        <p:spPr>
          <a:xfrm>
            <a:off x="3617201" y="933024"/>
            <a:ext cx="1756410" cy="5949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4500"/>
              </a:lnSpc>
              <a:spcBef>
                <a:spcPts val="100"/>
              </a:spcBef>
            </a:pP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simple</a:t>
            </a:r>
            <a:r>
              <a:rPr sz="1000" spc="-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form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on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admin</a:t>
            </a:r>
            <a:r>
              <a:rPr sz="1000" spc="-4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dashboard one</a:t>
            </a: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35" dirty="0">
                <a:solidFill>
                  <a:srgbClr val="333333"/>
                </a:solidFill>
                <a:latin typeface="Tahoma"/>
                <a:cs typeface="Tahoma"/>
              </a:rPr>
              <a:t>shipment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at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a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time</a:t>
            </a:r>
            <a:endParaRPr sz="10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295"/>
              </a:spcBef>
            </a:pP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no</a:t>
            </a:r>
            <a:r>
              <a:rPr sz="1000" spc="-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coding,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no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terminal,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no</a:t>
            </a:r>
            <a:r>
              <a:rPr sz="1000" spc="-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SQL</a:t>
            </a:r>
            <a:endParaRPr sz="1000">
              <a:latin typeface="Tahoma"/>
              <a:cs typeface="Tahoma"/>
            </a:endParaRPr>
          </a:p>
        </p:txBody>
      </p:sp>
      <p:pic>
        <p:nvPicPr>
          <p:cNvPr id="22" name="object 22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3495357" y="1232204"/>
            <a:ext cx="65265" cy="65265"/>
          </a:xfrm>
          <a:prstGeom prst="rect">
            <a:avLst/>
          </a:prstGeom>
        </p:spPr>
      </p:pic>
      <p:pic>
        <p:nvPicPr>
          <p:cNvPr id="23" name="object 23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495357" y="1421993"/>
            <a:ext cx="65265" cy="65265"/>
          </a:xfrm>
          <a:prstGeom prst="rect">
            <a:avLst/>
          </a:prstGeom>
        </p:spPr>
      </p:pic>
      <p:grpSp>
        <p:nvGrpSpPr>
          <p:cNvPr id="24" name="object 24"/>
          <p:cNvGrpSpPr/>
          <p:nvPr/>
        </p:nvGrpSpPr>
        <p:grpSpPr>
          <a:xfrm>
            <a:off x="3302012" y="1672691"/>
            <a:ext cx="2218690" cy="234315"/>
            <a:chOff x="3302012" y="1672691"/>
            <a:chExt cx="2218690" cy="234315"/>
          </a:xfrm>
        </p:grpSpPr>
        <p:sp>
          <p:nvSpPr>
            <p:cNvPr id="25" name="object 25"/>
            <p:cNvSpPr/>
            <p:nvPr/>
          </p:nvSpPr>
          <p:spPr>
            <a:xfrm>
              <a:off x="3302012" y="1672691"/>
              <a:ext cx="2218690" cy="234315"/>
            </a:xfrm>
            <a:custGeom>
              <a:avLst/>
              <a:gdLst/>
              <a:ahLst/>
              <a:cxnLst/>
              <a:rect l="l" t="t" r="r" b="b"/>
              <a:pathLst>
                <a:path w="2218690" h="234314">
                  <a:moveTo>
                    <a:pt x="2167618" y="0"/>
                  </a:moveTo>
                  <a:lnTo>
                    <a:pt x="50800" y="0"/>
                  </a:lnTo>
                  <a:lnTo>
                    <a:pt x="31075" y="4008"/>
                  </a:lnTo>
                  <a:lnTo>
                    <a:pt x="14922" y="14922"/>
                  </a:lnTo>
                  <a:lnTo>
                    <a:pt x="4008" y="31075"/>
                  </a:lnTo>
                  <a:lnTo>
                    <a:pt x="0" y="50800"/>
                  </a:lnTo>
                  <a:lnTo>
                    <a:pt x="0" y="234217"/>
                  </a:lnTo>
                  <a:lnTo>
                    <a:pt x="2218419" y="234217"/>
                  </a:lnTo>
                  <a:lnTo>
                    <a:pt x="2218419" y="50800"/>
                  </a:lnTo>
                  <a:lnTo>
                    <a:pt x="2214410" y="31075"/>
                  </a:lnTo>
                  <a:lnTo>
                    <a:pt x="2203496" y="14922"/>
                  </a:lnTo>
                  <a:lnTo>
                    <a:pt x="2187343" y="4008"/>
                  </a:lnTo>
                  <a:lnTo>
                    <a:pt x="2167618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pic>
          <p:nvPicPr>
            <p:cNvPr id="26" name="object 26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3352812" y="1710296"/>
              <a:ext cx="114300" cy="152400"/>
            </a:xfrm>
            <a:prstGeom prst="rect">
              <a:avLst/>
            </a:prstGeom>
          </p:spPr>
        </p:pic>
      </p:grpSp>
      <p:sp>
        <p:nvSpPr>
          <p:cNvPr id="27" name="object 27"/>
          <p:cNvSpPr txBox="1"/>
          <p:nvPr/>
        </p:nvSpPr>
        <p:spPr>
          <a:xfrm>
            <a:off x="3503483" y="1679115"/>
            <a:ext cx="183959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20" dirty="0">
                <a:solidFill>
                  <a:srgbClr val="FFFFFF"/>
                </a:solidFill>
                <a:latin typeface="Tahoma"/>
                <a:cs typeface="Tahoma"/>
              </a:rPr>
              <a:t>Option</a:t>
            </a:r>
            <a:r>
              <a:rPr sz="1200" spc="-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FFFFFF"/>
                </a:solidFill>
                <a:latin typeface="Tahoma"/>
                <a:cs typeface="Tahoma"/>
              </a:rPr>
              <a:t>2:</a:t>
            </a:r>
            <a:r>
              <a:rPr sz="1200" spc="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dirty="0">
                <a:solidFill>
                  <a:srgbClr val="FFFFFF"/>
                </a:solidFill>
                <a:latin typeface="Tahoma"/>
                <a:cs typeface="Tahoma"/>
              </a:rPr>
              <a:t>CSV/Excel</a:t>
            </a:r>
            <a:r>
              <a:rPr sz="1200" spc="-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spc="-35" dirty="0">
                <a:solidFill>
                  <a:srgbClr val="FFFFFF"/>
                </a:solidFill>
                <a:latin typeface="Tahoma"/>
                <a:cs typeface="Tahoma"/>
              </a:rPr>
              <a:t>Upload</a:t>
            </a:r>
            <a:endParaRPr sz="1200">
              <a:latin typeface="Tahoma"/>
              <a:cs typeface="Tahoma"/>
            </a:endParaRPr>
          </a:p>
        </p:txBody>
      </p:sp>
      <p:pic>
        <p:nvPicPr>
          <p:cNvPr id="28" name="object 28"/>
          <p:cNvPicPr/>
          <p:nvPr/>
        </p:nvPicPr>
        <p:blipFill>
          <a:blip r:embed="rId16" cstate="print"/>
          <a:stretch>
            <a:fillRect/>
          </a:stretch>
        </p:blipFill>
        <p:spPr>
          <a:xfrm>
            <a:off x="3302012" y="1894255"/>
            <a:ext cx="2218419" cy="116967"/>
          </a:xfrm>
          <a:prstGeom prst="rect">
            <a:avLst/>
          </a:prstGeom>
        </p:spPr>
      </p:pic>
      <p:pic>
        <p:nvPicPr>
          <p:cNvPr id="29" name="object 29"/>
          <p:cNvPicPr/>
          <p:nvPr/>
        </p:nvPicPr>
        <p:blipFill>
          <a:blip r:embed="rId17" cstate="print"/>
          <a:stretch>
            <a:fillRect/>
          </a:stretch>
        </p:blipFill>
        <p:spPr>
          <a:xfrm>
            <a:off x="3495357" y="2135746"/>
            <a:ext cx="65265" cy="65265"/>
          </a:xfrm>
          <a:prstGeom prst="rect">
            <a:avLst/>
          </a:prstGeom>
        </p:spPr>
      </p:pic>
      <p:pic>
        <p:nvPicPr>
          <p:cNvPr id="30" name="object 30"/>
          <p:cNvPicPr/>
          <p:nvPr/>
        </p:nvPicPr>
        <p:blipFill>
          <a:blip r:embed="rId18" cstate="print"/>
          <a:stretch>
            <a:fillRect/>
          </a:stretch>
        </p:blipFill>
        <p:spPr>
          <a:xfrm>
            <a:off x="3495357" y="2477363"/>
            <a:ext cx="65265" cy="65265"/>
          </a:xfrm>
          <a:prstGeom prst="rect">
            <a:avLst/>
          </a:prstGeom>
        </p:spPr>
      </p:pic>
      <p:sp>
        <p:nvSpPr>
          <p:cNvPr id="31" name="object 31"/>
          <p:cNvSpPr txBox="1"/>
          <p:nvPr/>
        </p:nvSpPr>
        <p:spPr>
          <a:xfrm>
            <a:off x="3340112" y="1836566"/>
            <a:ext cx="2083435" cy="1127125"/>
          </a:xfrm>
          <a:prstGeom prst="rect">
            <a:avLst/>
          </a:prstGeom>
        </p:spPr>
        <p:txBody>
          <a:bodyPr vert="horz" wrap="square" lIns="0" tIns="50165" rIns="0" bIns="0" rtlCol="0">
            <a:spAutoFit/>
          </a:bodyPr>
          <a:lstStyle/>
          <a:p>
            <a:pPr marL="289560">
              <a:lnSpc>
                <a:spcPct val="100000"/>
              </a:lnSpc>
              <a:spcBef>
                <a:spcPts val="395"/>
              </a:spcBef>
            </a:pP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drag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and</a:t>
            </a:r>
            <a:r>
              <a:rPr sz="1000" spc="-4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drop</a:t>
            </a:r>
            <a:r>
              <a:rPr sz="1000" spc="-4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a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spreadsheet</a:t>
            </a:r>
            <a:endParaRPr sz="1000">
              <a:latin typeface="Tahoma"/>
              <a:cs typeface="Tahoma"/>
            </a:endParaRPr>
          </a:p>
          <a:p>
            <a:pPr marL="289560" marR="5080">
              <a:lnSpc>
                <a:spcPct val="100000"/>
              </a:lnSpc>
              <a:spcBef>
                <a:spcPts val="295"/>
              </a:spcBef>
            </a:pP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bulk</a:t>
            </a:r>
            <a:r>
              <a:rPr sz="1000" spc="-5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import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33333"/>
                </a:solidFill>
                <a:latin typeface="Tahoma"/>
                <a:cs typeface="Tahoma"/>
              </a:rPr>
              <a:t>for</a:t>
            </a:r>
            <a:r>
              <a:rPr sz="1000" spc="-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30" dirty="0">
                <a:solidFill>
                  <a:srgbClr val="333333"/>
                </a:solidFill>
                <a:latin typeface="Tahoma"/>
                <a:cs typeface="Tahoma"/>
              </a:rPr>
              <a:t>cooperative</a:t>
            </a:r>
            <a:r>
              <a:rPr sz="1000" spc="-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batch </a:t>
            </a:r>
            <a:r>
              <a:rPr sz="1000" spc="-20" dirty="0">
                <a:solidFill>
                  <a:srgbClr val="333333"/>
                </a:solidFill>
                <a:latin typeface="Tahoma"/>
                <a:cs typeface="Tahoma"/>
              </a:rPr>
              <a:t>data</a:t>
            </a:r>
            <a:endParaRPr sz="1000">
              <a:latin typeface="Tahoma"/>
              <a:cs typeface="Tahoma"/>
            </a:endParaRPr>
          </a:p>
          <a:p>
            <a:pPr marL="289560">
              <a:lnSpc>
                <a:spcPct val="100000"/>
              </a:lnSpc>
              <a:spcBef>
                <a:spcPts val="290"/>
              </a:spcBef>
            </a:pPr>
            <a:r>
              <a:rPr sz="1000" spc="-40" dirty="0">
                <a:solidFill>
                  <a:srgbClr val="333333"/>
                </a:solidFill>
                <a:latin typeface="Tahoma"/>
                <a:cs typeface="Tahoma"/>
              </a:rPr>
              <a:t>auto-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validates</a:t>
            </a:r>
            <a:r>
              <a:rPr sz="100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55" dirty="0">
                <a:solidFill>
                  <a:srgbClr val="333333"/>
                </a:solidFill>
                <a:latin typeface="Tahoma"/>
                <a:cs typeface="Tahoma"/>
              </a:rPr>
              <a:t>every</a:t>
            </a:r>
            <a:r>
              <a:rPr sz="10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000" spc="-25" dirty="0">
                <a:solidFill>
                  <a:srgbClr val="333333"/>
                </a:solidFill>
                <a:latin typeface="Tahoma"/>
                <a:cs typeface="Tahoma"/>
              </a:rPr>
              <a:t>row</a:t>
            </a:r>
            <a:endParaRPr sz="1000">
              <a:latin typeface="Tahoma"/>
              <a:cs typeface="Tahoma"/>
            </a:endParaRPr>
          </a:p>
          <a:p>
            <a:pPr marL="12700" marR="250190">
              <a:lnSpc>
                <a:spcPct val="124500"/>
              </a:lnSpc>
              <a:spcBef>
                <a:spcPts val="600"/>
              </a:spcBef>
            </a:pP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both</a:t>
            </a:r>
            <a:r>
              <a:rPr sz="800" i="1" spc="5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spc="-20" dirty="0">
                <a:solidFill>
                  <a:srgbClr val="333333"/>
                </a:solidFill>
                <a:latin typeface="Arial"/>
                <a:cs typeface="Arial"/>
              </a:rPr>
              <a:t>feed</a:t>
            </a:r>
            <a:r>
              <a:rPr sz="800" i="1" spc="6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into</a:t>
            </a:r>
            <a:r>
              <a:rPr sz="800" i="1" spc="6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spc="-30" dirty="0">
                <a:solidFill>
                  <a:srgbClr val="333333"/>
                </a:solidFill>
                <a:latin typeface="Arial"/>
                <a:cs typeface="Arial"/>
              </a:rPr>
              <a:t>same</a:t>
            </a:r>
            <a:r>
              <a:rPr sz="800" i="1" spc="6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REST</a:t>
            </a:r>
            <a:r>
              <a:rPr sz="800" i="1" spc="6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API</a:t>
            </a:r>
            <a:r>
              <a:rPr sz="800" i="1" spc="6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→</a:t>
            </a:r>
            <a:r>
              <a:rPr sz="800" i="1" spc="6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spc="-50" dirty="0">
                <a:solidFill>
                  <a:srgbClr val="333333"/>
                </a:solidFill>
                <a:latin typeface="Arial"/>
                <a:cs typeface="Arial"/>
              </a:rPr>
              <a:t>same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 validation</a:t>
            </a:r>
            <a:r>
              <a:rPr sz="800" i="1" spc="4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→</a:t>
            </a:r>
            <a:r>
              <a:rPr sz="800" i="1" spc="5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spc="-30" dirty="0">
                <a:solidFill>
                  <a:srgbClr val="333333"/>
                </a:solidFill>
                <a:latin typeface="Arial"/>
                <a:cs typeface="Arial"/>
              </a:rPr>
              <a:t>same</a:t>
            </a:r>
            <a:r>
              <a:rPr sz="800" i="1" spc="4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i="1" spc="-25" dirty="0">
                <a:solidFill>
                  <a:srgbClr val="333333"/>
                </a:solidFill>
                <a:latin typeface="Arial"/>
                <a:cs typeface="Arial"/>
              </a:rPr>
              <a:t>DB.</a:t>
            </a:r>
            <a:endParaRPr sz="800">
              <a:latin typeface="Arial"/>
              <a:cs typeface="Arial"/>
            </a:endParaRPr>
          </a:p>
        </p:txBody>
      </p:sp>
      <p:sp>
        <p:nvSpPr>
          <p:cNvPr id="32" name="object 32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3" name="object 33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2</a:t>
            </a:fld>
            <a:r>
              <a:rPr spc="-25" dirty="0"/>
              <a:t>/5</a:t>
            </a: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7297" y="154111"/>
            <a:ext cx="20675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65" dirty="0"/>
              <a:t>Technology</a:t>
            </a:r>
            <a:r>
              <a:rPr spc="25" dirty="0"/>
              <a:t> </a:t>
            </a:r>
            <a:r>
              <a:rPr spc="-50" dirty="0"/>
              <a:t>Choices</a:t>
            </a:r>
            <a:r>
              <a:rPr spc="30" dirty="0"/>
              <a:t> </a:t>
            </a:r>
            <a:r>
              <a:rPr dirty="0"/>
              <a:t>+</a:t>
            </a:r>
            <a:r>
              <a:rPr spc="30" dirty="0"/>
              <a:t> </a:t>
            </a:r>
            <a:r>
              <a:rPr spc="-50" dirty="0"/>
              <a:t>Bonus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7223" y="533323"/>
            <a:ext cx="146050" cy="142875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290398" y="729995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11087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353618" y="505903"/>
            <a:ext cx="1435100" cy="3873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35560" algn="ctr">
              <a:lnSpc>
                <a:spcPct val="100000"/>
              </a:lnSpc>
              <a:spcBef>
                <a:spcPts val="90"/>
              </a:spcBef>
            </a:pPr>
            <a:r>
              <a:rPr sz="1100" b="1" spc="-25" dirty="0">
                <a:solidFill>
                  <a:srgbClr val="333333"/>
                </a:solidFill>
                <a:latin typeface="Tahoma"/>
                <a:cs typeface="Tahoma"/>
              </a:rPr>
              <a:t>Tech</a:t>
            </a:r>
            <a:r>
              <a:rPr sz="1100" b="1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100" b="1" spc="-35" dirty="0">
                <a:solidFill>
                  <a:srgbClr val="333333"/>
                </a:solidFill>
                <a:latin typeface="Tahoma"/>
                <a:cs typeface="Tahoma"/>
              </a:rPr>
              <a:t>Stack</a:t>
            </a:r>
            <a:r>
              <a:rPr sz="1100" b="1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100" b="1" dirty="0">
                <a:solidFill>
                  <a:srgbClr val="333333"/>
                </a:solidFill>
                <a:latin typeface="Tahoma"/>
                <a:cs typeface="Tahoma"/>
              </a:rPr>
              <a:t>&amp;</a:t>
            </a:r>
            <a:r>
              <a:rPr sz="1100" b="1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100" b="1" spc="-25" dirty="0">
                <a:solidFill>
                  <a:srgbClr val="333333"/>
                </a:solidFill>
                <a:latin typeface="Tahoma"/>
                <a:cs typeface="Tahoma"/>
              </a:rPr>
              <a:t>Why</a:t>
            </a:r>
            <a:endParaRPr sz="11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575"/>
              </a:spcBef>
              <a:tabLst>
                <a:tab pos="727710" algn="l"/>
              </a:tabLst>
            </a:pPr>
            <a:r>
              <a:rPr sz="800" b="1" spc="-10" dirty="0">
                <a:solidFill>
                  <a:srgbClr val="333333"/>
                </a:solidFill>
                <a:latin typeface="Tahoma"/>
                <a:cs typeface="Tahoma"/>
              </a:rPr>
              <a:t>Component</a:t>
            </a: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	</a:t>
            </a:r>
            <a:r>
              <a:rPr sz="800" b="1" spc="-35" dirty="0">
                <a:solidFill>
                  <a:srgbClr val="333333"/>
                </a:solidFill>
                <a:latin typeface="Tahoma"/>
                <a:cs typeface="Tahoma"/>
              </a:rPr>
              <a:t>Choice</a:t>
            </a:r>
            <a:r>
              <a:rPr sz="800" b="1" spc="4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&amp;</a:t>
            </a:r>
            <a:r>
              <a:rPr sz="800" b="1" spc="4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25" dirty="0">
                <a:solidFill>
                  <a:srgbClr val="333333"/>
                </a:solidFill>
                <a:latin typeface="Tahoma"/>
                <a:cs typeface="Tahoma"/>
              </a:rPr>
              <a:t>Why</a:t>
            </a:r>
            <a:endParaRPr sz="800">
              <a:latin typeface="Tahoma"/>
              <a:cs typeface="Tahoma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290398" y="923848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object 7"/>
          <p:cNvSpPr txBox="1"/>
          <p:nvPr/>
        </p:nvSpPr>
        <p:spPr>
          <a:xfrm>
            <a:off x="353618" y="937550"/>
            <a:ext cx="29210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35" dirty="0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endParaRPr sz="800">
              <a:latin typeface="Tahom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081443" y="937550"/>
            <a:ext cx="1754505" cy="26733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>
              <a:lnSpc>
                <a:spcPts val="950"/>
              </a:lnSpc>
              <a:spcBef>
                <a:spcPts val="135"/>
              </a:spcBef>
            </a:pP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GCP</a:t>
            </a:r>
            <a:r>
              <a:rPr sz="800" b="1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London</a:t>
            </a:r>
            <a:r>
              <a:rPr sz="800" spc="-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region,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50" dirty="0">
                <a:solidFill>
                  <a:srgbClr val="2D5A4A"/>
                </a:solidFill>
                <a:latin typeface="Microsoft Tai Le"/>
                <a:cs typeface="Microsoft Tai Le"/>
              </a:rPr>
              <a:t>$</a:t>
            </a:r>
            <a:r>
              <a:rPr sz="800" b="1" spc="-50" dirty="0">
                <a:solidFill>
                  <a:srgbClr val="2D5A4A"/>
                </a:solidFill>
                <a:latin typeface="Tahoma"/>
                <a:cs typeface="Tahoma"/>
              </a:rPr>
              <a:t>200K</a:t>
            </a:r>
            <a:r>
              <a:rPr sz="800" b="1" dirty="0">
                <a:solidFill>
                  <a:srgbClr val="2D5A4A"/>
                </a:solidFill>
                <a:latin typeface="Tahoma"/>
                <a:cs typeface="Tahoma"/>
              </a:rPr>
              <a:t> </a:t>
            </a:r>
            <a:r>
              <a:rPr sz="800" b="1" spc="-45" dirty="0">
                <a:solidFill>
                  <a:srgbClr val="2D5A4A"/>
                </a:solidFill>
                <a:latin typeface="Tahoma"/>
                <a:cs typeface="Tahoma"/>
              </a:rPr>
              <a:t>credits</a:t>
            </a:r>
            <a:r>
              <a:rPr sz="800" spc="-45" dirty="0">
                <a:solidFill>
                  <a:srgbClr val="333333"/>
                </a:solidFill>
                <a:latin typeface="Tahoma"/>
                <a:cs typeface="Tahoma"/>
              </a:rPr>
              <a:t>,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GDPR,</a:t>
            </a:r>
            <a:r>
              <a:rPr sz="800" spc="9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scales</a:t>
            </a:r>
            <a:r>
              <a:rPr sz="800" spc="10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to</a:t>
            </a:r>
            <a:r>
              <a:rPr sz="800" spc="10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zero</a:t>
            </a:r>
            <a:endParaRPr sz="800">
              <a:latin typeface="Tahoma"/>
              <a:cs typeface="Tahoma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90398" y="1235824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10"/>
          <p:cNvSpPr txBox="1"/>
          <p:nvPr/>
        </p:nvSpPr>
        <p:spPr>
          <a:xfrm>
            <a:off x="353618" y="1249538"/>
            <a:ext cx="4184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40" dirty="0">
                <a:solidFill>
                  <a:srgbClr val="333333"/>
                </a:solidFill>
                <a:latin typeface="Tahoma"/>
                <a:cs typeface="Tahoma"/>
              </a:rPr>
              <a:t>Backend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1081463" y="1249538"/>
            <a:ext cx="166306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35" dirty="0">
                <a:solidFill>
                  <a:srgbClr val="333333"/>
                </a:solidFill>
                <a:latin typeface="Tahoma"/>
                <a:cs typeface="Tahoma"/>
              </a:rPr>
              <a:t>Python</a:t>
            </a:r>
            <a:r>
              <a:rPr sz="800" b="1" spc="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+</a:t>
            </a:r>
            <a:r>
              <a:rPr sz="800" b="1" spc="5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REST</a:t>
            </a:r>
            <a:r>
              <a:rPr sz="800" b="1" spc="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API</a:t>
            </a:r>
            <a:r>
              <a:rPr sz="800" b="1" spc="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on</a:t>
            </a:r>
            <a:r>
              <a:rPr sz="800" spc="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sz="800" spc="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Run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2" name="object 12"/>
          <p:cNvSpPr/>
          <p:nvPr/>
        </p:nvSpPr>
        <p:spPr>
          <a:xfrm>
            <a:off x="290398" y="1427606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/>
          <p:nvPr/>
        </p:nvSpPr>
        <p:spPr>
          <a:xfrm>
            <a:off x="353618" y="1441309"/>
            <a:ext cx="4406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333333"/>
                </a:solidFill>
                <a:latin typeface="Tahoma"/>
                <a:cs typeface="Tahoma"/>
              </a:rPr>
              <a:t>Frontend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1081473" y="1441309"/>
            <a:ext cx="175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45" dirty="0">
                <a:solidFill>
                  <a:srgbClr val="333333"/>
                </a:solidFill>
                <a:latin typeface="Tahoma"/>
                <a:cs typeface="Tahoma"/>
              </a:rPr>
              <a:t>Next.js</a:t>
            </a:r>
            <a:r>
              <a:rPr sz="800" b="1" spc="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35" dirty="0">
                <a:solidFill>
                  <a:srgbClr val="333333"/>
                </a:solidFill>
                <a:latin typeface="Tahoma"/>
                <a:cs typeface="Tahoma"/>
              </a:rPr>
              <a:t>(React)</a:t>
            </a:r>
            <a:r>
              <a:rPr sz="800" b="1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SSR,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fast 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QR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loads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5" name="object 15"/>
          <p:cNvSpPr/>
          <p:nvPr/>
        </p:nvSpPr>
        <p:spPr>
          <a:xfrm>
            <a:off x="290398" y="1619389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6" name="object 16"/>
          <p:cNvSpPr txBox="1"/>
          <p:nvPr/>
        </p:nvSpPr>
        <p:spPr>
          <a:xfrm>
            <a:off x="353618" y="1633091"/>
            <a:ext cx="45783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45" dirty="0">
                <a:solidFill>
                  <a:srgbClr val="333333"/>
                </a:solidFill>
                <a:latin typeface="Tahoma"/>
                <a:cs typeface="Tahoma"/>
              </a:rPr>
              <a:t>Database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290398" y="1931365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/>
          <p:nvPr/>
        </p:nvSpPr>
        <p:spPr>
          <a:xfrm>
            <a:off x="1081372" y="1633091"/>
            <a:ext cx="1753870" cy="57912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 marR="5080" indent="-635">
              <a:lnSpc>
                <a:spcPts val="950"/>
              </a:lnSpc>
              <a:spcBef>
                <a:spcPts val="135"/>
              </a:spcBef>
            </a:pP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sz="800" b="1" spc="3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SQL</a:t>
            </a:r>
            <a:r>
              <a:rPr sz="800" b="1" spc="3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25" dirty="0">
                <a:solidFill>
                  <a:srgbClr val="333333"/>
                </a:solidFill>
                <a:latin typeface="Tahoma"/>
                <a:cs typeface="Tahoma"/>
              </a:rPr>
              <a:t>(PostgreSQL)</a:t>
            </a:r>
            <a:r>
              <a:rPr sz="800" b="1" spc="3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29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sub-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10ms</a:t>
            </a:r>
            <a:r>
              <a:rPr sz="800" spc="-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reads</a:t>
            </a:r>
            <a:endParaRPr sz="800">
              <a:latin typeface="Tahoma"/>
              <a:cs typeface="Tahoma"/>
            </a:endParaRPr>
          </a:p>
          <a:p>
            <a:pPr marL="12700" marR="5715" indent="-635">
              <a:lnSpc>
                <a:spcPts val="950"/>
              </a:lnSpc>
              <a:spcBef>
                <a:spcPts val="555"/>
              </a:spcBef>
            </a:pP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sz="800" b="1" spc="39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25" dirty="0">
                <a:solidFill>
                  <a:srgbClr val="333333"/>
                </a:solidFill>
                <a:latin typeface="Tahoma"/>
                <a:cs typeface="Tahoma"/>
              </a:rPr>
              <a:t>Storage</a:t>
            </a:r>
            <a:r>
              <a:rPr sz="800" b="1" spc="38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35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immutable</a:t>
            </a:r>
            <a:r>
              <a:rPr sz="800" spc="36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raw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backup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53618" y="1945079"/>
            <a:ext cx="37909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45" dirty="0">
                <a:solidFill>
                  <a:srgbClr val="333333"/>
                </a:solidFill>
                <a:latin typeface="Tahoma"/>
                <a:cs typeface="Tahoma"/>
              </a:rPr>
              <a:t>Storage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290398" y="2243340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object 21"/>
          <p:cNvSpPr txBox="1"/>
          <p:nvPr/>
        </p:nvSpPr>
        <p:spPr>
          <a:xfrm>
            <a:off x="353618" y="2257055"/>
            <a:ext cx="518159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333333"/>
                </a:solidFill>
                <a:latin typeface="Tahoma"/>
                <a:cs typeface="Tahoma"/>
              </a:rPr>
              <a:t>Processing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1081200" y="2257055"/>
            <a:ext cx="149860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30" dirty="0">
                <a:solidFill>
                  <a:srgbClr val="333333"/>
                </a:solidFill>
                <a:latin typeface="Tahoma"/>
                <a:cs typeface="Tahoma"/>
              </a:rPr>
              <a:t>Cloud</a:t>
            </a:r>
            <a:r>
              <a:rPr sz="800" b="1" spc="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45" dirty="0">
                <a:solidFill>
                  <a:srgbClr val="333333"/>
                </a:solidFill>
                <a:latin typeface="Tahoma"/>
                <a:cs typeface="Tahoma"/>
              </a:rPr>
              <a:t>Functions</a:t>
            </a:r>
            <a:r>
              <a:rPr sz="800" b="1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5" dirty="0">
                <a:solidFill>
                  <a:srgbClr val="333333"/>
                </a:solidFill>
                <a:latin typeface="Tahoma"/>
                <a:cs typeface="Tahoma"/>
              </a:rPr>
              <a:t>event-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driven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290398" y="2435123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4" name="object 24"/>
          <p:cNvSpPr txBox="1"/>
          <p:nvPr/>
        </p:nvSpPr>
        <p:spPr>
          <a:xfrm>
            <a:off x="353618" y="2448838"/>
            <a:ext cx="183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45" dirty="0">
                <a:solidFill>
                  <a:srgbClr val="333333"/>
                </a:solidFill>
                <a:latin typeface="Tahoma"/>
                <a:cs typeface="Tahoma"/>
              </a:rPr>
              <a:t>IaC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1081331" y="2448838"/>
            <a:ext cx="13620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50" dirty="0">
                <a:solidFill>
                  <a:srgbClr val="333333"/>
                </a:solidFill>
                <a:latin typeface="Tahoma"/>
                <a:cs typeface="Tahoma"/>
              </a:rPr>
              <a:t>Terraform</a:t>
            </a:r>
            <a:r>
              <a:rPr sz="800" b="1" spc="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repeatable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infra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6" name="object 26"/>
          <p:cNvSpPr/>
          <p:nvPr/>
        </p:nvSpPr>
        <p:spPr>
          <a:xfrm>
            <a:off x="290398" y="2626906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7" name="object 27"/>
          <p:cNvSpPr txBox="1"/>
          <p:nvPr/>
        </p:nvSpPr>
        <p:spPr>
          <a:xfrm>
            <a:off x="353618" y="2640608"/>
            <a:ext cx="3378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10" dirty="0">
                <a:solidFill>
                  <a:srgbClr val="333333"/>
                </a:solidFill>
                <a:latin typeface="Tahoma"/>
                <a:cs typeface="Tahoma"/>
              </a:rPr>
              <a:t>CI/CD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8" name="object 28"/>
          <p:cNvSpPr txBox="1"/>
          <p:nvPr/>
        </p:nvSpPr>
        <p:spPr>
          <a:xfrm>
            <a:off x="1081645" y="2640608"/>
            <a:ext cx="144335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b="1" spc="-20" dirty="0">
                <a:solidFill>
                  <a:srgbClr val="333333"/>
                </a:solidFill>
                <a:latin typeface="Tahoma"/>
                <a:cs typeface="Tahoma"/>
              </a:rPr>
              <a:t>GitHub</a:t>
            </a:r>
            <a:r>
              <a:rPr sz="800" b="1" spc="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30" dirty="0">
                <a:solidFill>
                  <a:srgbClr val="333333"/>
                </a:solidFill>
                <a:latin typeface="Tahoma"/>
                <a:cs typeface="Tahoma"/>
              </a:rPr>
              <a:t>Actions</a:t>
            </a:r>
            <a:r>
              <a:rPr sz="800" b="1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auto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deploy</a:t>
            </a:r>
            <a:endParaRPr sz="800">
              <a:latin typeface="Tahoma"/>
              <a:cs typeface="Tahoma"/>
            </a:endParaRPr>
          </a:p>
        </p:txBody>
      </p:sp>
      <p:sp>
        <p:nvSpPr>
          <p:cNvPr id="29" name="object 29"/>
          <p:cNvSpPr/>
          <p:nvPr/>
        </p:nvSpPr>
        <p:spPr>
          <a:xfrm>
            <a:off x="290398" y="2818688"/>
            <a:ext cx="2607945" cy="0"/>
          </a:xfrm>
          <a:custGeom>
            <a:avLst/>
            <a:gdLst/>
            <a:ahLst/>
            <a:cxnLst/>
            <a:rect l="l" t="t" r="r" b="b"/>
            <a:pathLst>
              <a:path w="2607945">
                <a:moveTo>
                  <a:pt x="0" y="0"/>
                </a:moveTo>
                <a:lnTo>
                  <a:pt x="2607665" y="0"/>
                </a:lnTo>
              </a:path>
            </a:pathLst>
          </a:custGeom>
          <a:ln w="6921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pSp>
        <p:nvGrpSpPr>
          <p:cNvPr id="30" name="object 30"/>
          <p:cNvGrpSpPr/>
          <p:nvPr/>
        </p:nvGrpSpPr>
        <p:grpSpPr>
          <a:xfrm>
            <a:off x="0" y="3006998"/>
            <a:ext cx="5760085" cy="233045"/>
            <a:chOff x="0" y="3006998"/>
            <a:chExt cx="5760085" cy="233045"/>
          </a:xfrm>
        </p:grpSpPr>
        <p:sp>
          <p:nvSpPr>
            <p:cNvPr id="31" name="object 31"/>
            <p:cNvSpPr/>
            <p:nvPr/>
          </p:nvSpPr>
          <p:spPr>
            <a:xfrm>
              <a:off x="290398" y="3012541"/>
              <a:ext cx="2607945" cy="0"/>
            </a:xfrm>
            <a:custGeom>
              <a:avLst/>
              <a:gdLst/>
              <a:ahLst/>
              <a:cxnLst/>
              <a:rect l="l" t="t" r="r" b="b"/>
              <a:pathLst>
                <a:path w="2607945">
                  <a:moveTo>
                    <a:pt x="0" y="0"/>
                  </a:moveTo>
                  <a:lnTo>
                    <a:pt x="2607665" y="0"/>
                  </a:lnTo>
                </a:path>
              </a:pathLst>
            </a:custGeom>
            <a:ln w="11087">
              <a:solidFill>
                <a:srgbClr val="333333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0" y="3060001"/>
              <a:ext cx="5760085" cy="180340"/>
            </a:xfrm>
            <a:custGeom>
              <a:avLst/>
              <a:gdLst/>
              <a:ahLst/>
              <a:cxnLst/>
              <a:rect l="l" t="t" r="r" b="b"/>
              <a:pathLst>
                <a:path w="5760085" h="180339">
                  <a:moveTo>
                    <a:pt x="5759996" y="0"/>
                  </a:moveTo>
                  <a:lnTo>
                    <a:pt x="0" y="0"/>
                  </a:lnTo>
                  <a:lnTo>
                    <a:pt x="0" y="179997"/>
                  </a:lnTo>
                  <a:lnTo>
                    <a:pt x="5759996" y="179997"/>
                  </a:lnTo>
                  <a:lnTo>
                    <a:pt x="5759996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33" name="object 33"/>
          <p:cNvGrpSpPr/>
          <p:nvPr/>
        </p:nvGrpSpPr>
        <p:grpSpPr>
          <a:xfrm>
            <a:off x="3349637" y="533247"/>
            <a:ext cx="1875789" cy="487680"/>
            <a:chOff x="3349637" y="533247"/>
            <a:chExt cx="1875789" cy="487680"/>
          </a:xfrm>
        </p:grpSpPr>
        <p:pic>
          <p:nvPicPr>
            <p:cNvPr id="34" name="object 3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349637" y="533247"/>
              <a:ext cx="142875" cy="142875"/>
            </a:xfrm>
            <a:prstGeom prst="rect">
              <a:avLst/>
            </a:prstGeom>
          </p:spPr>
        </p:pic>
        <p:sp>
          <p:nvSpPr>
            <p:cNvPr id="35" name="object 35"/>
            <p:cNvSpPr/>
            <p:nvPr/>
          </p:nvSpPr>
          <p:spPr>
            <a:xfrm>
              <a:off x="3352804" y="714751"/>
              <a:ext cx="1872614" cy="306070"/>
            </a:xfrm>
            <a:custGeom>
              <a:avLst/>
              <a:gdLst/>
              <a:ahLst/>
              <a:cxnLst/>
              <a:rect l="l" t="t" r="r" b="b"/>
              <a:pathLst>
                <a:path w="1872614" h="306069">
                  <a:moveTo>
                    <a:pt x="1821411" y="0"/>
                  </a:moveTo>
                  <a:lnTo>
                    <a:pt x="50610" y="0"/>
                  </a:lnTo>
                  <a:lnTo>
                    <a:pt x="30910" y="3977"/>
                  </a:lnTo>
                  <a:lnTo>
                    <a:pt x="14823" y="14823"/>
                  </a:lnTo>
                  <a:lnTo>
                    <a:pt x="3977" y="30910"/>
                  </a:lnTo>
                  <a:lnTo>
                    <a:pt x="0" y="50610"/>
                  </a:lnTo>
                  <a:lnTo>
                    <a:pt x="0" y="255395"/>
                  </a:lnTo>
                  <a:lnTo>
                    <a:pt x="3977" y="275095"/>
                  </a:lnTo>
                  <a:lnTo>
                    <a:pt x="14823" y="291182"/>
                  </a:lnTo>
                  <a:lnTo>
                    <a:pt x="30910" y="302028"/>
                  </a:lnTo>
                  <a:lnTo>
                    <a:pt x="50610" y="306005"/>
                  </a:lnTo>
                  <a:lnTo>
                    <a:pt x="1821411" y="306005"/>
                  </a:lnTo>
                  <a:lnTo>
                    <a:pt x="1841111" y="302028"/>
                  </a:lnTo>
                  <a:lnTo>
                    <a:pt x="1857199" y="291182"/>
                  </a:lnTo>
                  <a:lnTo>
                    <a:pt x="1868045" y="275095"/>
                  </a:lnTo>
                  <a:lnTo>
                    <a:pt x="1872022" y="255395"/>
                  </a:lnTo>
                  <a:lnTo>
                    <a:pt x="1872022" y="50610"/>
                  </a:lnTo>
                  <a:lnTo>
                    <a:pt x="1868045" y="30910"/>
                  </a:lnTo>
                  <a:lnTo>
                    <a:pt x="1857199" y="14823"/>
                  </a:lnTo>
                  <a:lnTo>
                    <a:pt x="1841111" y="3977"/>
                  </a:lnTo>
                  <a:lnTo>
                    <a:pt x="1821411" y="0"/>
                  </a:lnTo>
                  <a:close/>
                </a:path>
              </a:pathLst>
            </a:custGeom>
            <a:solidFill>
              <a:srgbClr val="A6501E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6" name="object 36"/>
          <p:cNvSpPr txBox="1"/>
          <p:nvPr/>
        </p:nvSpPr>
        <p:spPr>
          <a:xfrm>
            <a:off x="3529504" y="441073"/>
            <a:ext cx="1477645" cy="540385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600"/>
              </a:spcBef>
            </a:pPr>
            <a:r>
              <a:rPr sz="1100" b="1" spc="-50" dirty="0">
                <a:solidFill>
                  <a:srgbClr val="333333"/>
                </a:solidFill>
                <a:latin typeface="Tahoma"/>
                <a:cs typeface="Tahoma"/>
              </a:rPr>
              <a:t>Medallion</a:t>
            </a:r>
            <a:r>
              <a:rPr sz="1100" b="1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100" b="1" spc="-45" dirty="0">
                <a:solidFill>
                  <a:srgbClr val="333333"/>
                </a:solidFill>
                <a:latin typeface="Tahoma"/>
                <a:cs typeface="Tahoma"/>
              </a:rPr>
              <a:t>Architecture</a:t>
            </a:r>
            <a:endParaRPr sz="1100">
              <a:latin typeface="Tahoma"/>
              <a:cs typeface="Tahoma"/>
            </a:endParaRPr>
          </a:p>
          <a:p>
            <a:pPr marL="41275" algn="ctr">
              <a:lnSpc>
                <a:spcPct val="100000"/>
              </a:lnSpc>
              <a:spcBef>
                <a:spcPts val="365"/>
              </a:spcBef>
            </a:pPr>
            <a:r>
              <a:rPr sz="800" b="1" spc="-35" dirty="0">
                <a:solidFill>
                  <a:srgbClr val="FFFFFF"/>
                </a:solidFill>
                <a:latin typeface="Tahoma"/>
                <a:cs typeface="Tahoma"/>
              </a:rPr>
              <a:t>Bronze</a:t>
            </a:r>
            <a:r>
              <a:rPr sz="800" b="1" spc="-2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800" b="1" spc="-10" dirty="0">
                <a:solidFill>
                  <a:srgbClr val="FFFFFF"/>
                </a:solidFill>
                <a:latin typeface="Tahoma"/>
                <a:cs typeface="Tahoma"/>
              </a:rPr>
              <a:t>Layer</a:t>
            </a:r>
            <a:endParaRPr sz="800">
              <a:latin typeface="Tahoma"/>
              <a:cs typeface="Tahoma"/>
            </a:endParaRPr>
          </a:p>
          <a:p>
            <a:pPr marL="41275" algn="ctr">
              <a:lnSpc>
                <a:spcPct val="100000"/>
              </a:lnSpc>
              <a:spcBef>
                <a:spcPts val="190"/>
              </a:spcBef>
            </a:pPr>
            <a:r>
              <a:rPr sz="600" b="1" spc="-55" dirty="0">
                <a:solidFill>
                  <a:srgbClr val="FFFFFF"/>
                </a:solidFill>
                <a:latin typeface="Tahoma"/>
                <a:cs typeface="Tahoma"/>
              </a:rPr>
              <a:t>Raw</a:t>
            </a:r>
            <a:r>
              <a:rPr sz="600" b="1" spc="1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600" b="1" dirty="0">
                <a:solidFill>
                  <a:srgbClr val="FFFFFF"/>
                </a:solidFill>
                <a:latin typeface="Tahoma"/>
                <a:cs typeface="Tahoma"/>
              </a:rPr>
              <a:t>CSV/JSON</a:t>
            </a:r>
            <a:r>
              <a:rPr sz="600" b="1" spc="2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Tahoma"/>
                <a:cs typeface="Tahoma"/>
              </a:rPr>
              <a:t>in</a:t>
            </a:r>
            <a:r>
              <a:rPr sz="600" b="1" spc="2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600" b="1" spc="-25" dirty="0">
                <a:solidFill>
                  <a:srgbClr val="FFFFFF"/>
                </a:solidFill>
                <a:latin typeface="Tahoma"/>
                <a:cs typeface="Tahoma"/>
              </a:rPr>
              <a:t>Cloud</a:t>
            </a:r>
            <a:r>
              <a:rPr sz="600" b="1" spc="2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Tahoma"/>
                <a:cs typeface="Tahoma"/>
              </a:rPr>
              <a:t>Storage</a:t>
            </a:r>
            <a:endParaRPr sz="600">
              <a:latin typeface="Tahoma"/>
              <a:cs typeface="Tahoma"/>
            </a:endParaRPr>
          </a:p>
        </p:txBody>
      </p:sp>
      <p:sp>
        <p:nvSpPr>
          <p:cNvPr id="37" name="object 37"/>
          <p:cNvSpPr/>
          <p:nvPr/>
        </p:nvSpPr>
        <p:spPr>
          <a:xfrm>
            <a:off x="3352803" y="1110753"/>
            <a:ext cx="1872614" cy="306070"/>
          </a:xfrm>
          <a:custGeom>
            <a:avLst/>
            <a:gdLst/>
            <a:ahLst/>
            <a:cxnLst/>
            <a:rect l="l" t="t" r="r" b="b"/>
            <a:pathLst>
              <a:path w="1872614" h="306069">
                <a:moveTo>
                  <a:pt x="1821411" y="0"/>
                </a:moveTo>
                <a:lnTo>
                  <a:pt x="50610" y="0"/>
                </a:lnTo>
                <a:lnTo>
                  <a:pt x="30910" y="3977"/>
                </a:lnTo>
                <a:lnTo>
                  <a:pt x="14823" y="14823"/>
                </a:lnTo>
                <a:lnTo>
                  <a:pt x="3977" y="30910"/>
                </a:lnTo>
                <a:lnTo>
                  <a:pt x="0" y="50610"/>
                </a:lnTo>
                <a:lnTo>
                  <a:pt x="0" y="255395"/>
                </a:lnTo>
                <a:lnTo>
                  <a:pt x="3977" y="275095"/>
                </a:lnTo>
                <a:lnTo>
                  <a:pt x="14823" y="291182"/>
                </a:lnTo>
                <a:lnTo>
                  <a:pt x="30910" y="302028"/>
                </a:lnTo>
                <a:lnTo>
                  <a:pt x="50610" y="306005"/>
                </a:lnTo>
                <a:lnTo>
                  <a:pt x="1821411" y="306005"/>
                </a:lnTo>
                <a:lnTo>
                  <a:pt x="1841111" y="302028"/>
                </a:lnTo>
                <a:lnTo>
                  <a:pt x="1857199" y="291182"/>
                </a:lnTo>
                <a:lnTo>
                  <a:pt x="1868045" y="275095"/>
                </a:lnTo>
                <a:lnTo>
                  <a:pt x="1872022" y="255395"/>
                </a:lnTo>
                <a:lnTo>
                  <a:pt x="1872022" y="50610"/>
                </a:lnTo>
                <a:lnTo>
                  <a:pt x="1868045" y="30910"/>
                </a:lnTo>
                <a:lnTo>
                  <a:pt x="1857199" y="14823"/>
                </a:lnTo>
                <a:lnTo>
                  <a:pt x="1841111" y="3977"/>
                </a:lnTo>
                <a:lnTo>
                  <a:pt x="1821411" y="0"/>
                </a:lnTo>
                <a:close/>
              </a:path>
            </a:pathLst>
          </a:custGeom>
          <a:solidFill>
            <a:srgbClr val="1465B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8" name="object 38"/>
          <p:cNvSpPr txBox="1"/>
          <p:nvPr/>
        </p:nvSpPr>
        <p:spPr>
          <a:xfrm>
            <a:off x="3822319" y="1085435"/>
            <a:ext cx="933450" cy="29464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50"/>
              </a:spcBef>
            </a:pPr>
            <a:r>
              <a:rPr sz="800" b="1" spc="-40" dirty="0">
                <a:solidFill>
                  <a:srgbClr val="FFFFFF"/>
                </a:solidFill>
                <a:latin typeface="Tahoma"/>
                <a:cs typeface="Tahoma"/>
              </a:rPr>
              <a:t>Silver</a:t>
            </a:r>
            <a:r>
              <a:rPr sz="800" b="1" spc="-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800" b="1" spc="-10" dirty="0">
                <a:solidFill>
                  <a:srgbClr val="FFFFFF"/>
                </a:solidFill>
                <a:latin typeface="Tahoma"/>
                <a:cs typeface="Tahoma"/>
              </a:rPr>
              <a:t>Layer</a:t>
            </a:r>
            <a:endParaRPr sz="8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85"/>
              </a:spcBef>
            </a:pPr>
            <a:r>
              <a:rPr sz="600" b="1" spc="-25" dirty="0">
                <a:solidFill>
                  <a:srgbClr val="FFFFFF"/>
                </a:solidFill>
                <a:latin typeface="Tahoma"/>
                <a:cs typeface="Tahoma"/>
              </a:rPr>
              <a:t>Clean</a:t>
            </a:r>
            <a:r>
              <a:rPr sz="600" b="1" spc="-1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600" b="1" spc="-25" dirty="0">
                <a:solidFill>
                  <a:srgbClr val="FFFFFF"/>
                </a:solidFill>
                <a:latin typeface="Tahoma"/>
                <a:cs typeface="Tahoma"/>
              </a:rPr>
              <a:t>data</a:t>
            </a:r>
            <a:r>
              <a:rPr sz="600" b="1" spc="-10" dirty="0">
                <a:solidFill>
                  <a:srgbClr val="FFFFFF"/>
                </a:solidFill>
                <a:latin typeface="Tahoma"/>
                <a:cs typeface="Tahoma"/>
              </a:rPr>
              <a:t> in PostgreSQL</a:t>
            </a:r>
            <a:endParaRPr sz="600">
              <a:latin typeface="Tahoma"/>
              <a:cs typeface="Tahoma"/>
            </a:endParaRPr>
          </a:p>
        </p:txBody>
      </p:sp>
      <p:sp>
        <p:nvSpPr>
          <p:cNvPr id="39" name="object 39"/>
          <p:cNvSpPr/>
          <p:nvPr/>
        </p:nvSpPr>
        <p:spPr>
          <a:xfrm>
            <a:off x="3352803" y="1506760"/>
            <a:ext cx="1872614" cy="306070"/>
          </a:xfrm>
          <a:custGeom>
            <a:avLst/>
            <a:gdLst/>
            <a:ahLst/>
            <a:cxnLst/>
            <a:rect l="l" t="t" r="r" b="b"/>
            <a:pathLst>
              <a:path w="1872614" h="306069">
                <a:moveTo>
                  <a:pt x="1821411" y="0"/>
                </a:moveTo>
                <a:lnTo>
                  <a:pt x="50610" y="0"/>
                </a:lnTo>
                <a:lnTo>
                  <a:pt x="30910" y="3977"/>
                </a:lnTo>
                <a:lnTo>
                  <a:pt x="14823" y="14823"/>
                </a:lnTo>
                <a:lnTo>
                  <a:pt x="3977" y="30910"/>
                </a:lnTo>
                <a:lnTo>
                  <a:pt x="0" y="50610"/>
                </a:lnTo>
                <a:lnTo>
                  <a:pt x="0" y="255394"/>
                </a:lnTo>
                <a:lnTo>
                  <a:pt x="3977" y="275095"/>
                </a:lnTo>
                <a:lnTo>
                  <a:pt x="14823" y="291182"/>
                </a:lnTo>
                <a:lnTo>
                  <a:pt x="30910" y="302028"/>
                </a:lnTo>
                <a:lnTo>
                  <a:pt x="50610" y="306005"/>
                </a:lnTo>
                <a:lnTo>
                  <a:pt x="1821411" y="306005"/>
                </a:lnTo>
                <a:lnTo>
                  <a:pt x="1841111" y="302028"/>
                </a:lnTo>
                <a:lnTo>
                  <a:pt x="1857199" y="291182"/>
                </a:lnTo>
                <a:lnTo>
                  <a:pt x="1868045" y="275095"/>
                </a:lnTo>
                <a:lnTo>
                  <a:pt x="1872022" y="255394"/>
                </a:lnTo>
                <a:lnTo>
                  <a:pt x="1872022" y="50610"/>
                </a:lnTo>
                <a:lnTo>
                  <a:pt x="1868045" y="30910"/>
                </a:lnTo>
                <a:lnTo>
                  <a:pt x="1857199" y="14823"/>
                </a:lnTo>
                <a:lnTo>
                  <a:pt x="1841111" y="3977"/>
                </a:lnTo>
                <a:lnTo>
                  <a:pt x="1821411" y="0"/>
                </a:lnTo>
                <a:close/>
              </a:path>
            </a:pathLst>
          </a:custGeom>
          <a:solidFill>
            <a:srgbClr val="C5862D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0" name="object 40"/>
          <p:cNvSpPr txBox="1"/>
          <p:nvPr/>
        </p:nvSpPr>
        <p:spPr>
          <a:xfrm>
            <a:off x="3730332" y="1479356"/>
            <a:ext cx="1117600" cy="294640"/>
          </a:xfrm>
          <a:prstGeom prst="rect">
            <a:avLst/>
          </a:prstGeom>
        </p:spPr>
        <p:txBody>
          <a:bodyPr vert="horz" wrap="square" lIns="0" tIns="4445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350"/>
              </a:spcBef>
            </a:pPr>
            <a:r>
              <a:rPr sz="800" b="1" spc="-25" dirty="0">
                <a:solidFill>
                  <a:srgbClr val="FFFFFF"/>
                </a:solidFill>
                <a:latin typeface="Tahoma"/>
                <a:cs typeface="Tahoma"/>
              </a:rPr>
              <a:t>Gold</a:t>
            </a:r>
            <a:r>
              <a:rPr sz="800" b="1" spc="-1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800" b="1" spc="-10" dirty="0">
                <a:solidFill>
                  <a:srgbClr val="FFFFFF"/>
                </a:solidFill>
                <a:latin typeface="Tahoma"/>
                <a:cs typeface="Tahoma"/>
              </a:rPr>
              <a:t>Layer</a:t>
            </a:r>
            <a:endParaRPr sz="8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185"/>
              </a:spcBef>
            </a:pPr>
            <a:r>
              <a:rPr sz="600" b="1" dirty="0">
                <a:solidFill>
                  <a:srgbClr val="FFFFFF"/>
                </a:solidFill>
                <a:latin typeface="Tahoma"/>
                <a:cs typeface="Tahoma"/>
              </a:rPr>
              <a:t>QR</a:t>
            </a:r>
            <a:r>
              <a:rPr sz="600" b="1" spc="3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600" b="1" spc="-40" dirty="0">
                <a:solidFill>
                  <a:srgbClr val="FFFFFF"/>
                </a:solidFill>
                <a:latin typeface="Tahoma"/>
                <a:cs typeface="Tahoma"/>
              </a:rPr>
              <a:t>Pages</a:t>
            </a:r>
            <a:r>
              <a:rPr sz="600" b="1" spc="3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600" b="1" dirty="0">
                <a:solidFill>
                  <a:srgbClr val="FFFFFF"/>
                </a:solidFill>
                <a:latin typeface="Tahoma"/>
                <a:cs typeface="Tahoma"/>
              </a:rPr>
              <a:t>+</a:t>
            </a:r>
            <a:r>
              <a:rPr sz="600" b="1" spc="3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600" b="1" spc="-30" dirty="0">
                <a:solidFill>
                  <a:srgbClr val="FFFFFF"/>
                </a:solidFill>
                <a:latin typeface="Tahoma"/>
                <a:cs typeface="Tahoma"/>
              </a:rPr>
              <a:t>BigQuery</a:t>
            </a:r>
            <a:r>
              <a:rPr sz="600" b="1" spc="3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600" b="1" spc="-10" dirty="0">
                <a:solidFill>
                  <a:srgbClr val="FFFFFF"/>
                </a:solidFill>
                <a:latin typeface="Tahoma"/>
                <a:cs typeface="Tahoma"/>
              </a:rPr>
              <a:t>(future)</a:t>
            </a:r>
            <a:endParaRPr sz="600">
              <a:latin typeface="Tahoma"/>
              <a:cs typeface="Tahoma"/>
            </a:endParaRPr>
          </a:p>
        </p:txBody>
      </p:sp>
      <p:grpSp>
        <p:nvGrpSpPr>
          <p:cNvPr id="41" name="object 41"/>
          <p:cNvGrpSpPr/>
          <p:nvPr/>
        </p:nvGrpSpPr>
        <p:grpSpPr>
          <a:xfrm>
            <a:off x="4258449" y="1023287"/>
            <a:ext cx="60960" cy="481330"/>
            <a:chOff x="4258449" y="1023287"/>
            <a:chExt cx="60960" cy="481330"/>
          </a:xfrm>
        </p:grpSpPr>
        <p:sp>
          <p:nvSpPr>
            <p:cNvPr id="42" name="object 42"/>
            <p:cNvSpPr/>
            <p:nvPr/>
          </p:nvSpPr>
          <p:spPr>
            <a:xfrm>
              <a:off x="4288815" y="1023287"/>
              <a:ext cx="0" cy="76200"/>
            </a:xfrm>
            <a:custGeom>
              <a:avLst/>
              <a:gdLst/>
              <a:ahLst/>
              <a:cxnLst/>
              <a:rect l="l" t="t" r="r" b="b"/>
              <a:pathLst>
                <a:path h="76200">
                  <a:moveTo>
                    <a:pt x="0" y="0"/>
                  </a:moveTo>
                  <a:lnTo>
                    <a:pt x="0" y="75951"/>
                  </a:lnTo>
                </a:path>
              </a:pathLst>
            </a:custGeom>
            <a:ln w="10122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3" name="object 43"/>
            <p:cNvSpPr/>
            <p:nvPr/>
          </p:nvSpPr>
          <p:spPr>
            <a:xfrm>
              <a:off x="4262498" y="1079501"/>
              <a:ext cx="52705" cy="24765"/>
            </a:xfrm>
            <a:custGeom>
              <a:avLst/>
              <a:gdLst/>
              <a:ahLst/>
              <a:cxnLst/>
              <a:rect l="l" t="t" r="r" b="b"/>
              <a:pathLst>
                <a:path w="52704" h="24765">
                  <a:moveTo>
                    <a:pt x="52633" y="0"/>
                  </a:moveTo>
                  <a:lnTo>
                    <a:pt x="44589" y="3855"/>
                  </a:lnTo>
                  <a:lnTo>
                    <a:pt x="36391" y="11102"/>
                  </a:lnTo>
                  <a:lnTo>
                    <a:pt x="29734" y="18966"/>
                  </a:lnTo>
                  <a:lnTo>
                    <a:pt x="26316" y="24671"/>
                  </a:lnTo>
                  <a:lnTo>
                    <a:pt x="22898" y="18966"/>
                  </a:lnTo>
                  <a:lnTo>
                    <a:pt x="16242" y="11102"/>
                  </a:lnTo>
                  <a:lnTo>
                    <a:pt x="8044" y="3855"/>
                  </a:lnTo>
                  <a:lnTo>
                    <a:pt x="0" y="0"/>
                  </a:lnTo>
                </a:path>
              </a:pathLst>
            </a:custGeom>
            <a:ln w="8097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4288815" y="1419289"/>
              <a:ext cx="0" cy="76200"/>
            </a:xfrm>
            <a:custGeom>
              <a:avLst/>
              <a:gdLst/>
              <a:ahLst/>
              <a:cxnLst/>
              <a:rect l="l" t="t" r="r" b="b"/>
              <a:pathLst>
                <a:path h="76200">
                  <a:moveTo>
                    <a:pt x="0" y="0"/>
                  </a:moveTo>
                  <a:lnTo>
                    <a:pt x="0" y="75956"/>
                  </a:lnTo>
                </a:path>
              </a:pathLst>
            </a:custGeom>
            <a:ln w="10122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4262498" y="1475508"/>
              <a:ext cx="52705" cy="24765"/>
            </a:xfrm>
            <a:custGeom>
              <a:avLst/>
              <a:gdLst/>
              <a:ahLst/>
              <a:cxnLst/>
              <a:rect l="l" t="t" r="r" b="b"/>
              <a:pathLst>
                <a:path w="52704" h="24765">
                  <a:moveTo>
                    <a:pt x="52633" y="0"/>
                  </a:moveTo>
                  <a:lnTo>
                    <a:pt x="44589" y="3855"/>
                  </a:lnTo>
                  <a:lnTo>
                    <a:pt x="36391" y="11102"/>
                  </a:lnTo>
                  <a:lnTo>
                    <a:pt x="29734" y="18966"/>
                  </a:lnTo>
                  <a:lnTo>
                    <a:pt x="26316" y="24671"/>
                  </a:lnTo>
                  <a:lnTo>
                    <a:pt x="22898" y="18966"/>
                  </a:lnTo>
                  <a:lnTo>
                    <a:pt x="16242" y="11102"/>
                  </a:lnTo>
                  <a:lnTo>
                    <a:pt x="8044" y="3855"/>
                  </a:lnTo>
                  <a:lnTo>
                    <a:pt x="0" y="0"/>
                  </a:lnTo>
                </a:path>
              </a:pathLst>
            </a:custGeom>
            <a:ln w="8097">
              <a:solidFill>
                <a:srgbClr val="7F7F7F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46" name="object 4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49637" y="1916429"/>
            <a:ext cx="177800" cy="142875"/>
          </a:xfrm>
          <a:prstGeom prst="rect">
            <a:avLst/>
          </a:prstGeom>
        </p:spPr>
      </p:pic>
      <p:sp>
        <p:nvSpPr>
          <p:cNvPr id="47" name="object 47"/>
          <p:cNvSpPr/>
          <p:nvPr/>
        </p:nvSpPr>
        <p:spPr>
          <a:xfrm>
            <a:off x="3558501" y="2255723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8" name="object 48"/>
          <p:cNvSpPr/>
          <p:nvPr/>
        </p:nvSpPr>
        <p:spPr>
          <a:xfrm>
            <a:off x="3995407" y="2477934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9" name="object 49"/>
          <p:cNvSpPr/>
          <p:nvPr/>
        </p:nvSpPr>
        <p:spPr>
          <a:xfrm>
            <a:off x="3625710" y="2547518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0" name="object 50"/>
          <p:cNvSpPr/>
          <p:nvPr/>
        </p:nvSpPr>
        <p:spPr>
          <a:xfrm>
            <a:off x="3625710" y="2617101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1" name="object 51"/>
          <p:cNvSpPr/>
          <p:nvPr/>
        </p:nvSpPr>
        <p:spPr>
          <a:xfrm>
            <a:off x="3659327" y="2686697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2" name="object 52"/>
          <p:cNvSpPr/>
          <p:nvPr/>
        </p:nvSpPr>
        <p:spPr>
          <a:xfrm>
            <a:off x="4062628" y="2769730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3" name="object 53"/>
          <p:cNvSpPr/>
          <p:nvPr/>
        </p:nvSpPr>
        <p:spPr>
          <a:xfrm>
            <a:off x="4096232" y="2839313"/>
            <a:ext cx="20320" cy="0"/>
          </a:xfrm>
          <a:custGeom>
            <a:avLst/>
            <a:gdLst/>
            <a:ahLst/>
            <a:cxnLst/>
            <a:rect l="l" t="t" r="r" b="b"/>
            <a:pathLst>
              <a:path w="20320">
                <a:moveTo>
                  <a:pt x="0" y="0"/>
                </a:moveTo>
                <a:lnTo>
                  <a:pt x="20167" y="0"/>
                </a:lnTo>
              </a:path>
            </a:pathLst>
          </a:custGeom>
          <a:ln w="5054">
            <a:solidFill>
              <a:srgbClr val="333333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4" name="object 54"/>
          <p:cNvSpPr txBox="1"/>
          <p:nvPr/>
        </p:nvSpPr>
        <p:spPr>
          <a:xfrm>
            <a:off x="3340112" y="1889009"/>
            <a:ext cx="1887220" cy="9785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236220">
              <a:lnSpc>
                <a:spcPts val="1270"/>
              </a:lnSpc>
              <a:spcBef>
                <a:spcPts val="90"/>
              </a:spcBef>
            </a:pPr>
            <a:r>
              <a:rPr sz="1100" b="1" spc="-40" dirty="0">
                <a:solidFill>
                  <a:srgbClr val="333333"/>
                </a:solidFill>
                <a:latin typeface="Tahoma"/>
                <a:cs typeface="Tahoma"/>
              </a:rPr>
              <a:t>Bonus:</a:t>
            </a:r>
            <a:r>
              <a:rPr sz="1100" b="1" spc="7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100" b="1" spc="-60" dirty="0">
                <a:solidFill>
                  <a:srgbClr val="333333"/>
                </a:solidFill>
                <a:latin typeface="Tahoma"/>
                <a:cs typeface="Tahoma"/>
              </a:rPr>
              <a:t>Database</a:t>
            </a:r>
            <a:r>
              <a:rPr sz="1100" b="1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1100" b="1" spc="-65" dirty="0">
                <a:solidFill>
                  <a:srgbClr val="333333"/>
                </a:solidFill>
                <a:latin typeface="Tahoma"/>
                <a:cs typeface="Tahoma"/>
              </a:rPr>
              <a:t>Schema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ts val="525"/>
              </a:lnSpc>
            </a:pPr>
            <a:r>
              <a:rPr sz="500" dirty="0">
                <a:solidFill>
                  <a:srgbClr val="2D5A4A"/>
                </a:solidFill>
                <a:latin typeface="Calibri"/>
                <a:cs typeface="Calibri"/>
              </a:rPr>
              <a:t>CREATE</a:t>
            </a:r>
            <a:r>
              <a:rPr sz="500" spc="250" dirty="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2D5A4A"/>
                </a:solidFill>
                <a:latin typeface="Calibri"/>
                <a:cs typeface="Calibri"/>
              </a:rPr>
              <a:t>TABLE</a:t>
            </a:r>
            <a:r>
              <a:rPr sz="500" spc="250" dirty="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farmers</a:t>
            </a:r>
            <a:r>
              <a:rPr sz="500" spc="25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60" dirty="0">
                <a:solidFill>
                  <a:srgbClr val="333333"/>
                </a:solidFill>
                <a:latin typeface="Calibri"/>
                <a:cs typeface="Calibri"/>
              </a:rPr>
              <a:t>(</a:t>
            </a:r>
            <a:endParaRPr sz="500">
              <a:latin typeface="Calibri"/>
              <a:cs typeface="Calibri"/>
            </a:endParaRPr>
          </a:p>
          <a:p>
            <a:pPr marL="79375" marR="421005">
              <a:lnSpc>
                <a:spcPts val="550"/>
              </a:lnSpc>
              <a:spcBef>
                <a:spcPts val="35"/>
              </a:spcBef>
            </a:pPr>
            <a:r>
              <a:rPr sz="500" spc="75" dirty="0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sz="500" spc="2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PK,</a:t>
            </a:r>
            <a:r>
              <a:rPr sz="500" spc="2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name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region</a:t>
            </a:r>
            <a:r>
              <a:rPr sz="500" spc="2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sz="500" spc="5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farm</a:t>
            </a:r>
            <a:r>
              <a:rPr sz="500" spc="11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70" dirty="0">
                <a:solidFill>
                  <a:srgbClr val="333333"/>
                </a:solidFill>
                <a:latin typeface="Calibri"/>
                <a:cs typeface="Calibri"/>
              </a:rPr>
              <a:t>size</a:t>
            </a:r>
            <a:r>
              <a:rPr sz="500" spc="2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DECIMAL,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70" dirty="0">
                <a:solidFill>
                  <a:srgbClr val="333333"/>
                </a:solidFill>
                <a:latin typeface="Calibri"/>
                <a:cs typeface="Calibri"/>
              </a:rPr>
              <a:t>lat/lon</a:t>
            </a:r>
            <a:r>
              <a:rPr sz="500" spc="2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DECIMAL(9,6),</a:t>
            </a:r>
            <a:r>
              <a:rPr sz="500" spc="5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cooperative</a:t>
            </a:r>
            <a:r>
              <a:rPr sz="500" spc="35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VARCHAR</a:t>
            </a:r>
            <a:r>
              <a:rPr sz="500" spc="35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95" dirty="0">
                <a:solidFill>
                  <a:srgbClr val="333333"/>
                </a:solidFill>
                <a:latin typeface="Calibri"/>
                <a:cs typeface="Calibri"/>
              </a:rPr>
              <a:t>);</a:t>
            </a:r>
            <a:endParaRPr sz="500">
              <a:latin typeface="Calibri"/>
              <a:cs typeface="Calibri"/>
            </a:endParaRPr>
          </a:p>
          <a:p>
            <a:pPr marL="12700">
              <a:lnSpc>
                <a:spcPts val="575"/>
              </a:lnSpc>
              <a:spcBef>
                <a:spcPts val="40"/>
              </a:spcBef>
            </a:pPr>
            <a:r>
              <a:rPr sz="500" dirty="0">
                <a:solidFill>
                  <a:srgbClr val="2D5A4A"/>
                </a:solidFill>
                <a:latin typeface="Calibri"/>
                <a:cs typeface="Calibri"/>
              </a:rPr>
              <a:t>CREATE</a:t>
            </a:r>
            <a:r>
              <a:rPr sz="500" spc="250" dirty="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2D5A4A"/>
                </a:solidFill>
                <a:latin typeface="Calibri"/>
                <a:cs typeface="Calibri"/>
              </a:rPr>
              <a:t>TABLE</a:t>
            </a:r>
            <a:r>
              <a:rPr sz="500" spc="250" dirty="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shipments</a:t>
            </a:r>
            <a:r>
              <a:rPr sz="500" spc="25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60" dirty="0">
                <a:solidFill>
                  <a:srgbClr val="333333"/>
                </a:solidFill>
                <a:latin typeface="Calibri"/>
                <a:cs typeface="Calibri"/>
              </a:rPr>
              <a:t>(</a:t>
            </a:r>
            <a:endParaRPr sz="500">
              <a:latin typeface="Calibri"/>
              <a:cs typeface="Calibri"/>
            </a:endParaRPr>
          </a:p>
          <a:p>
            <a:pPr marL="79375" marR="430530">
              <a:lnSpc>
                <a:spcPts val="550"/>
              </a:lnSpc>
              <a:spcBef>
                <a:spcPts val="30"/>
              </a:spcBef>
            </a:pPr>
            <a:r>
              <a:rPr sz="500" spc="75" dirty="0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sz="500" spc="18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sz="500" spc="18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PK,</a:t>
            </a:r>
            <a:r>
              <a:rPr sz="500" spc="18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batch</a:t>
            </a:r>
            <a:r>
              <a:rPr sz="500" spc="9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75" dirty="0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sz="500" spc="19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VARCHAR</a:t>
            </a:r>
            <a:r>
              <a:rPr sz="500" spc="18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UNIQUE,</a:t>
            </a:r>
            <a:r>
              <a:rPr sz="500" spc="5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farmer</a:t>
            </a:r>
            <a:r>
              <a:rPr sz="500" spc="11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75" dirty="0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sz="500" spc="2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FK</a:t>
            </a:r>
            <a:r>
              <a:rPr sz="500" spc="10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farmers,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grade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sz="500" spc="5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weight</a:t>
            </a:r>
            <a:r>
              <a:rPr sz="500" spc="11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kg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DECIMAL,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55" dirty="0">
                <a:solidFill>
                  <a:srgbClr val="333333"/>
                </a:solidFill>
                <a:latin typeface="Calibri"/>
                <a:cs typeface="Calibri"/>
              </a:rPr>
              <a:t>status</a:t>
            </a:r>
            <a:r>
              <a:rPr sz="500" spc="204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sz="500" spc="500" dirty="0">
                <a:solidFill>
                  <a:srgbClr val="333333"/>
                </a:solidFill>
                <a:latin typeface="Calibri"/>
                <a:cs typeface="Calibri"/>
              </a:rPr>
              <a:t> 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created</a:t>
            </a:r>
            <a:r>
              <a:rPr sz="500" spc="10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60" dirty="0">
                <a:solidFill>
                  <a:srgbClr val="333333"/>
                </a:solidFill>
                <a:latin typeface="Calibri"/>
                <a:cs typeface="Calibri"/>
              </a:rPr>
              <a:t>at</a:t>
            </a:r>
            <a:r>
              <a:rPr sz="500" spc="19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TIMESTAMP</a:t>
            </a:r>
            <a:r>
              <a:rPr sz="500" spc="19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DEFAULT</a:t>
            </a:r>
            <a:r>
              <a:rPr sz="500" spc="19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NOW()</a:t>
            </a:r>
            <a:r>
              <a:rPr sz="500" spc="18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95" dirty="0">
                <a:solidFill>
                  <a:srgbClr val="333333"/>
                </a:solidFill>
                <a:latin typeface="Calibri"/>
                <a:cs typeface="Calibri"/>
              </a:rPr>
              <a:t>);</a:t>
            </a:r>
            <a:endParaRPr sz="500">
              <a:latin typeface="Calibri"/>
              <a:cs typeface="Calibri"/>
            </a:endParaRPr>
          </a:p>
          <a:p>
            <a:pPr marL="12700">
              <a:lnSpc>
                <a:spcPts val="575"/>
              </a:lnSpc>
              <a:spcBef>
                <a:spcPts val="40"/>
              </a:spcBef>
            </a:pPr>
            <a:r>
              <a:rPr sz="500" spc="10" dirty="0">
                <a:solidFill>
                  <a:srgbClr val="2D5A4A"/>
                </a:solidFill>
                <a:latin typeface="Calibri"/>
                <a:cs typeface="Calibri"/>
              </a:rPr>
              <a:t>CREATE</a:t>
            </a:r>
            <a:r>
              <a:rPr sz="500" spc="225" dirty="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2D5A4A"/>
                </a:solidFill>
                <a:latin typeface="Calibri"/>
                <a:cs typeface="Calibri"/>
              </a:rPr>
              <a:t>TABLE</a:t>
            </a:r>
            <a:r>
              <a:rPr sz="500" spc="225" dirty="0">
                <a:solidFill>
                  <a:srgbClr val="2D5A4A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shipment</a:t>
            </a:r>
            <a:r>
              <a:rPr sz="500" spc="13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stages</a:t>
            </a:r>
            <a:r>
              <a:rPr sz="500" spc="22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60" dirty="0">
                <a:solidFill>
                  <a:srgbClr val="333333"/>
                </a:solidFill>
                <a:latin typeface="Calibri"/>
                <a:cs typeface="Calibri"/>
              </a:rPr>
              <a:t>(</a:t>
            </a:r>
            <a:endParaRPr sz="500">
              <a:latin typeface="Calibri"/>
              <a:cs typeface="Calibri"/>
            </a:endParaRPr>
          </a:p>
          <a:p>
            <a:pPr marL="79375">
              <a:lnSpc>
                <a:spcPts val="575"/>
              </a:lnSpc>
            </a:pPr>
            <a:r>
              <a:rPr sz="500" spc="75" dirty="0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sz="500" spc="16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sz="500" spc="16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PK,</a:t>
            </a:r>
            <a:r>
              <a:rPr sz="500" spc="16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shipment</a:t>
            </a:r>
            <a:r>
              <a:rPr sz="500" spc="8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75" dirty="0">
                <a:solidFill>
                  <a:srgbClr val="333333"/>
                </a:solidFill>
                <a:latin typeface="Calibri"/>
                <a:cs typeface="Calibri"/>
              </a:rPr>
              <a:t>id</a:t>
            </a:r>
            <a:r>
              <a:rPr sz="500" spc="16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10" dirty="0">
                <a:solidFill>
                  <a:srgbClr val="333333"/>
                </a:solidFill>
                <a:latin typeface="Calibri"/>
                <a:cs typeface="Calibri"/>
              </a:rPr>
              <a:t>UUID</a:t>
            </a:r>
            <a:r>
              <a:rPr sz="500" spc="160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FK</a:t>
            </a:r>
            <a:r>
              <a:rPr sz="500" spc="-10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500" spc="-10" dirty="0">
                <a:solidFill>
                  <a:srgbClr val="333333"/>
                </a:solidFill>
                <a:latin typeface="Calibri"/>
                <a:cs typeface="Calibri"/>
              </a:rPr>
              <a:t>shipments,</a:t>
            </a:r>
            <a:endParaRPr sz="500">
              <a:latin typeface="Calibri"/>
              <a:cs typeface="Calibri"/>
            </a:endParaRPr>
          </a:p>
        </p:txBody>
      </p:sp>
      <p:sp>
        <p:nvSpPr>
          <p:cNvPr id="55" name="object 55"/>
          <p:cNvSpPr txBox="1"/>
          <p:nvPr/>
        </p:nvSpPr>
        <p:spPr>
          <a:xfrm>
            <a:off x="3407333" y="2851238"/>
            <a:ext cx="1571625" cy="8890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575"/>
              </a:lnSpc>
            </a:pP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stage</a:t>
            </a:r>
            <a:r>
              <a:rPr sz="500" spc="22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sz="500" spc="22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60" dirty="0">
                <a:solidFill>
                  <a:srgbClr val="333333"/>
                </a:solidFill>
                <a:latin typeface="Calibri"/>
                <a:cs typeface="Calibri"/>
              </a:rPr>
              <a:t>location</a:t>
            </a:r>
            <a:r>
              <a:rPr sz="500" spc="22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VARCHAR,</a:t>
            </a:r>
            <a:r>
              <a:rPr sz="500" spc="22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notes</a:t>
            </a:r>
            <a:r>
              <a:rPr sz="500" spc="229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dirty="0">
                <a:solidFill>
                  <a:srgbClr val="333333"/>
                </a:solidFill>
                <a:latin typeface="Calibri"/>
                <a:cs typeface="Calibri"/>
              </a:rPr>
              <a:t>TEXT</a:t>
            </a:r>
            <a:r>
              <a:rPr sz="500" spc="225" dirty="0">
                <a:solidFill>
                  <a:srgbClr val="333333"/>
                </a:solidFill>
                <a:latin typeface="Calibri"/>
                <a:cs typeface="Calibri"/>
              </a:rPr>
              <a:t> </a:t>
            </a:r>
            <a:r>
              <a:rPr sz="500" spc="95" dirty="0">
                <a:solidFill>
                  <a:srgbClr val="333333"/>
                </a:solidFill>
                <a:latin typeface="Calibri"/>
                <a:cs typeface="Calibri"/>
              </a:rPr>
              <a:t>);</a:t>
            </a:r>
            <a:endParaRPr sz="500">
              <a:latin typeface="Calibri"/>
              <a:cs typeface="Calibri"/>
            </a:endParaRPr>
          </a:p>
        </p:txBody>
      </p:sp>
      <p:sp>
        <p:nvSpPr>
          <p:cNvPr id="56" name="object 56"/>
          <p:cNvSpPr txBox="1"/>
          <p:nvPr/>
        </p:nvSpPr>
        <p:spPr>
          <a:xfrm>
            <a:off x="353618" y="2854659"/>
            <a:ext cx="277495" cy="1301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80"/>
              </a:lnSpc>
            </a:pPr>
            <a:r>
              <a:rPr sz="800" b="1" spc="-25" dirty="0">
                <a:solidFill>
                  <a:srgbClr val="333333"/>
                </a:solidFill>
                <a:latin typeface="Tahoma"/>
                <a:cs typeface="Tahoma"/>
              </a:rPr>
              <a:t>Maps</a:t>
            </a:r>
            <a:endParaRPr sz="800">
              <a:latin typeface="Tahoma"/>
              <a:cs typeface="Tahoma"/>
            </a:endParaRPr>
          </a:p>
        </p:txBody>
      </p:sp>
      <p:sp>
        <p:nvSpPr>
          <p:cNvPr id="57" name="object 57"/>
          <p:cNvSpPr txBox="1"/>
          <p:nvPr/>
        </p:nvSpPr>
        <p:spPr>
          <a:xfrm>
            <a:off x="1081574" y="2854659"/>
            <a:ext cx="1673860" cy="13017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880"/>
              </a:lnSpc>
            </a:pPr>
            <a:r>
              <a:rPr sz="800" b="1" spc="-40" dirty="0">
                <a:solidFill>
                  <a:srgbClr val="333333"/>
                </a:solidFill>
                <a:latin typeface="Tahoma"/>
                <a:cs typeface="Tahoma"/>
              </a:rPr>
              <a:t>Google</a:t>
            </a:r>
            <a:r>
              <a:rPr sz="800" b="1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10" dirty="0">
                <a:solidFill>
                  <a:srgbClr val="333333"/>
                </a:solidFill>
                <a:latin typeface="Tahoma"/>
                <a:cs typeface="Tahoma"/>
              </a:rPr>
              <a:t>Maps</a:t>
            </a:r>
            <a:r>
              <a:rPr sz="800" b="1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API</a:t>
            </a:r>
            <a:r>
              <a:rPr sz="800" b="1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native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to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35" dirty="0">
                <a:solidFill>
                  <a:srgbClr val="333333"/>
                </a:solidFill>
                <a:latin typeface="Tahoma"/>
                <a:cs typeface="Tahoma"/>
              </a:rPr>
              <a:t>GCP</a:t>
            </a:r>
            <a:endParaRPr sz="800">
              <a:latin typeface="Tahoma"/>
              <a:cs typeface="Tahoma"/>
            </a:endParaRPr>
          </a:p>
        </p:txBody>
      </p:sp>
      <p:sp>
        <p:nvSpPr>
          <p:cNvPr id="58" name="object 5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3</a:t>
            </a:fld>
            <a:r>
              <a:rPr spc="-25" dirty="0"/>
              <a:t>/5</a:t>
            </a: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7297" y="154111"/>
            <a:ext cx="144462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b="1" spc="-65" dirty="0">
                <a:solidFill>
                  <a:srgbClr val="FFFFFF"/>
                </a:solidFill>
                <a:latin typeface="Tahoma"/>
                <a:cs typeface="Tahoma"/>
              </a:rPr>
              <a:t>System</a:t>
            </a:r>
            <a:r>
              <a:rPr sz="1200" b="1" spc="-1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200" b="1" spc="-60" dirty="0">
                <a:solidFill>
                  <a:srgbClr val="FFFFFF"/>
                </a:solidFill>
                <a:latin typeface="Tahoma"/>
                <a:cs typeface="Tahoma"/>
              </a:rPr>
              <a:t>Architecture</a:t>
            </a:r>
            <a:endParaRPr sz="1200">
              <a:latin typeface="Tahoma"/>
              <a:cs typeface="Tahoma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411307"/>
            <a:ext cx="5760085" cy="2828925"/>
            <a:chOff x="0" y="411307"/>
            <a:chExt cx="5760085" cy="282892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359994" y="411307"/>
              <a:ext cx="5039909" cy="2465141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353644" y="2911233"/>
              <a:ext cx="123825" cy="123825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060001"/>
              <a:ext cx="5760085" cy="180340"/>
            </a:xfrm>
            <a:custGeom>
              <a:avLst/>
              <a:gdLst/>
              <a:ahLst/>
              <a:cxnLst/>
              <a:rect l="l" t="t" r="r" b="b"/>
              <a:pathLst>
                <a:path w="5760085" h="180339">
                  <a:moveTo>
                    <a:pt x="5759996" y="0"/>
                  </a:moveTo>
                  <a:lnTo>
                    <a:pt x="0" y="0"/>
                  </a:lnTo>
                  <a:lnTo>
                    <a:pt x="0" y="179997"/>
                  </a:lnTo>
                  <a:lnTo>
                    <a:pt x="5759996" y="179997"/>
                  </a:lnTo>
                  <a:lnTo>
                    <a:pt x="5759996" y="0"/>
                  </a:lnTo>
                  <a:close/>
                </a:path>
              </a:pathLst>
            </a:custGeom>
            <a:solidFill>
              <a:srgbClr val="2D5A4A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500226" y="2916764"/>
            <a:ext cx="2270125" cy="140970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12700">
              <a:lnSpc>
                <a:spcPts val="960"/>
              </a:lnSpc>
            </a:pPr>
            <a:r>
              <a:rPr sz="900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Click</a:t>
            </a:r>
            <a:r>
              <a:rPr sz="900" spc="-5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 </a:t>
            </a:r>
            <a:r>
              <a:rPr sz="900" spc="-30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here</a:t>
            </a:r>
            <a:r>
              <a:rPr sz="900" spc="-5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 </a:t>
            </a:r>
            <a:r>
              <a:rPr sz="900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for</a:t>
            </a:r>
            <a:r>
              <a:rPr sz="900" spc="-5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 </a:t>
            </a:r>
            <a:r>
              <a:rPr sz="900" spc="-10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interactive</a:t>
            </a:r>
            <a:r>
              <a:rPr sz="900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 </a:t>
            </a:r>
            <a:r>
              <a:rPr sz="900" spc="-10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architecture</a:t>
            </a:r>
            <a:r>
              <a:rPr sz="900" spc="-5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 </a:t>
            </a:r>
            <a:r>
              <a:rPr sz="900" spc="-10" dirty="0">
                <a:solidFill>
                  <a:srgbClr val="4185F3"/>
                </a:solidFill>
                <a:latin typeface="Arial MT"/>
                <a:cs typeface="Arial MT"/>
                <a:hlinkClick r:id="rId4"/>
              </a:rPr>
              <a:t>diagram</a:t>
            </a:r>
            <a:endParaRPr sz="900">
              <a:latin typeface="Arial MT"/>
              <a:cs typeface="Arial MT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4</a:t>
            </a:fld>
            <a:r>
              <a:rPr spc="-25" dirty="0"/>
              <a:t>/5</a:t>
            </a: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pc="-20" dirty="0"/>
              <a:t>What </a:t>
            </a:r>
            <a:r>
              <a:rPr spc="-25" dirty="0"/>
              <a:t>Does</a:t>
            </a:r>
            <a:r>
              <a:rPr spc="-20" dirty="0"/>
              <a:t> </a:t>
            </a:r>
            <a:r>
              <a:rPr dirty="0"/>
              <a:t>All</a:t>
            </a:r>
            <a:r>
              <a:rPr spc="-20" dirty="0"/>
              <a:t> </a:t>
            </a:r>
            <a:r>
              <a:rPr dirty="0"/>
              <a:t>This</a:t>
            </a:r>
            <a:r>
              <a:rPr spc="-15" dirty="0"/>
              <a:t> </a:t>
            </a:r>
            <a:r>
              <a:rPr spc="-45" dirty="0"/>
              <a:t>Actually</a:t>
            </a:r>
            <a:r>
              <a:rPr spc="-20" dirty="0"/>
              <a:t> </a:t>
            </a:r>
            <a:r>
              <a:rPr spc="-25" dirty="0"/>
              <a:t>Mean?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07213" y="534796"/>
            <a:ext cx="101599" cy="92075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49757" y="729208"/>
            <a:ext cx="65265" cy="65265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449757" y="1235316"/>
            <a:ext cx="65265" cy="65265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449757" y="1621218"/>
            <a:ext cx="65265" cy="65265"/>
          </a:xfrm>
          <a:prstGeom prst="rect">
            <a:avLst/>
          </a:prstGeom>
        </p:spPr>
      </p:pic>
      <p:pic>
        <p:nvPicPr>
          <p:cNvPr id="7" name="object 7"/>
          <p:cNvPicPr/>
          <p:nvPr/>
        </p:nvPicPr>
        <p:blipFill>
          <a:blip r:embed="rId6" cstate="print"/>
          <a:stretch>
            <a:fillRect/>
          </a:stretch>
        </p:blipFill>
        <p:spPr>
          <a:xfrm>
            <a:off x="449757" y="2007120"/>
            <a:ext cx="65265" cy="65265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449757" y="2393022"/>
            <a:ext cx="65265" cy="65265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432881" y="445224"/>
            <a:ext cx="2282190" cy="2409190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z="800" b="1" spc="-40" dirty="0">
                <a:solidFill>
                  <a:srgbClr val="333333"/>
                </a:solidFill>
                <a:latin typeface="Tahoma"/>
                <a:cs typeface="Tahoma"/>
              </a:rPr>
              <a:t>Architecture</a:t>
            </a:r>
            <a:r>
              <a:rPr sz="800" b="1" spc="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10" dirty="0">
                <a:solidFill>
                  <a:srgbClr val="333333"/>
                </a:solidFill>
                <a:latin typeface="Tahoma"/>
                <a:cs typeface="Tahoma"/>
              </a:rPr>
              <a:t>Concepts</a:t>
            </a:r>
            <a:endParaRPr sz="800">
              <a:latin typeface="Tahoma"/>
              <a:cs typeface="Tahoma"/>
            </a:endParaRPr>
          </a:p>
          <a:p>
            <a:pPr marL="151130" marR="49530">
              <a:lnSpc>
                <a:spcPts val="950"/>
              </a:lnSpc>
              <a:spcBef>
                <a:spcPts val="495"/>
              </a:spcBef>
            </a:pPr>
            <a:r>
              <a:rPr sz="800" b="1" spc="-45" dirty="0">
                <a:solidFill>
                  <a:srgbClr val="654320"/>
                </a:solidFill>
                <a:latin typeface="Tahoma"/>
                <a:cs typeface="Tahoma"/>
              </a:rPr>
              <a:t>Microservices</a:t>
            </a:r>
            <a:r>
              <a:rPr sz="800" b="1" spc="10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instead of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one big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app,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we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split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into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3</a:t>
            </a:r>
            <a:r>
              <a:rPr sz="800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small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independent</a:t>
            </a:r>
            <a:r>
              <a:rPr sz="800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ones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(admin,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API,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QR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page).</a:t>
            </a:r>
            <a:r>
              <a:rPr sz="800" spc="9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if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one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breaks,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the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others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keep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running.</a:t>
            </a:r>
            <a:endParaRPr sz="800">
              <a:latin typeface="Tahoma"/>
              <a:cs typeface="Tahoma"/>
            </a:endParaRPr>
          </a:p>
          <a:p>
            <a:pPr marL="151130" marR="5080">
              <a:lnSpc>
                <a:spcPts val="950"/>
              </a:lnSpc>
              <a:spcBef>
                <a:spcPts val="185"/>
              </a:spcBef>
            </a:pPr>
            <a:r>
              <a:rPr sz="800" b="1" spc="-30" dirty="0">
                <a:solidFill>
                  <a:srgbClr val="654320"/>
                </a:solidFill>
                <a:latin typeface="Tahoma"/>
                <a:cs typeface="Tahoma"/>
              </a:rPr>
              <a:t>Cloud</a:t>
            </a:r>
            <a:r>
              <a:rPr sz="800" b="1" spc="20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b="1" spc="-45" dirty="0">
                <a:solidFill>
                  <a:srgbClr val="654320"/>
                </a:solidFill>
                <a:latin typeface="Tahoma"/>
                <a:cs typeface="Tahoma"/>
              </a:rPr>
              <a:t>Functions</a:t>
            </a:r>
            <a:r>
              <a:rPr sz="800" b="1" spc="20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code that runs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only</a:t>
            </a:r>
            <a:r>
              <a:rPr sz="800" i="1" spc="110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when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new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data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arrives.</a:t>
            </a:r>
            <a:r>
              <a:rPr sz="800" spc="8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no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server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to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manage,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no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cost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when</a:t>
            </a:r>
            <a:r>
              <a:rPr sz="800" spc="-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idle.</a:t>
            </a:r>
            <a:endParaRPr sz="800">
              <a:latin typeface="Tahoma"/>
              <a:cs typeface="Tahoma"/>
            </a:endParaRPr>
          </a:p>
          <a:p>
            <a:pPr marL="151130" marR="45085">
              <a:lnSpc>
                <a:spcPts val="950"/>
              </a:lnSpc>
              <a:spcBef>
                <a:spcPts val="185"/>
              </a:spcBef>
            </a:pPr>
            <a:r>
              <a:rPr sz="800" b="1" dirty="0">
                <a:solidFill>
                  <a:srgbClr val="654320"/>
                </a:solidFill>
                <a:latin typeface="Tahoma"/>
                <a:cs typeface="Tahoma"/>
              </a:rPr>
              <a:t>REST</a:t>
            </a:r>
            <a:r>
              <a:rPr sz="800" b="1" spc="25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b="1" dirty="0">
                <a:solidFill>
                  <a:srgbClr val="654320"/>
                </a:solidFill>
                <a:latin typeface="Tahoma"/>
                <a:cs typeface="Tahoma"/>
              </a:rPr>
              <a:t>API</a:t>
            </a:r>
            <a:r>
              <a:rPr sz="800" b="1" spc="20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the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“messenger”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between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the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admin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form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and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database.</a:t>
            </a:r>
            <a:r>
              <a:rPr sz="800" spc="7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checks, cleans,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and passes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data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along.</a:t>
            </a:r>
            <a:endParaRPr sz="800">
              <a:latin typeface="Tahoma"/>
              <a:cs typeface="Tahoma"/>
            </a:endParaRPr>
          </a:p>
          <a:p>
            <a:pPr marL="151130" marR="217804">
              <a:lnSpc>
                <a:spcPts val="950"/>
              </a:lnSpc>
              <a:spcBef>
                <a:spcPts val="190"/>
              </a:spcBef>
            </a:pPr>
            <a:r>
              <a:rPr sz="800" b="1" spc="-35" dirty="0">
                <a:solidFill>
                  <a:srgbClr val="654320"/>
                </a:solidFill>
                <a:latin typeface="Tahoma"/>
                <a:cs typeface="Tahoma"/>
              </a:rPr>
              <a:t>PostgreSQL</a:t>
            </a:r>
            <a:r>
              <a:rPr sz="800" b="1" spc="20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a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database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like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a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smart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spreadsheet.</a:t>
            </a:r>
            <a:r>
              <a:rPr sz="800" spc="9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stores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shipments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in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organised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tables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with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relationships.</a:t>
            </a:r>
            <a:endParaRPr sz="800">
              <a:latin typeface="Tahoma"/>
              <a:cs typeface="Tahoma"/>
            </a:endParaRPr>
          </a:p>
          <a:p>
            <a:pPr marL="151130" marR="40640">
              <a:lnSpc>
                <a:spcPts val="950"/>
              </a:lnSpc>
              <a:spcBef>
                <a:spcPts val="190"/>
              </a:spcBef>
            </a:pPr>
            <a:r>
              <a:rPr sz="800" b="1" spc="-35" dirty="0">
                <a:solidFill>
                  <a:srgbClr val="654320"/>
                </a:solidFill>
                <a:latin typeface="Tahoma"/>
                <a:cs typeface="Tahoma"/>
              </a:rPr>
              <a:t>Medallion</a:t>
            </a:r>
            <a:r>
              <a:rPr sz="800" b="1" spc="15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b="1" spc="-40" dirty="0">
                <a:solidFill>
                  <a:srgbClr val="654320"/>
                </a:solidFill>
                <a:latin typeface="Tahoma"/>
                <a:cs typeface="Tahoma"/>
              </a:rPr>
              <a:t>Architecture</a:t>
            </a:r>
            <a:r>
              <a:rPr sz="800" b="1" spc="15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data flows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through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3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layers:</a:t>
            </a:r>
            <a:r>
              <a:rPr sz="800" spc="8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40" dirty="0">
                <a:solidFill>
                  <a:srgbClr val="A6501E"/>
                </a:solidFill>
                <a:latin typeface="Tahoma"/>
                <a:cs typeface="Tahoma"/>
              </a:rPr>
              <a:t>Bronze</a:t>
            </a:r>
            <a:r>
              <a:rPr sz="800" b="1" spc="10" dirty="0">
                <a:solidFill>
                  <a:srgbClr val="A6501E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(raw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backup)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90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800" spc="-10" dirty="0">
                <a:solidFill>
                  <a:srgbClr val="333333"/>
                </a:solidFill>
                <a:latin typeface="Lucida Sans Unicode"/>
                <a:cs typeface="Lucida Sans Unicode"/>
              </a:rPr>
              <a:t> </a:t>
            </a:r>
            <a:r>
              <a:rPr sz="800" b="1" spc="-10" dirty="0">
                <a:solidFill>
                  <a:srgbClr val="1465BF"/>
                </a:solidFill>
                <a:latin typeface="Tahoma"/>
                <a:cs typeface="Tahoma"/>
              </a:rPr>
              <a:t>Silver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(cleaned)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90" dirty="0">
                <a:solidFill>
                  <a:srgbClr val="333333"/>
                </a:solidFill>
                <a:latin typeface="Lucida Sans Unicode"/>
                <a:cs typeface="Lucida Sans Unicode"/>
              </a:rPr>
              <a:t>→</a:t>
            </a:r>
            <a:r>
              <a:rPr sz="800" spc="5" dirty="0">
                <a:solidFill>
                  <a:srgbClr val="333333"/>
                </a:solidFill>
                <a:latin typeface="Lucida Sans Unicode"/>
                <a:cs typeface="Lucida Sans Unicode"/>
              </a:rPr>
              <a:t> </a:t>
            </a:r>
            <a:r>
              <a:rPr sz="800" b="1" spc="-25" dirty="0">
                <a:solidFill>
                  <a:srgbClr val="C5862D"/>
                </a:solidFill>
                <a:latin typeface="Tahoma"/>
                <a:cs typeface="Tahoma"/>
              </a:rPr>
              <a:t>Gold</a:t>
            </a:r>
            <a:r>
              <a:rPr sz="800" b="1" spc="15" dirty="0">
                <a:solidFill>
                  <a:srgbClr val="C5862D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(customer-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facing).</a:t>
            </a:r>
            <a:r>
              <a:rPr sz="800" spc="9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no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bad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data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reaches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the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QR</a:t>
            </a:r>
            <a:r>
              <a:rPr sz="800" spc="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page.</a:t>
            </a:r>
            <a:endParaRPr sz="800">
              <a:latin typeface="Tahoma"/>
              <a:cs typeface="Tahoma"/>
            </a:endParaRPr>
          </a:p>
        </p:txBody>
      </p:sp>
      <p:pic>
        <p:nvPicPr>
          <p:cNvPr id="10" name="object 10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033610" y="534822"/>
            <a:ext cx="88900" cy="1016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9" cstate="print"/>
          <a:stretch>
            <a:fillRect/>
          </a:stretch>
        </p:blipFill>
        <p:spPr>
          <a:xfrm>
            <a:off x="3176155" y="735584"/>
            <a:ext cx="65265" cy="65265"/>
          </a:xfrm>
          <a:prstGeom prst="rect">
            <a:avLst/>
          </a:prstGeom>
        </p:spPr>
      </p:pic>
      <p:pic>
        <p:nvPicPr>
          <p:cNvPr id="12" name="object 12"/>
          <p:cNvPicPr/>
          <p:nvPr/>
        </p:nvPicPr>
        <p:blipFill>
          <a:blip r:embed="rId10" cstate="print"/>
          <a:stretch>
            <a:fillRect/>
          </a:stretch>
        </p:blipFill>
        <p:spPr>
          <a:xfrm>
            <a:off x="3176155" y="1001293"/>
            <a:ext cx="65265" cy="65265"/>
          </a:xfrm>
          <a:prstGeom prst="rect">
            <a:avLst/>
          </a:prstGeom>
        </p:spPr>
      </p:pic>
      <p:pic>
        <p:nvPicPr>
          <p:cNvPr id="13" name="object 13"/>
          <p:cNvPicPr/>
          <p:nvPr/>
        </p:nvPicPr>
        <p:blipFill>
          <a:blip r:embed="rId11" cstate="print"/>
          <a:stretch>
            <a:fillRect/>
          </a:stretch>
        </p:blipFill>
        <p:spPr>
          <a:xfrm>
            <a:off x="3176155" y="1387195"/>
            <a:ext cx="65265" cy="65265"/>
          </a:xfrm>
          <a:prstGeom prst="rect">
            <a:avLst/>
          </a:prstGeom>
        </p:spPr>
      </p:pic>
      <p:pic>
        <p:nvPicPr>
          <p:cNvPr id="14" name="object 14"/>
          <p:cNvPicPr/>
          <p:nvPr/>
        </p:nvPicPr>
        <p:blipFill>
          <a:blip r:embed="rId12" cstate="print"/>
          <a:stretch>
            <a:fillRect/>
          </a:stretch>
        </p:blipFill>
        <p:spPr>
          <a:xfrm>
            <a:off x="3176155" y="1773097"/>
            <a:ext cx="65265" cy="65265"/>
          </a:xfrm>
          <a:prstGeom prst="rect">
            <a:avLst/>
          </a:prstGeom>
        </p:spPr>
      </p:pic>
      <p:pic>
        <p:nvPicPr>
          <p:cNvPr id="15" name="object 15"/>
          <p:cNvPicPr/>
          <p:nvPr/>
        </p:nvPicPr>
        <p:blipFill>
          <a:blip r:embed="rId13" cstate="print"/>
          <a:stretch>
            <a:fillRect/>
          </a:stretch>
        </p:blipFill>
        <p:spPr>
          <a:xfrm>
            <a:off x="3033610" y="2075319"/>
            <a:ext cx="101600" cy="76200"/>
          </a:xfrm>
          <a:prstGeom prst="rect">
            <a:avLst/>
          </a:prstGeom>
        </p:spPr>
      </p:pic>
      <p:pic>
        <p:nvPicPr>
          <p:cNvPr id="16" name="object 16"/>
          <p:cNvPicPr/>
          <p:nvPr/>
        </p:nvPicPr>
        <p:blipFill>
          <a:blip r:embed="rId14" cstate="print"/>
          <a:stretch>
            <a:fillRect/>
          </a:stretch>
        </p:blipFill>
        <p:spPr>
          <a:xfrm>
            <a:off x="3176155" y="2263381"/>
            <a:ext cx="65265" cy="65265"/>
          </a:xfrm>
          <a:prstGeom prst="rect">
            <a:avLst/>
          </a:prstGeom>
        </p:spPr>
      </p:pic>
      <p:pic>
        <p:nvPicPr>
          <p:cNvPr id="17" name="object 17"/>
          <p:cNvPicPr/>
          <p:nvPr/>
        </p:nvPicPr>
        <p:blipFill>
          <a:blip r:embed="rId15" cstate="print"/>
          <a:stretch>
            <a:fillRect/>
          </a:stretch>
        </p:blipFill>
        <p:spPr>
          <a:xfrm>
            <a:off x="3176155" y="2649283"/>
            <a:ext cx="65265" cy="65265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3146626" y="451599"/>
            <a:ext cx="2319020" cy="2539365"/>
          </a:xfrm>
          <a:prstGeom prst="rect">
            <a:avLst/>
          </a:prstGeom>
        </p:spPr>
        <p:txBody>
          <a:bodyPr vert="horz" wrap="square" lIns="0" tIns="7048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55"/>
              </a:spcBef>
            </a:pPr>
            <a:r>
              <a:rPr sz="800" b="1" spc="-45" dirty="0">
                <a:solidFill>
                  <a:srgbClr val="333333"/>
                </a:solidFill>
                <a:latin typeface="Tahoma"/>
                <a:cs typeface="Tahoma"/>
              </a:rPr>
              <a:t>Operations</a:t>
            </a:r>
            <a:r>
              <a:rPr sz="800" b="1" spc="5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dirty="0">
                <a:solidFill>
                  <a:srgbClr val="333333"/>
                </a:solidFill>
                <a:latin typeface="Tahoma"/>
                <a:cs typeface="Tahoma"/>
              </a:rPr>
              <a:t>&amp;</a:t>
            </a:r>
            <a:r>
              <a:rPr sz="800" b="1" spc="6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10" dirty="0">
                <a:solidFill>
                  <a:srgbClr val="333333"/>
                </a:solidFill>
                <a:latin typeface="Tahoma"/>
                <a:cs typeface="Tahoma"/>
              </a:rPr>
              <a:t>Security</a:t>
            </a:r>
            <a:endParaRPr sz="800">
              <a:latin typeface="Tahoma"/>
              <a:cs typeface="Tahoma"/>
            </a:endParaRPr>
          </a:p>
          <a:p>
            <a:pPr marL="163830" marR="5080">
              <a:lnSpc>
                <a:spcPts val="950"/>
              </a:lnSpc>
              <a:spcBef>
                <a:spcPts val="495"/>
              </a:spcBef>
            </a:pPr>
            <a:r>
              <a:rPr sz="800" b="1" dirty="0">
                <a:solidFill>
                  <a:srgbClr val="654320"/>
                </a:solidFill>
                <a:latin typeface="Tahoma"/>
                <a:cs typeface="Tahoma"/>
              </a:rPr>
              <a:t>IAM</a:t>
            </a:r>
            <a:r>
              <a:rPr sz="800" b="1" spc="10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controls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who</a:t>
            </a:r>
            <a:r>
              <a:rPr sz="800" i="1" spc="75" dirty="0">
                <a:solidFill>
                  <a:srgbClr val="333333"/>
                </a:solidFill>
                <a:latin typeface="Arial"/>
                <a:cs typeface="Arial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can</a:t>
            </a:r>
            <a:r>
              <a:rPr sz="800" spc="-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do </a:t>
            </a:r>
            <a:r>
              <a:rPr sz="800" i="1" dirty="0">
                <a:solidFill>
                  <a:srgbClr val="333333"/>
                </a:solidFill>
                <a:latin typeface="Arial"/>
                <a:cs typeface="Arial"/>
              </a:rPr>
              <a:t>what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.</a:t>
            </a:r>
            <a:r>
              <a:rPr sz="800" spc="8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admins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add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shipments,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public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can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only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view 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QR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pages.</a:t>
            </a:r>
            <a:endParaRPr sz="800">
              <a:latin typeface="Tahoma"/>
              <a:cs typeface="Tahoma"/>
            </a:endParaRPr>
          </a:p>
          <a:p>
            <a:pPr marL="163830" marR="95885">
              <a:lnSpc>
                <a:spcPts val="950"/>
              </a:lnSpc>
              <a:spcBef>
                <a:spcPts val="190"/>
              </a:spcBef>
            </a:pPr>
            <a:r>
              <a:rPr sz="800" b="1" spc="-50" dirty="0">
                <a:solidFill>
                  <a:srgbClr val="654320"/>
                </a:solidFill>
                <a:latin typeface="Tahoma"/>
                <a:cs typeface="Tahoma"/>
              </a:rPr>
              <a:t>Terraform</a:t>
            </a:r>
            <a:r>
              <a:rPr sz="800" b="1" spc="25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b="1" spc="-35" dirty="0">
                <a:solidFill>
                  <a:srgbClr val="654320"/>
                </a:solidFill>
                <a:latin typeface="Tahoma"/>
                <a:cs typeface="Tahoma"/>
              </a:rPr>
              <a:t>(IaC)</a:t>
            </a:r>
            <a:r>
              <a:rPr sz="800" b="1" spc="20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infra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defined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in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code,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not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clicked</a:t>
            </a:r>
            <a:r>
              <a:rPr sz="800" spc="-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manually.</a:t>
            </a:r>
            <a:r>
              <a:rPr sz="800" spc="4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one</a:t>
            </a:r>
            <a:r>
              <a:rPr sz="800" spc="-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command</a:t>
            </a:r>
            <a:r>
              <a:rPr sz="800" spc="-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rebuilds</a:t>
            </a:r>
            <a:r>
              <a:rPr sz="800" spc="-3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the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whole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system.</a:t>
            </a:r>
            <a:endParaRPr sz="800">
              <a:latin typeface="Tahoma"/>
              <a:cs typeface="Tahoma"/>
            </a:endParaRPr>
          </a:p>
          <a:p>
            <a:pPr marL="163830" marR="6350">
              <a:lnSpc>
                <a:spcPts val="950"/>
              </a:lnSpc>
              <a:spcBef>
                <a:spcPts val="190"/>
              </a:spcBef>
            </a:pPr>
            <a:r>
              <a:rPr sz="800" b="1" dirty="0">
                <a:solidFill>
                  <a:srgbClr val="654320"/>
                </a:solidFill>
                <a:latin typeface="Tahoma"/>
                <a:cs typeface="Tahoma"/>
              </a:rPr>
              <a:t>CI/CD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every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code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push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is</a:t>
            </a:r>
            <a:r>
              <a:rPr sz="8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auto-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tested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and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deployed.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no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manual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uploads,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no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“works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on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my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laptop”</a:t>
            </a:r>
            <a:r>
              <a:rPr sz="800" spc="13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issues.</a:t>
            </a:r>
            <a:endParaRPr sz="800">
              <a:latin typeface="Tahoma"/>
              <a:cs typeface="Tahoma"/>
            </a:endParaRPr>
          </a:p>
          <a:p>
            <a:pPr marL="163830" marR="155575">
              <a:lnSpc>
                <a:spcPts val="950"/>
              </a:lnSpc>
              <a:spcBef>
                <a:spcPts val="190"/>
              </a:spcBef>
            </a:pPr>
            <a:r>
              <a:rPr sz="800" b="1" spc="-40" dirty="0">
                <a:solidFill>
                  <a:srgbClr val="654320"/>
                </a:solidFill>
                <a:latin typeface="Tahoma"/>
                <a:cs typeface="Tahoma"/>
              </a:rPr>
              <a:t>Secret</a:t>
            </a:r>
            <a:r>
              <a:rPr sz="800" b="1" spc="25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b="1" spc="-40" dirty="0">
                <a:solidFill>
                  <a:srgbClr val="654320"/>
                </a:solidFill>
                <a:latin typeface="Tahoma"/>
                <a:cs typeface="Tahoma"/>
              </a:rPr>
              <a:t>Manager</a:t>
            </a:r>
            <a:r>
              <a:rPr sz="800" b="1" spc="15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stores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passwords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100" dirty="0">
                <a:solidFill>
                  <a:srgbClr val="333333"/>
                </a:solidFill>
                <a:latin typeface="Tahoma"/>
                <a:cs typeface="Tahoma"/>
              </a:rPr>
              <a:t>&amp;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API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keys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 securely.</a:t>
            </a:r>
            <a:r>
              <a:rPr sz="800" spc="5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no</a:t>
            </a:r>
            <a:r>
              <a:rPr sz="800" spc="-1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accidental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credential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leaks.</a:t>
            </a:r>
            <a:endParaRPr sz="800">
              <a:latin typeface="Tahoma"/>
              <a:cs typeface="Tahoma"/>
            </a:endParaRPr>
          </a:p>
          <a:p>
            <a:pPr marL="24765">
              <a:lnSpc>
                <a:spcPct val="100000"/>
              </a:lnSpc>
              <a:spcBef>
                <a:spcPts val="505"/>
              </a:spcBef>
            </a:pPr>
            <a:r>
              <a:rPr sz="800" b="1" spc="-40" dirty="0">
                <a:solidFill>
                  <a:srgbClr val="333333"/>
                </a:solidFill>
                <a:latin typeface="Tahoma"/>
                <a:cs typeface="Tahoma"/>
              </a:rPr>
              <a:t>Future</a:t>
            </a:r>
            <a:r>
              <a:rPr sz="800" b="1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b="1" spc="-10" dirty="0">
                <a:solidFill>
                  <a:srgbClr val="333333"/>
                </a:solidFill>
                <a:latin typeface="Tahoma"/>
                <a:cs typeface="Tahoma"/>
              </a:rPr>
              <a:t>Plans</a:t>
            </a:r>
            <a:endParaRPr sz="800">
              <a:latin typeface="Tahoma"/>
              <a:cs typeface="Tahoma"/>
            </a:endParaRPr>
          </a:p>
          <a:p>
            <a:pPr marL="163830" marR="42545">
              <a:lnSpc>
                <a:spcPts val="950"/>
              </a:lnSpc>
              <a:spcBef>
                <a:spcPts val="495"/>
              </a:spcBef>
            </a:pPr>
            <a:r>
              <a:rPr sz="800" b="1" spc="-30" dirty="0">
                <a:solidFill>
                  <a:srgbClr val="654320"/>
                </a:solidFill>
                <a:latin typeface="Tahoma"/>
                <a:cs typeface="Tahoma"/>
              </a:rPr>
              <a:t>BigQuery</a:t>
            </a:r>
            <a:r>
              <a:rPr sz="800" b="1" spc="-10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analytics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when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we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have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enough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data.</a:t>
            </a:r>
            <a:r>
              <a:rPr sz="800" spc="14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“fastest</a:t>
            </a:r>
            <a:r>
              <a:rPr sz="800" spc="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shipping</a:t>
            </a:r>
            <a:r>
              <a:rPr sz="800" spc="4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regions?”</a:t>
            </a:r>
            <a:r>
              <a:rPr sz="800" spc="1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“transit</a:t>
            </a:r>
            <a:r>
              <a:rPr sz="800" spc="4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0" dirty="0">
                <a:solidFill>
                  <a:srgbClr val="333333"/>
                </a:solidFill>
                <a:latin typeface="Tahoma"/>
                <a:cs typeface="Tahoma"/>
              </a:rPr>
              <a:t>time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trends?”</a:t>
            </a:r>
            <a:endParaRPr sz="800">
              <a:latin typeface="Tahoma"/>
              <a:cs typeface="Tahoma"/>
            </a:endParaRPr>
          </a:p>
          <a:p>
            <a:pPr marL="163830" marR="184785">
              <a:lnSpc>
                <a:spcPts val="950"/>
              </a:lnSpc>
              <a:spcBef>
                <a:spcPts val="185"/>
              </a:spcBef>
            </a:pPr>
            <a:r>
              <a:rPr sz="800" b="1" spc="-50" dirty="0">
                <a:solidFill>
                  <a:srgbClr val="654320"/>
                </a:solidFill>
                <a:latin typeface="Tahoma"/>
                <a:cs typeface="Tahoma"/>
              </a:rPr>
              <a:t>Dashboard</a:t>
            </a:r>
            <a:r>
              <a:rPr sz="800" b="1" spc="60" dirty="0">
                <a:solidFill>
                  <a:srgbClr val="654320"/>
                </a:solidFill>
                <a:latin typeface="Tahoma"/>
                <a:cs typeface="Tahoma"/>
              </a:rPr>
              <a:t> </a:t>
            </a:r>
            <a:r>
              <a:rPr sz="800" spc="114" dirty="0">
                <a:solidFill>
                  <a:srgbClr val="333333"/>
                </a:solidFill>
                <a:latin typeface="Tahoma"/>
                <a:cs typeface="Tahoma"/>
              </a:rPr>
              <a:t>—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Tableau/Looker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Studio</a:t>
            </a:r>
            <a:r>
              <a:rPr sz="800" spc="5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for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founders</a:t>
            </a:r>
            <a:r>
              <a:rPr sz="800" spc="5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to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35" dirty="0">
                <a:solidFill>
                  <a:srgbClr val="333333"/>
                </a:solidFill>
                <a:latin typeface="Tahoma"/>
                <a:cs typeface="Tahoma"/>
              </a:rPr>
              <a:t>see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charts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without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dirty="0">
                <a:solidFill>
                  <a:srgbClr val="333333"/>
                </a:solidFill>
                <a:latin typeface="Tahoma"/>
                <a:cs typeface="Tahoma"/>
              </a:rPr>
              <a:t>touching</a:t>
            </a:r>
            <a:r>
              <a:rPr sz="800" spc="10" dirty="0">
                <a:solidFill>
                  <a:srgbClr val="333333"/>
                </a:solidFill>
                <a:latin typeface="Tahoma"/>
                <a:cs typeface="Tahoma"/>
              </a:rPr>
              <a:t> </a:t>
            </a:r>
            <a:r>
              <a:rPr sz="800" spc="-25" dirty="0">
                <a:solidFill>
                  <a:srgbClr val="333333"/>
                </a:solidFill>
                <a:latin typeface="Tahoma"/>
                <a:cs typeface="Tahoma"/>
              </a:rPr>
              <a:t>the </a:t>
            </a:r>
            <a:r>
              <a:rPr sz="800" spc="-10" dirty="0">
                <a:solidFill>
                  <a:srgbClr val="333333"/>
                </a:solidFill>
                <a:latin typeface="Tahoma"/>
                <a:cs typeface="Tahoma"/>
              </a:rPr>
              <a:t>database.</a:t>
            </a:r>
            <a:endParaRPr sz="800">
              <a:latin typeface="Tahoma"/>
              <a:cs typeface="Tahoma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0" y="3060001"/>
            <a:ext cx="5760085" cy="180340"/>
          </a:xfrm>
          <a:custGeom>
            <a:avLst/>
            <a:gdLst/>
            <a:ahLst/>
            <a:cxnLst/>
            <a:rect l="l" t="t" r="r" b="b"/>
            <a:pathLst>
              <a:path w="5760085" h="180339">
                <a:moveTo>
                  <a:pt x="5759996" y="0"/>
                </a:moveTo>
                <a:lnTo>
                  <a:pt x="0" y="0"/>
                </a:lnTo>
                <a:lnTo>
                  <a:pt x="0" y="179997"/>
                </a:lnTo>
                <a:lnTo>
                  <a:pt x="5759996" y="179997"/>
                </a:lnTo>
                <a:lnTo>
                  <a:pt x="5759996" y="0"/>
                </a:lnTo>
                <a:close/>
              </a:path>
            </a:pathLst>
          </a:custGeom>
          <a:solidFill>
            <a:srgbClr val="2D5A4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865"/>
              </a:lnSpc>
            </a:pPr>
            <a:fld id="{81D60167-4931-47E6-BA6A-407CBD079E47}" type="slidenum">
              <a:rPr spc="-25" dirty="0"/>
              <a:t>5</a:t>
            </a:fld>
            <a:r>
              <a:rPr spc="-25" dirty="0"/>
              <a:t>/5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4185F3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722</Words>
  <Application>Microsoft Macintosh PowerPoint</Application>
  <PresentationFormat>Custom</PresentationFormat>
  <Paragraphs>94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2" baseType="lpstr">
      <vt:lpstr>Arial</vt:lpstr>
      <vt:lpstr>Arial MT</vt:lpstr>
      <vt:lpstr>Calibri</vt:lpstr>
      <vt:lpstr>Lucida Sans Unicode</vt:lpstr>
      <vt:lpstr>Microsoft Tai Le</vt:lpstr>
      <vt:lpstr>Tahoma</vt:lpstr>
      <vt:lpstr>Office Theme</vt:lpstr>
      <vt:lpstr>Kahawa Roots</vt:lpstr>
      <vt:lpstr>How I’d Build This</vt:lpstr>
      <vt:lpstr>Technology Choices + Bonus</vt:lpstr>
      <vt:lpstr>PowerPoint Presentation</vt:lpstr>
      <vt:lpstr>What Does All This Actually Mean?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Kahawa Roots   Traceability Platform — Pre-Interview Task - Tracking Coffee from Kenya's Farms to the UK</dc:title>
  <dc:creator>Shree Hari Anbazhagan</dc:creator>
  <cp:lastModifiedBy>Shree Anbazhagan (MSc Da Sc &amp; Ar In (Bham+) FT)</cp:lastModifiedBy>
  <cp:revision>1</cp:revision>
  <dcterms:created xsi:type="dcterms:W3CDTF">2026-04-10T06:59:42Z</dcterms:created>
  <dcterms:modified xsi:type="dcterms:W3CDTF">2026-04-10T07:00:01Z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2026-04-10T00:00:00Z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2026-04-10T00:00:00Z</vt:filetime>
  </property>
  <property fmtid="{D5CDD505-2E9C-101B-9397-08002B2CF9AE}" pid="5" name="PTEX.Fullbanner">
    <vt:lpwstr>This is pdfTeX, Version 3.141592653-2.6-1.40.27 (TeX Live 2025) kpathsea version 6.4.1</vt:lpwstr>
  </property>
  <property fmtid="{D5CDD505-2E9C-101B-9397-08002B2CF9AE}" pid="6" name="Producer">
    <vt:lpwstr>pdfTeX-1.40.27</vt:lpwstr>
  </property>
</Properties>
</file>